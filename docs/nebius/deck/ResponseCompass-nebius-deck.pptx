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ResponseCompass is a dispatch agent for operations control rooms, built for the Nebius x NVIDIA hackathon on Nemotron models through Nebius Token Factory. Technicians describe faults in their own words; code establishes the facts; Nemotron ranks and drafts; people approve the decisions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Proximity is easy to compute and easy to defend, but it ignores fit. What matters is who is likely to resolve this class of issue on the first attempt, with which procedure, and whether the shift can cover the backlog. Reports also arrive as free text, not clean tickets.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field report is untrusted text. The hazard and input policy runs in code before any model call. The Investigator ranks interpretations from candidates the code resolved; the operator confirms the symptom. Nothing is dispatched from this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 room puts the floor map, the issue queue, the dispatch context, the event feed, the Issue Pareto and analytics on separate monitors (/rooms/&lt;room&gt;/display/&lt;screen&gt;). Staffing, station KPIs, loadboards and field reports are panels too. The operator console, with override and approval controls, is the seventh screen. Captured live from a local build on the synthetic plant-1 month.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Issues are dispatched without anyone touching the console. A field report goes to the Investigator, the operator confirms the symptom, Nemotron 3 Super ranks the eligible responders, and an offer goes out. The repair outcome feeds the history that every later ranking uses. Central command can override, transfer or add support at any time. Before each shift handover a backlog review asks Nemotron to rank lawful overtime options, and central command decides.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ranker receives application-owned evidence and ranks only the eligible candidates, fixes or overtime options it is given. The Investigator quotes only what its tools returned, and the validator checks every citation. The planner proposes synthetic incidents; code validates every proposal and owns all mutations. If a model is slow, rate-limited or returns invalid output, the deterministic path takes over.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Investigator is Nemotron 3 Ultra in a bounded tool loop. It reads past cases, catalog procedures and responder qualifications through six read-only tools. Every citation must be a record a tool returned. A person confirms the symptom, and the single dispatch gate accepts the assignment only after approval.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reports are data, not instructions. The policy in code decides what reaches the model, and the validators check what comes back. We do not claim that Nemotron verifies its own prose: code checks each citation and rejects references the tools did not return.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wanted the system to show Compass being wrong as well as right. Hidden truth plus baselines make its choices inspectable. Disagreement alone does not prove better outcomes.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the supplied Nemotron ids on Token Factory with the same ranking prompt: five runs each, small samples. Lightning truncated its reasoning at 1,024 tokens with thinking on, so thinking is switched off per model. These are validity results, not outcome accuracy or uptime guarantees.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Paired replay on 60 held-out issues: the same responders, state and random draws in every arm, only the first fix differs. The Investigator ties the deterministic order and is ahead of the class-frequency baseline. That is not a significance claim. Run A's higher figure came from fallbacks that the validator then fixed.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run 3 of the Investigator on Token Factory, after the security fixes. Citation validity counts only references the tools returned; it does not show that a rationale follows from a case. Latency includes deterministic and injected-provider cases.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changes until central command approves. Legal limits are checked in code before the ranking sees an option. Rooms can opt into an audited auto-approve policy; the default is operator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Pareto answers the supervisor's first question: which few problems cost us most of the time. It describes recorded work; it does not rank people or claim causation.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month is synthetic and was generated offline with the app's own engine and deterministic fallbacks, so it is not a benchmark of the models. Reopen rate and top-class share are recorded, not claimed as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role picks its own model in Settings, and the model name appears next to the calls it makes. Prices are the Token Factory list prices on 2026-10-19 in US dollars per million tokens.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sign in with any username and the shared guest password. Each username gets its own workplace, copied from the full plant-1 history. New usernames close after ten registered workplaces, to limit bot sign-ups. Field reports and the Investigator are operator-only on guest workplaces until the access decision is made.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matters is tested without spending API credits. The browser tests force provider failures to prove the fallbacks. The hermetic suite ran on 2026-10-26; the Chromium count is the last recorded run.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item: the amber card lists what must be finished before filing. Remove it from the final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ResponseCompass: the right responder, the right fix, supervised by your control room. Built on Nemotron models through Nebius Token Factory.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cov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4572000"/>
            <a:ext cx="5120640" cy="822960"/>
          </a:xfrm>
          <a:prstGeom prst="rect">
            <a:avLst/>
          </a:prstGeom>
          <a:noFill/>
        </p:spPr>
        <p:txBody>
          <a:bodyPr wrap="square" anchor="t" lIns="18288" rIns="18288" tIns="18288" bIns="18288">
            <a:spAutoFit/>
          </a:bodyPr>
          <a:lstStyle/>
          <a:p>
            <a:pPr algn="l">
              <a:spcAft>
                <a:spcPts val="400"/>
              </a:spcAft>
            </a:pPr>
            <a:r>
              <a:rPr sz="1300" b="0">
                <a:solidFill>
                  <a:srgbClr val="667085"/>
                </a:solidFill>
                <a:latin typeface="Inter"/>
              </a:rPr>
              <a:t>Nebius x NVIDIA Global AI Hackathon · Best Apps and Agents</a:t>
            </a:r>
          </a:p>
          <a:p>
            <a:pPr algn="l">
              <a:spcAft>
                <a:spcPts val="400"/>
              </a:spcAft>
            </a:pPr>
            <a:r>
              <a:rPr sz="1300" b="0">
                <a:solidFill>
                  <a:srgbClr val="667085"/>
                </a:solidFill>
                <a:latin typeface="Inter"/>
              </a:rPr>
              <a:t>Nemotron 3 Ultra, Nemotron 3 Super and Nemotron 3.5 Lightning on Nebius Token Factory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THE PROBLEM</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Closest is not best</a:t>
            </a:r>
          </a:p>
        </p:txBody>
      </p:sp>
      <p:sp>
        <p:nvSpPr>
          <p:cNvPr id="5" name="TextBox 4"/>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2</a:t>
            </a:r>
          </a:p>
        </p:txBody>
      </p:sp>
      <p:sp>
        <p:nvSpPr>
          <p:cNvPr id="6" name="Oval 5"/>
          <p:cNvSpPr/>
          <p:nvPr/>
        </p:nvSpPr>
        <p:spPr>
          <a:xfrm>
            <a:off x="548640" y="173736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7" name="TextBox 6"/>
          <p:cNvSpPr txBox="1"/>
          <p:nvPr/>
        </p:nvSpPr>
        <p:spPr>
          <a:xfrm>
            <a:off x="1207007" y="1664207"/>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Nearest is not most experienced.</a:t>
            </a:r>
          </a:p>
        </p:txBody>
      </p:sp>
      <p:sp>
        <p:nvSpPr>
          <p:cNvPr id="8" name="TextBox 7"/>
          <p:cNvSpPr txBox="1"/>
          <p:nvPr/>
        </p:nvSpPr>
        <p:spPr>
          <a:xfrm>
            <a:off x="1207007" y="198424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The closest technician may never have fixed this fault.</a:t>
            </a:r>
          </a:p>
        </p:txBody>
      </p:sp>
      <p:sp>
        <p:nvSpPr>
          <p:cNvPr id="9" name="Oval 8"/>
          <p:cNvSpPr/>
          <p:nvPr/>
        </p:nvSpPr>
        <p:spPr>
          <a:xfrm>
            <a:off x="548640" y="283464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0" name="TextBox 9"/>
          <p:cNvSpPr txBox="1"/>
          <p:nvPr/>
        </p:nvSpPr>
        <p:spPr>
          <a:xfrm>
            <a:off x="1207007" y="276148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The first fix is often a guess.</a:t>
            </a:r>
          </a:p>
        </p:txBody>
      </p:sp>
      <p:sp>
        <p:nvSpPr>
          <p:cNvPr id="11" name="TextBox 10"/>
          <p:cNvSpPr txBox="1"/>
          <p:nvPr/>
        </p:nvSpPr>
        <p:spPr>
          <a:xfrm>
            <a:off x="1207007" y="308152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A wrong guess means a reopened issue and another trip.</a:t>
            </a:r>
          </a:p>
        </p:txBody>
      </p:sp>
      <p:sp>
        <p:nvSpPr>
          <p:cNvPr id="12" name="Oval 11"/>
          <p:cNvSpPr/>
          <p:nvPr/>
        </p:nvSpPr>
        <p:spPr>
          <a:xfrm>
            <a:off x="548640" y="393192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3" name="TextBox 12"/>
          <p:cNvSpPr txBox="1"/>
          <p:nvPr/>
        </p:nvSpPr>
        <p:spPr>
          <a:xfrm>
            <a:off x="1207007" y="385876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Reports arrive as free text.</a:t>
            </a:r>
          </a:p>
        </p:txBody>
      </p:sp>
      <p:sp>
        <p:nvSpPr>
          <p:cNvPr id="14" name="TextBox 13"/>
          <p:cNvSpPr txBox="1"/>
          <p:nvPr/>
        </p:nvSpPr>
        <p:spPr>
          <a:xfrm>
            <a:off x="1207007" y="417880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"The transfer keeps stopping short" must become an equipment, a symptom and a set of past cases.</a:t>
            </a:r>
          </a:p>
        </p:txBody>
      </p:sp>
      <p:sp>
        <p:nvSpPr>
          <p:cNvPr id="15" name="Oval 14"/>
          <p:cNvSpPr/>
          <p:nvPr/>
        </p:nvSpPr>
        <p:spPr>
          <a:xfrm>
            <a:off x="548640" y="50292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04</a:t>
            </a:r>
          </a:p>
        </p:txBody>
      </p:sp>
      <p:sp>
        <p:nvSpPr>
          <p:cNvPr id="16" name="TextBox 15"/>
          <p:cNvSpPr txBox="1"/>
          <p:nvPr/>
        </p:nvSpPr>
        <p:spPr>
          <a:xfrm>
            <a:off x="1207007" y="495604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Backlogs force overtime calls.</a:t>
            </a:r>
          </a:p>
        </p:txBody>
      </p:sp>
      <p:sp>
        <p:nvSpPr>
          <p:cNvPr id="17" name="TextBox 16"/>
          <p:cNvSpPr txBox="1"/>
          <p:nvPr/>
        </p:nvSpPr>
        <p:spPr>
          <a:xfrm>
            <a:off x="1207007" y="527608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Who may legally stay on, and who covers the most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FIELD REPORTS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A report, not a ticket</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Technicians describe faults in their own words. Code turns the words into facts; the model only ranks.</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3</a:t>
            </a:r>
          </a:p>
        </p:txBody>
      </p:sp>
      <p:sp>
        <p:nvSpPr>
          <p:cNvPr id="7" name="Rounded Rectangle 6"/>
          <p:cNvSpPr/>
          <p:nvPr/>
        </p:nvSpPr>
        <p:spPr>
          <a:xfrm>
            <a:off x="548640" y="1828800"/>
            <a:ext cx="5394960"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4846320" cy="274320"/>
          </a:xfrm>
          <a:prstGeom prst="rect">
            <a:avLst/>
          </a:prstGeom>
          <a:noFill/>
        </p:spPr>
        <p:txBody>
          <a:bodyPr wrap="square" anchor="t" lIns="18288" rIns="18288" tIns="18288" bIns="18288">
            <a:spAutoFit/>
          </a:bodyPr>
          <a:lstStyle/>
          <a:p>
            <a:pPr algn="l">
              <a:spcAft>
                <a:spcPts val="0"/>
              </a:spcAft>
            </a:pPr>
            <a:r>
              <a:rPr sz="1000" b="1">
                <a:solidFill>
                  <a:srgbClr val="667085"/>
                </a:solidFill>
                <a:latin typeface="Inter"/>
              </a:rPr>
              <a:t>FIELD REPORT · UNTRUSTED TEXT</a:t>
            </a:r>
          </a:p>
        </p:txBody>
      </p:sp>
      <p:sp>
        <p:nvSpPr>
          <p:cNvPr id="9" name="TextBox 8"/>
          <p:cNvSpPr txBox="1"/>
          <p:nvPr/>
        </p:nvSpPr>
        <p:spPr>
          <a:xfrm>
            <a:off x="822960" y="2331720"/>
            <a:ext cx="4937760" cy="1097280"/>
          </a:xfrm>
          <a:prstGeom prst="rect">
            <a:avLst/>
          </a:prstGeom>
          <a:noFill/>
        </p:spPr>
        <p:txBody>
          <a:bodyPr wrap="square" anchor="t" lIns="18288" rIns="18288" tIns="18288" bIns="18288">
            <a:spAutoFit/>
          </a:bodyPr>
          <a:lstStyle/>
          <a:p>
            <a:pPr algn="l">
              <a:spcAft>
                <a:spcPts val="0"/>
              </a:spcAft>
            </a:pPr>
            <a:r>
              <a:rPr sz="1800" b="1">
                <a:solidFill>
                  <a:srgbClr val="111827"/>
                </a:solidFill>
                <a:latin typeface="Inter"/>
              </a:rPr>
              <a:t>"Station 12: the transfer keeps stopping short of the end position every few cycles."</a:t>
            </a:r>
          </a:p>
        </p:txBody>
      </p:sp>
      <p:sp>
        <p:nvSpPr>
          <p:cNvPr id="10" name="Rounded Rectangle 9"/>
          <p:cNvSpPr/>
          <p:nvPr/>
        </p:nvSpPr>
        <p:spPr>
          <a:xfrm>
            <a:off x="548640" y="4069080"/>
            <a:ext cx="2286000" cy="9601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Technician report</a:t>
            </a:r>
          </a:p>
          <a:p>
            <a:pPr algn="ctr"/>
            <a:r>
              <a:rPr sz="950" b="0">
                <a:solidFill>
                  <a:srgbClr val="475467"/>
                </a:solidFill>
                <a:latin typeface="Inter"/>
              </a:rPr>
              <a:t>free text, typed on the floor</a:t>
            </a:r>
          </a:p>
        </p:txBody>
      </p:sp>
      <p:sp>
        <p:nvSpPr>
          <p:cNvPr id="11" name="Rounded Rectangle 10"/>
          <p:cNvSpPr/>
          <p:nvPr/>
        </p:nvSpPr>
        <p:spPr>
          <a:xfrm>
            <a:off x="3474720" y="4069080"/>
            <a:ext cx="2286000" cy="960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Code resolves facts</a:t>
            </a:r>
          </a:p>
          <a:p>
            <a:pPr algn="ctr"/>
            <a:r>
              <a:rPr sz="950" b="0">
                <a:solidFill>
                  <a:srgbClr val="475467"/>
                </a:solidFill>
                <a:latin typeface="Inter"/>
              </a:rPr>
              <a:t>equipment, history, hazard policy</a:t>
            </a:r>
          </a:p>
        </p:txBody>
      </p:sp>
      <p:sp>
        <p:nvSpPr>
          <p:cNvPr id="12" name="Rounded Rectangle 11"/>
          <p:cNvSpPr/>
          <p:nvPr/>
        </p:nvSpPr>
        <p:spPr>
          <a:xfrm>
            <a:off x="6400800" y="4069080"/>
            <a:ext cx="2286000" cy="9601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Nemotron 3 Ultra</a:t>
            </a:r>
          </a:p>
          <a:p>
            <a:pPr algn="ctr"/>
            <a:r>
              <a:rPr sz="950" b="0">
                <a:solidFill>
                  <a:srgbClr val="E0E7FF"/>
                </a:solidFill>
                <a:latin typeface="Inter"/>
              </a:rPr>
              <a:t>ranks up to 12 interpretations</a:t>
            </a:r>
          </a:p>
        </p:txBody>
      </p:sp>
      <p:sp>
        <p:nvSpPr>
          <p:cNvPr id="13" name="Rounded Rectangle 12"/>
          <p:cNvSpPr/>
          <p:nvPr/>
        </p:nvSpPr>
        <p:spPr>
          <a:xfrm>
            <a:off x="9326880" y="4069080"/>
            <a:ext cx="2286000" cy="9601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Operator confirms</a:t>
            </a:r>
          </a:p>
          <a:p>
            <a:pPr algn="ctr"/>
            <a:r>
              <a:rPr sz="950" b="0">
                <a:solidFill>
                  <a:srgbClr val="475467"/>
                </a:solidFill>
                <a:latin typeface="Inter"/>
              </a:rPr>
              <a:t>symptom and equipment, by a person</a:t>
            </a:r>
          </a:p>
        </p:txBody>
      </p:sp>
      <p:cxnSp>
        <p:nvCxnSpPr>
          <p:cNvPr id="14" name="Connector 13"/>
          <p:cNvCxnSpPr>
            <a:stCxn id="10" idx="3"/>
            <a:endCxn id="11" idx="1"/>
          </p:cNvCxnSpPr>
          <p:nvPr/>
        </p:nvCxnSpPr>
        <p:spPr>
          <a:xfrm flipV="1">
            <a:off x="2834640" y="4549140"/>
            <a:ext cx="64008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a:stCxn id="11" idx="3"/>
            <a:endCxn id="12" idx="1"/>
          </p:cNvCxnSpPr>
          <p:nvPr/>
        </p:nvCxnSpPr>
        <p:spPr>
          <a:xfrm flipV="1">
            <a:off x="5760720" y="4549140"/>
            <a:ext cx="64008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12" idx="3"/>
            <a:endCxn id="13" idx="1"/>
          </p:cNvCxnSpPr>
          <p:nvPr/>
        </p:nvCxnSpPr>
        <p:spPr>
          <a:xfrm flipV="1">
            <a:off x="8686800" y="4549140"/>
            <a:ext cx="64008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5349240"/>
            <a:ext cx="11064240" cy="54864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The interpretations come only from candidates code resolved. A report that matches no equipment or history is refused, not guessed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CONTROL ROOM</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One agent, many screens</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Each panel runs full screen on its own monitor; the operator console keeps the controls.</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4</a:t>
            </a:r>
          </a:p>
        </p:txBody>
      </p:sp>
      <p:sp>
        <p:nvSpPr>
          <p:cNvPr id="7" name="Rounded Rectangle 6"/>
          <p:cNvSpPr/>
          <p:nvPr/>
        </p:nvSpPr>
        <p:spPr>
          <a:xfrm>
            <a:off x="475488" y="175564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map.png"/>
          <p:cNvPicPr>
            <a:picLocks noChangeAspect="1"/>
          </p:cNvPicPr>
          <p:nvPr/>
        </p:nvPicPr>
        <p:blipFill>
          <a:blip r:embed="rId4"/>
          <a:stretch>
            <a:fillRect/>
          </a:stretch>
        </p:blipFill>
        <p:spPr>
          <a:xfrm>
            <a:off x="548640" y="1828800"/>
            <a:ext cx="3429000" cy="1928812"/>
          </a:xfrm>
          <a:prstGeom prst="rect">
            <a:avLst/>
          </a:prstGeom>
        </p:spPr>
      </p:pic>
      <p:sp>
        <p:nvSpPr>
          <p:cNvPr id="9" name="Rounded Rectangle 8"/>
          <p:cNvSpPr/>
          <p:nvPr/>
        </p:nvSpPr>
        <p:spPr>
          <a:xfrm>
            <a:off x="2560320" y="339185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Floor map</a:t>
            </a:r>
          </a:p>
        </p:txBody>
      </p:sp>
      <p:sp>
        <p:nvSpPr>
          <p:cNvPr id="10" name="Rounded Rectangle 9"/>
          <p:cNvSpPr/>
          <p:nvPr/>
        </p:nvSpPr>
        <p:spPr>
          <a:xfrm>
            <a:off x="4224527" y="175564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issues.png"/>
          <p:cNvPicPr>
            <a:picLocks noChangeAspect="1"/>
          </p:cNvPicPr>
          <p:nvPr/>
        </p:nvPicPr>
        <p:blipFill>
          <a:blip r:embed="rId5"/>
          <a:stretch>
            <a:fillRect/>
          </a:stretch>
        </p:blipFill>
        <p:spPr>
          <a:xfrm>
            <a:off x="4297679" y="1828800"/>
            <a:ext cx="3429000" cy="1928812"/>
          </a:xfrm>
          <a:prstGeom prst="rect">
            <a:avLst/>
          </a:prstGeom>
        </p:spPr>
      </p:pic>
      <p:sp>
        <p:nvSpPr>
          <p:cNvPr id="12" name="Rounded Rectangle 11"/>
          <p:cNvSpPr/>
          <p:nvPr/>
        </p:nvSpPr>
        <p:spPr>
          <a:xfrm>
            <a:off x="6309359" y="339185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Issues</a:t>
            </a:r>
          </a:p>
        </p:txBody>
      </p:sp>
      <p:sp>
        <p:nvSpPr>
          <p:cNvPr id="13" name="Rounded Rectangle 12"/>
          <p:cNvSpPr/>
          <p:nvPr/>
        </p:nvSpPr>
        <p:spPr>
          <a:xfrm>
            <a:off x="7973567" y="175564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dispatch.png"/>
          <p:cNvPicPr>
            <a:picLocks noChangeAspect="1"/>
          </p:cNvPicPr>
          <p:nvPr/>
        </p:nvPicPr>
        <p:blipFill>
          <a:blip r:embed="rId6"/>
          <a:stretch>
            <a:fillRect/>
          </a:stretch>
        </p:blipFill>
        <p:spPr>
          <a:xfrm>
            <a:off x="8046719" y="1828800"/>
            <a:ext cx="3429000" cy="1928812"/>
          </a:xfrm>
          <a:prstGeom prst="rect">
            <a:avLst/>
          </a:prstGeom>
        </p:spPr>
      </p:pic>
      <p:sp>
        <p:nvSpPr>
          <p:cNvPr id="15" name="Rounded Rectangle 14"/>
          <p:cNvSpPr/>
          <p:nvPr/>
        </p:nvSpPr>
        <p:spPr>
          <a:xfrm>
            <a:off x="10058399" y="339185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Dispatch</a:t>
            </a:r>
          </a:p>
        </p:txBody>
      </p:sp>
      <p:sp>
        <p:nvSpPr>
          <p:cNvPr id="16" name="Rounded Rectangle 15"/>
          <p:cNvSpPr/>
          <p:nvPr/>
        </p:nvSpPr>
        <p:spPr>
          <a:xfrm>
            <a:off x="475488" y="399592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reen-events.png"/>
          <p:cNvPicPr>
            <a:picLocks noChangeAspect="1"/>
          </p:cNvPicPr>
          <p:nvPr/>
        </p:nvPicPr>
        <p:blipFill>
          <a:blip r:embed="rId7"/>
          <a:stretch>
            <a:fillRect/>
          </a:stretch>
        </p:blipFill>
        <p:spPr>
          <a:xfrm>
            <a:off x="548640" y="4069080"/>
            <a:ext cx="3429000" cy="1928812"/>
          </a:xfrm>
          <a:prstGeom prst="rect">
            <a:avLst/>
          </a:prstGeom>
        </p:spPr>
      </p:pic>
      <p:sp>
        <p:nvSpPr>
          <p:cNvPr id="18" name="Rounded Rectangle 17"/>
          <p:cNvSpPr/>
          <p:nvPr/>
        </p:nvSpPr>
        <p:spPr>
          <a:xfrm>
            <a:off x="2560320" y="563213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Event feed</a:t>
            </a:r>
          </a:p>
        </p:txBody>
      </p:sp>
      <p:sp>
        <p:nvSpPr>
          <p:cNvPr id="19" name="Rounded Rectangle 18"/>
          <p:cNvSpPr/>
          <p:nvPr/>
        </p:nvSpPr>
        <p:spPr>
          <a:xfrm>
            <a:off x="4224527" y="399592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reen-pareto.png"/>
          <p:cNvPicPr>
            <a:picLocks noChangeAspect="1"/>
          </p:cNvPicPr>
          <p:nvPr/>
        </p:nvPicPr>
        <p:blipFill>
          <a:blip r:embed="rId8"/>
          <a:stretch>
            <a:fillRect/>
          </a:stretch>
        </p:blipFill>
        <p:spPr>
          <a:xfrm>
            <a:off x="4297679" y="4069080"/>
            <a:ext cx="3429000" cy="1928812"/>
          </a:xfrm>
          <a:prstGeom prst="rect">
            <a:avLst/>
          </a:prstGeom>
        </p:spPr>
      </p:pic>
      <p:sp>
        <p:nvSpPr>
          <p:cNvPr id="21" name="Rounded Rectangle 20"/>
          <p:cNvSpPr/>
          <p:nvPr/>
        </p:nvSpPr>
        <p:spPr>
          <a:xfrm>
            <a:off x="6309359" y="563213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Issue Pareto</a:t>
            </a:r>
          </a:p>
        </p:txBody>
      </p:sp>
      <p:sp>
        <p:nvSpPr>
          <p:cNvPr id="22" name="Rounded Rectangle 21"/>
          <p:cNvSpPr/>
          <p:nvPr/>
        </p:nvSpPr>
        <p:spPr>
          <a:xfrm>
            <a:off x="7973567" y="399592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reen-analytics.png"/>
          <p:cNvPicPr>
            <a:picLocks noChangeAspect="1"/>
          </p:cNvPicPr>
          <p:nvPr/>
        </p:nvPicPr>
        <p:blipFill>
          <a:blip r:embed="rId9"/>
          <a:stretch>
            <a:fillRect/>
          </a:stretch>
        </p:blipFill>
        <p:spPr>
          <a:xfrm>
            <a:off x="8046719" y="4069080"/>
            <a:ext cx="3429000" cy="1928812"/>
          </a:xfrm>
          <a:prstGeom prst="rect">
            <a:avLst/>
          </a:prstGeom>
        </p:spPr>
      </p:pic>
      <p:sp>
        <p:nvSpPr>
          <p:cNvPr id="24" name="Rounded Rectangle 23"/>
          <p:cNvSpPr/>
          <p:nvPr/>
        </p:nvSpPr>
        <p:spPr>
          <a:xfrm>
            <a:off x="10058399" y="563213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Analytics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HOW IT RUNS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Autonomous by default, human in command</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Code runs the loop; Nemotron models rank and draft; people decide at the amber steps.</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5</a:t>
            </a:r>
          </a:p>
        </p:txBody>
      </p:sp>
      <p:sp>
        <p:nvSpPr>
          <p:cNvPr id="7" name="Rounded Rectangle 6"/>
          <p:cNvSpPr/>
          <p:nvPr/>
        </p:nvSpPr>
        <p:spPr>
          <a:xfrm>
            <a:off x="411480" y="1828800"/>
            <a:ext cx="1920240" cy="7315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Field report</a:t>
            </a:r>
          </a:p>
          <a:p>
            <a:pPr algn="ctr"/>
            <a:r>
              <a:rPr sz="950" b="0">
                <a:solidFill>
                  <a:srgbClr val="475467"/>
                </a:solidFill>
                <a:latin typeface="Inter"/>
              </a:rPr>
              <a:t>technician text, untrusted</a:t>
            </a:r>
          </a:p>
        </p:txBody>
      </p:sp>
      <p:sp>
        <p:nvSpPr>
          <p:cNvPr id="8" name="Rounded Rectangle 7"/>
          <p:cNvSpPr/>
          <p:nvPr/>
        </p:nvSpPr>
        <p:spPr>
          <a:xfrm>
            <a:off x="2788920" y="1828800"/>
            <a:ext cx="1920240" cy="7315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Investigator</a:t>
            </a:r>
          </a:p>
          <a:p>
            <a:pPr algn="ctr"/>
            <a:r>
              <a:rPr sz="950" b="0">
                <a:solidFill>
                  <a:srgbClr val="E0E7FF"/>
                </a:solidFill>
                <a:latin typeface="Inter"/>
              </a:rPr>
              <a:t>Ultra ranks interpretations</a:t>
            </a:r>
          </a:p>
        </p:txBody>
      </p:sp>
      <p:sp>
        <p:nvSpPr>
          <p:cNvPr id="9" name="Rounded Rectangle 8"/>
          <p:cNvSpPr/>
          <p:nvPr/>
        </p:nvSpPr>
        <p:spPr>
          <a:xfrm>
            <a:off x="5166360" y="1828800"/>
            <a:ext cx="1920240" cy="7315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Operator confirms</a:t>
            </a:r>
          </a:p>
          <a:p>
            <a:pPr algn="ctr"/>
            <a:r>
              <a:rPr sz="950" b="0">
                <a:solidFill>
                  <a:srgbClr val="475467"/>
                </a:solidFill>
                <a:latin typeface="Inter"/>
              </a:rPr>
              <a:t>symptom and equipment</a:t>
            </a:r>
          </a:p>
        </p:txBody>
      </p:sp>
      <p:sp>
        <p:nvSpPr>
          <p:cNvPr id="10" name="Rounded Rectangle 9"/>
          <p:cNvSpPr/>
          <p:nvPr/>
        </p:nvSpPr>
        <p:spPr>
          <a:xfrm>
            <a:off x="7543800" y="1828800"/>
            <a:ext cx="1920240" cy="7315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Rank responders</a:t>
            </a:r>
          </a:p>
          <a:p>
            <a:pPr algn="ctr"/>
            <a:r>
              <a:rPr sz="950" b="0">
                <a:solidFill>
                  <a:srgbClr val="E0E7FF"/>
                </a:solidFill>
                <a:latin typeface="Inter"/>
              </a:rPr>
              <a:t>Super, eligible candidates</a:t>
            </a:r>
          </a:p>
        </p:txBody>
      </p:sp>
      <p:sp>
        <p:nvSpPr>
          <p:cNvPr id="11" name="Rounded Rectangle 10"/>
          <p:cNvSpPr/>
          <p:nvPr/>
        </p:nvSpPr>
        <p:spPr>
          <a:xfrm>
            <a:off x="9921240" y="1828800"/>
            <a:ext cx="1920240" cy="7315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Offer sent</a:t>
            </a:r>
          </a:p>
          <a:p>
            <a:pPr algn="ctr"/>
            <a:r>
              <a:rPr sz="950" b="0">
                <a:solidFill>
                  <a:srgbClr val="475467"/>
                </a:solidFill>
                <a:latin typeface="Inter"/>
              </a:rPr>
              <a:t>automatic, ranked queue</a:t>
            </a:r>
          </a:p>
        </p:txBody>
      </p:sp>
      <p:sp>
        <p:nvSpPr>
          <p:cNvPr id="12" name="Rounded Rectangle 11"/>
          <p:cNvSpPr/>
          <p:nvPr/>
        </p:nvSpPr>
        <p:spPr>
          <a:xfrm>
            <a:off x="9921240" y="3246120"/>
            <a:ext cx="1920240" cy="7315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Responder</a:t>
            </a:r>
          </a:p>
          <a:p>
            <a:pPr algn="ctr"/>
            <a:r>
              <a:rPr sz="950" b="0">
                <a:solidFill>
                  <a:srgbClr val="475467"/>
                </a:solidFill>
                <a:latin typeface="Inter"/>
              </a:rPr>
              <a:t>accepts or rejects</a:t>
            </a:r>
          </a:p>
        </p:txBody>
      </p:sp>
      <p:sp>
        <p:nvSpPr>
          <p:cNvPr id="13" name="Rounded Rectangle 12"/>
          <p:cNvSpPr/>
          <p:nvPr/>
        </p:nvSpPr>
        <p:spPr>
          <a:xfrm>
            <a:off x="7543800" y="3246120"/>
            <a:ext cx="1920240" cy="7315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Rank fixes</a:t>
            </a:r>
          </a:p>
          <a:p>
            <a:pPr algn="ctr"/>
            <a:r>
              <a:rPr sz="950" b="0">
                <a:solidFill>
                  <a:srgbClr val="E0E7FF"/>
                </a:solidFill>
                <a:latin typeface="Inter"/>
              </a:rPr>
              <a:t>Super, catalog procedures</a:t>
            </a:r>
          </a:p>
        </p:txBody>
      </p:sp>
      <p:sp>
        <p:nvSpPr>
          <p:cNvPr id="14" name="Rounded Rectangle 13"/>
          <p:cNvSpPr/>
          <p:nvPr/>
        </p:nvSpPr>
        <p:spPr>
          <a:xfrm>
            <a:off x="5166360" y="3246120"/>
            <a:ext cx="1920240" cy="7315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Repair attempt</a:t>
            </a:r>
          </a:p>
          <a:p>
            <a:pPr algn="ctr"/>
            <a:r>
              <a:rPr sz="950" b="0">
                <a:solidFill>
                  <a:srgbClr val="475467"/>
                </a:solidFill>
                <a:latin typeface="Inter"/>
              </a:rPr>
              <a:t>outcome from hidden truth</a:t>
            </a:r>
          </a:p>
        </p:txBody>
      </p:sp>
      <p:sp>
        <p:nvSpPr>
          <p:cNvPr id="15" name="Rounded Rectangle 14"/>
          <p:cNvSpPr/>
          <p:nvPr/>
        </p:nvSpPr>
        <p:spPr>
          <a:xfrm>
            <a:off x="2788920" y="3246120"/>
            <a:ext cx="1920240" cy="7315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Observed history</a:t>
            </a:r>
          </a:p>
          <a:p>
            <a:pPr algn="ctr"/>
            <a:r>
              <a:rPr sz="950" b="0">
                <a:solidFill>
                  <a:srgbClr val="A5B4FC"/>
                </a:solidFill>
                <a:latin typeface="Inter"/>
              </a:rPr>
              <a:t>evidence for every ranking</a:t>
            </a:r>
          </a:p>
        </p:txBody>
      </p:sp>
      <p:sp>
        <p:nvSpPr>
          <p:cNvPr id="16" name="Rounded Rectangle 15"/>
          <p:cNvSpPr/>
          <p:nvPr/>
        </p:nvSpPr>
        <p:spPr>
          <a:xfrm>
            <a:off x="411480" y="3246120"/>
            <a:ext cx="1920240" cy="7315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Backlog review</a:t>
            </a:r>
          </a:p>
          <a:p>
            <a:pPr algn="ctr"/>
            <a:r>
              <a:rPr sz="950" b="0">
                <a:solidFill>
                  <a:srgbClr val="475467"/>
                </a:solidFill>
                <a:latin typeface="Inter"/>
              </a:rPr>
              <a:t>before each handover</a:t>
            </a:r>
          </a:p>
        </p:txBody>
      </p:sp>
      <p:sp>
        <p:nvSpPr>
          <p:cNvPr id="17" name="Rounded Rectangle 16"/>
          <p:cNvSpPr/>
          <p:nvPr/>
        </p:nvSpPr>
        <p:spPr>
          <a:xfrm>
            <a:off x="411480" y="4663440"/>
            <a:ext cx="1920240" cy="7315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Rank overtime</a:t>
            </a:r>
          </a:p>
          <a:p>
            <a:pPr algn="ctr"/>
            <a:r>
              <a:rPr sz="950" b="0">
                <a:solidFill>
                  <a:srgbClr val="E0E7FF"/>
                </a:solidFill>
                <a:latin typeface="Inter"/>
              </a:rPr>
              <a:t>Super, legal options only</a:t>
            </a:r>
          </a:p>
        </p:txBody>
      </p:sp>
      <p:sp>
        <p:nvSpPr>
          <p:cNvPr id="18" name="Rounded Rectangle 17"/>
          <p:cNvSpPr/>
          <p:nvPr/>
        </p:nvSpPr>
        <p:spPr>
          <a:xfrm>
            <a:off x="2788920" y="4663440"/>
            <a:ext cx="1920240" cy="7315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Central command</a:t>
            </a:r>
          </a:p>
          <a:p>
            <a:pPr algn="ctr"/>
            <a:r>
              <a:rPr sz="950" b="0">
                <a:solidFill>
                  <a:srgbClr val="475467"/>
                </a:solidFill>
                <a:latin typeface="Inter"/>
              </a:rPr>
              <a:t>approves or rejects</a:t>
            </a:r>
          </a:p>
        </p:txBody>
      </p:sp>
      <p:cxnSp>
        <p:nvCxnSpPr>
          <p:cNvPr id="19" name="Connector 18"/>
          <p:cNvCxnSpPr>
            <a:stCxn id="7" idx="3"/>
            <a:endCxn id="8" idx="1"/>
          </p:cNvCxnSpPr>
          <p:nvPr/>
        </p:nvCxnSpPr>
        <p:spPr>
          <a:xfrm flipV="1">
            <a:off x="2331720" y="2194560"/>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8" idx="3"/>
            <a:endCxn id="9" idx="1"/>
          </p:cNvCxnSpPr>
          <p:nvPr/>
        </p:nvCxnSpPr>
        <p:spPr>
          <a:xfrm flipV="1">
            <a:off x="4709160" y="2194560"/>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3"/>
            <a:endCxn id="10" idx="1"/>
          </p:cNvCxnSpPr>
          <p:nvPr/>
        </p:nvCxnSpPr>
        <p:spPr>
          <a:xfrm flipV="1">
            <a:off x="7086600" y="2194560"/>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0" idx="3"/>
            <a:endCxn id="11" idx="1"/>
          </p:cNvCxnSpPr>
          <p:nvPr/>
        </p:nvCxnSpPr>
        <p:spPr>
          <a:xfrm flipV="1">
            <a:off x="9464040" y="2194560"/>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1" idx="2"/>
            <a:endCxn id="12" idx="0"/>
          </p:cNvCxnSpPr>
          <p:nvPr/>
        </p:nvCxnSpPr>
        <p:spPr>
          <a:xfrm flipH="1">
            <a:off x="10881360" y="2560320"/>
            <a:ext cx="0" cy="68580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a:stCxn id="12" idx="1"/>
            <a:endCxn id="13" idx="3"/>
          </p:cNvCxnSpPr>
          <p:nvPr/>
        </p:nvCxnSpPr>
        <p:spPr>
          <a:xfrm flipH="1" flipV="1">
            <a:off x="9464040" y="3611880"/>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a:stCxn id="13" idx="1"/>
            <a:endCxn id="14" idx="3"/>
          </p:cNvCxnSpPr>
          <p:nvPr/>
        </p:nvCxnSpPr>
        <p:spPr>
          <a:xfrm flipH="1" flipV="1">
            <a:off x="7086600" y="3611880"/>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a:stCxn id="14" idx="1"/>
            <a:endCxn id="15" idx="3"/>
          </p:cNvCxnSpPr>
          <p:nvPr/>
        </p:nvCxnSpPr>
        <p:spPr>
          <a:xfrm flipH="1" flipV="1">
            <a:off x="4709160" y="3611880"/>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a:stCxn id="15" idx="1"/>
            <a:endCxn id="16" idx="3"/>
          </p:cNvCxnSpPr>
          <p:nvPr/>
        </p:nvCxnSpPr>
        <p:spPr>
          <a:xfrm flipH="1" flipV="1">
            <a:off x="2331720" y="3611880"/>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16" idx="2"/>
            <a:endCxn id="17" idx="0"/>
          </p:cNvCxnSpPr>
          <p:nvPr/>
        </p:nvCxnSpPr>
        <p:spPr>
          <a:xfrm flipH="1">
            <a:off x="1371600" y="3977640"/>
            <a:ext cx="0" cy="68580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7" idx="3"/>
            <a:endCxn id="18" idx="1"/>
          </p:cNvCxnSpPr>
          <p:nvPr/>
        </p:nvCxnSpPr>
        <p:spPr>
          <a:xfrm flipV="1">
            <a:off x="2331720" y="5029200"/>
            <a:ext cx="45720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166360" y="4754880"/>
            <a:ext cx="6400800" cy="914400"/>
          </a:xfrm>
          <a:prstGeom prst="rect">
            <a:avLst/>
          </a:prstGeom>
          <a:noFill/>
        </p:spPr>
        <p:txBody>
          <a:bodyPr wrap="square" anchor="t" lIns="18288" rIns="18288" tIns="18288" bIns="18288">
            <a:spAutoFit/>
          </a:bodyPr>
          <a:lstStyle/>
          <a:p>
            <a:pPr algn="l">
              <a:spcAft>
                <a:spcPts val="600"/>
              </a:spcAft>
            </a:pPr>
            <a:r>
              <a:rPr sz="1300" b="0">
                <a:solidFill>
                  <a:srgbClr val="475467"/>
                </a:solidFill>
                <a:latin typeface="Inter"/>
              </a:rPr>
              <a:t>Central command can override, transfer or add support at any time.</a:t>
            </a:r>
          </a:p>
          <a:p>
            <a:pPr algn="l">
              <a:spcAft>
                <a:spcPts val="600"/>
              </a:spcAft>
            </a:pPr>
            <a:r>
              <a:rPr sz="1300" b="0">
                <a:solidFill>
                  <a:srgbClr val="475467"/>
                </a:solidFill>
                <a:latin typeface="Inter"/>
              </a:rPr>
              <a:t>Every outcome is recorded in observed history, which every later ranking reads.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ARCHITECTURE</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Code owns the facts. Models only rank.</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Application code owns time, facts, eligibility, baselines, the dispatch gate and every mutation.</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6</a:t>
            </a:r>
          </a:p>
        </p:txBody>
      </p:sp>
      <p:sp>
        <p:nvSpPr>
          <p:cNvPr id="7" name="Rounded Rectangle 6"/>
          <p:cNvSpPr/>
          <p:nvPr/>
        </p:nvSpPr>
        <p:spPr>
          <a:xfrm>
            <a:off x="411480" y="178308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Simulation clock</a:t>
            </a:r>
          </a:p>
          <a:p>
            <a:pPr algn="ctr"/>
            <a:r>
              <a:rPr sz="950" b="0">
                <a:solidFill>
                  <a:srgbClr val="475467"/>
                </a:solidFill>
                <a:latin typeface="Inter"/>
              </a:rPr>
              <a:t>persistent, pausable</a:t>
            </a:r>
          </a:p>
        </p:txBody>
      </p:sp>
      <p:sp>
        <p:nvSpPr>
          <p:cNvPr id="8" name="Rounded Rectangle 7"/>
          <p:cNvSpPr/>
          <p:nvPr/>
        </p:nvSpPr>
        <p:spPr>
          <a:xfrm>
            <a:off x="411480" y="288036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Scheduler</a:t>
            </a:r>
          </a:p>
          <a:p>
            <a:pPr algn="ctr"/>
            <a:r>
              <a:rPr sz="950" b="0">
                <a:solidFill>
                  <a:srgbClr val="475467"/>
                </a:solidFill>
                <a:latin typeface="Inter"/>
              </a:rPr>
              <a:t>one-shot, restart-safe</a:t>
            </a:r>
          </a:p>
        </p:txBody>
      </p:sp>
      <p:sp>
        <p:nvSpPr>
          <p:cNvPr id="9" name="Rounded Rectangle 8"/>
          <p:cNvSpPr/>
          <p:nvPr/>
        </p:nvSpPr>
        <p:spPr>
          <a:xfrm>
            <a:off x="411480" y="4023360"/>
            <a:ext cx="1874519" cy="658368"/>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Responders</a:t>
            </a:r>
          </a:p>
          <a:p>
            <a:pPr algn="ctr"/>
            <a:r>
              <a:rPr sz="950" b="0">
                <a:solidFill>
                  <a:srgbClr val="475467"/>
                </a:solidFill>
                <a:latin typeface="Inter"/>
              </a:rPr>
              <a:t>accept or reject</a:t>
            </a:r>
          </a:p>
        </p:txBody>
      </p:sp>
      <p:sp>
        <p:nvSpPr>
          <p:cNvPr id="10" name="Rounded Rectangle 9"/>
          <p:cNvSpPr/>
          <p:nvPr/>
        </p:nvSpPr>
        <p:spPr>
          <a:xfrm>
            <a:off x="411480" y="512064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Dispatch</a:t>
            </a:r>
          </a:p>
          <a:p>
            <a:pPr algn="ctr"/>
            <a:r>
              <a:rPr sz="950" b="0">
                <a:solidFill>
                  <a:srgbClr val="475467"/>
                </a:solidFill>
                <a:latin typeface="Inter"/>
              </a:rPr>
              <a:t>ranked offer queue</a:t>
            </a:r>
          </a:p>
        </p:txBody>
      </p:sp>
      <p:sp>
        <p:nvSpPr>
          <p:cNvPr id="11" name="Rounded Rectangle 10"/>
          <p:cNvSpPr/>
          <p:nvPr/>
        </p:nvSpPr>
        <p:spPr>
          <a:xfrm>
            <a:off x="2834640" y="1783080"/>
            <a:ext cx="1874519" cy="658368"/>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Event planner</a:t>
            </a:r>
          </a:p>
          <a:p>
            <a:pPr algn="ctr"/>
            <a:r>
              <a:rPr sz="950" b="0">
                <a:solidFill>
                  <a:srgbClr val="E0E7FF"/>
                </a:solidFill>
                <a:latin typeface="Inter"/>
              </a:rPr>
              <a:t>Nemotron 3.5 Lightning</a:t>
            </a:r>
          </a:p>
        </p:txBody>
      </p:sp>
      <p:sp>
        <p:nvSpPr>
          <p:cNvPr id="12" name="Rounded Rectangle 11"/>
          <p:cNvSpPr/>
          <p:nvPr/>
        </p:nvSpPr>
        <p:spPr>
          <a:xfrm>
            <a:off x="2834640" y="288036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Fallback planner</a:t>
            </a:r>
          </a:p>
          <a:p>
            <a:pPr algn="ctr"/>
            <a:r>
              <a:rPr sz="950" b="0">
                <a:solidFill>
                  <a:srgbClr val="475467"/>
                </a:solidFill>
                <a:latin typeface="Inter"/>
              </a:rPr>
              <a:t>deterministic, API-free</a:t>
            </a:r>
          </a:p>
        </p:txBody>
      </p:sp>
      <p:sp>
        <p:nvSpPr>
          <p:cNvPr id="13" name="Rounded Rectangle 12"/>
          <p:cNvSpPr/>
          <p:nvPr/>
        </p:nvSpPr>
        <p:spPr>
          <a:xfrm>
            <a:off x="2834640" y="4617720"/>
            <a:ext cx="1874519" cy="658368"/>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Compass</a:t>
            </a:r>
          </a:p>
          <a:p>
            <a:pPr algn="ctr"/>
            <a:r>
              <a:rPr sz="950" b="0">
                <a:solidFill>
                  <a:srgbClr val="E0E7FF"/>
                </a:solidFill>
                <a:latin typeface="Inter"/>
              </a:rPr>
              <a:t>Nemotron 3 Super ranks</a:t>
            </a:r>
          </a:p>
        </p:txBody>
      </p:sp>
      <p:sp>
        <p:nvSpPr>
          <p:cNvPr id="14" name="Rounded Rectangle 13"/>
          <p:cNvSpPr/>
          <p:nvPr/>
        </p:nvSpPr>
        <p:spPr>
          <a:xfrm>
            <a:off x="2834640" y="566928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Baselines</a:t>
            </a:r>
          </a:p>
          <a:p>
            <a:pPr algn="ctr"/>
            <a:r>
              <a:rPr sz="950" b="0">
                <a:solidFill>
                  <a:srgbClr val="475467"/>
                </a:solidFill>
                <a:latin typeface="Inter"/>
              </a:rPr>
              <a:t>nearest + naive score</a:t>
            </a:r>
          </a:p>
        </p:txBody>
      </p:sp>
      <p:sp>
        <p:nvSpPr>
          <p:cNvPr id="15" name="Rounded Rectangle 14"/>
          <p:cNvSpPr/>
          <p:nvPr/>
        </p:nvSpPr>
        <p:spPr>
          <a:xfrm>
            <a:off x="5257800" y="1783080"/>
            <a:ext cx="1874519" cy="658368"/>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Investigator</a:t>
            </a:r>
          </a:p>
          <a:p>
            <a:pPr algn="ctr"/>
            <a:r>
              <a:rPr sz="950" b="0">
                <a:solidFill>
                  <a:srgbClr val="E0E7FF"/>
                </a:solidFill>
                <a:latin typeface="Inter"/>
              </a:rPr>
              <a:t>Nemotron 3 Ultra</a:t>
            </a:r>
          </a:p>
        </p:txBody>
      </p:sp>
      <p:sp>
        <p:nvSpPr>
          <p:cNvPr id="16" name="Rounded Rectangle 15"/>
          <p:cNvSpPr/>
          <p:nvPr/>
        </p:nvSpPr>
        <p:spPr>
          <a:xfrm>
            <a:off x="5257800" y="274320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Validator and gate</a:t>
            </a:r>
          </a:p>
          <a:p>
            <a:pPr algn="ctr"/>
            <a:r>
              <a:rPr sz="950" b="0">
                <a:solidFill>
                  <a:srgbClr val="475467"/>
                </a:solidFill>
                <a:latin typeface="Inter"/>
              </a:rPr>
              <a:t>schema, facts, one dispatch gate</a:t>
            </a:r>
          </a:p>
        </p:txBody>
      </p:sp>
      <p:sp>
        <p:nvSpPr>
          <p:cNvPr id="17" name="Rounded Rectangle 16"/>
          <p:cNvSpPr/>
          <p:nvPr/>
        </p:nvSpPr>
        <p:spPr>
          <a:xfrm>
            <a:off x="5257800" y="493776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Context engine</a:t>
            </a:r>
          </a:p>
          <a:p>
            <a:pPr algn="ctr"/>
            <a:r>
              <a:rPr sz="950" b="0">
                <a:solidFill>
                  <a:srgbClr val="475467"/>
                </a:solidFill>
                <a:latin typeface="Inter"/>
              </a:rPr>
              <a:t>eligibility, travel, history</a:t>
            </a:r>
          </a:p>
        </p:txBody>
      </p:sp>
      <p:sp>
        <p:nvSpPr>
          <p:cNvPr id="18" name="Rounded Rectangle 17"/>
          <p:cNvSpPr/>
          <p:nvPr/>
        </p:nvSpPr>
        <p:spPr>
          <a:xfrm>
            <a:off x="5029200" y="3611880"/>
            <a:ext cx="2331720" cy="86868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Canonical state</a:t>
            </a:r>
          </a:p>
          <a:p>
            <a:pPr algn="ctr"/>
            <a:r>
              <a:rPr sz="950" b="0">
                <a:solidFill>
                  <a:srgbClr val="A5B4FC"/>
                </a:solidFill>
                <a:latin typeface="Inter"/>
              </a:rPr>
              <a:t>persistent store, audit trail</a:t>
            </a:r>
          </a:p>
        </p:txBody>
      </p:sp>
      <p:sp>
        <p:nvSpPr>
          <p:cNvPr id="19" name="Rounded Rectangle 18"/>
          <p:cNvSpPr/>
          <p:nvPr/>
        </p:nvSpPr>
        <p:spPr>
          <a:xfrm>
            <a:off x="8229600" y="2651760"/>
            <a:ext cx="2331720" cy="658368"/>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Central command</a:t>
            </a:r>
          </a:p>
          <a:p>
            <a:pPr algn="ctr"/>
            <a:r>
              <a:rPr sz="950" b="0">
                <a:solidFill>
                  <a:srgbClr val="475467"/>
                </a:solidFill>
                <a:latin typeface="Inter"/>
              </a:rPr>
              <a:t>approves, overrides</a:t>
            </a:r>
          </a:p>
        </p:txBody>
      </p:sp>
      <p:sp>
        <p:nvSpPr>
          <p:cNvPr id="20" name="Rounded Rectangle 19"/>
          <p:cNvSpPr/>
          <p:nvPr/>
        </p:nvSpPr>
        <p:spPr>
          <a:xfrm>
            <a:off x="8229600" y="1783080"/>
            <a:ext cx="2331720" cy="658368"/>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Narrator</a:t>
            </a:r>
          </a:p>
          <a:p>
            <a:pPr algn="ctr"/>
            <a:r>
              <a:rPr sz="950" b="0">
                <a:solidFill>
                  <a:srgbClr val="E0E7FF"/>
                </a:solidFill>
                <a:latin typeface="Inter"/>
              </a:rPr>
              <a:t>Nemotron 3.5 Lightning</a:t>
            </a:r>
          </a:p>
        </p:txBody>
      </p:sp>
      <p:sp>
        <p:nvSpPr>
          <p:cNvPr id="21" name="Rounded Rectangle 20"/>
          <p:cNvSpPr/>
          <p:nvPr/>
        </p:nvSpPr>
        <p:spPr>
          <a:xfrm>
            <a:off x="8229600" y="3648456"/>
            <a:ext cx="2331720"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Live Floor &amp; Analytics</a:t>
            </a:r>
          </a:p>
          <a:p>
            <a:pPr algn="ctr"/>
            <a:r>
              <a:rPr sz="950" b="0">
                <a:solidFill>
                  <a:srgbClr val="475467"/>
                </a:solidFill>
                <a:latin typeface="Inter"/>
              </a:rPr>
              <a:t>UI, fixed snapshots</a:t>
            </a:r>
          </a:p>
        </p:txBody>
      </p:sp>
      <p:sp>
        <p:nvSpPr>
          <p:cNvPr id="22" name="Rounded Rectangle 21"/>
          <p:cNvSpPr/>
          <p:nvPr/>
        </p:nvSpPr>
        <p:spPr>
          <a:xfrm>
            <a:off x="8229600" y="4937760"/>
            <a:ext cx="2331720"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Resolution engine</a:t>
            </a:r>
          </a:p>
          <a:p>
            <a:pPr algn="ctr"/>
            <a:r>
              <a:rPr sz="950" b="0">
                <a:solidFill>
                  <a:srgbClr val="475467"/>
                </a:solidFill>
                <a:latin typeface="Inter"/>
              </a:rPr>
              <a:t>hidden skill, outcome</a:t>
            </a:r>
          </a:p>
        </p:txBody>
      </p:sp>
      <p:cxnSp>
        <p:nvCxnSpPr>
          <p:cNvPr id="23" name="Connector 22"/>
          <p:cNvCxnSpPr>
            <a:stCxn id="7" idx="3"/>
            <a:endCxn id="11" idx="1"/>
          </p:cNvCxnSpPr>
          <p:nvPr/>
        </p:nvCxnSpPr>
        <p:spPr>
          <a:xfrm flipV="1">
            <a:off x="2285999" y="2112264"/>
            <a:ext cx="548641"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a:stCxn id="8" idx="3"/>
            <a:endCxn id="12" idx="1"/>
          </p:cNvCxnSpPr>
          <p:nvPr/>
        </p:nvCxnSpPr>
        <p:spPr>
          <a:xfrm flipV="1">
            <a:off x="2285999" y="3209544"/>
            <a:ext cx="548641"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a:stCxn id="11" idx="2"/>
            <a:endCxn id="16" idx="1"/>
          </p:cNvCxnSpPr>
          <p:nvPr/>
        </p:nvCxnSpPr>
        <p:spPr>
          <a:xfrm>
            <a:off x="3771899" y="2441448"/>
            <a:ext cx="1485901" cy="630936"/>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a:stCxn id="15" idx="2"/>
            <a:endCxn id="16" idx="0"/>
          </p:cNvCxnSpPr>
          <p:nvPr/>
        </p:nvCxnSpPr>
        <p:spPr>
          <a:xfrm flipH="1">
            <a:off x="6195059" y="2441448"/>
            <a:ext cx="0" cy="30175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a:stCxn id="16" idx="2"/>
            <a:endCxn id="18" idx="0"/>
          </p:cNvCxnSpPr>
          <p:nvPr/>
        </p:nvCxnSpPr>
        <p:spPr>
          <a:xfrm>
            <a:off x="6195059" y="3401568"/>
            <a:ext cx="1" cy="21031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18" idx="2"/>
            <a:endCxn id="17" idx="0"/>
          </p:cNvCxnSpPr>
          <p:nvPr/>
        </p:nvCxnSpPr>
        <p:spPr>
          <a:xfrm flipH="1">
            <a:off x="6195059" y="4480560"/>
            <a:ext cx="1" cy="45720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7" idx="1"/>
            <a:endCxn id="13" idx="3"/>
          </p:cNvCxnSpPr>
          <p:nvPr/>
        </p:nvCxnSpPr>
        <p:spPr>
          <a:xfrm flipH="1" flipV="1">
            <a:off x="4709159" y="4946904"/>
            <a:ext cx="548641" cy="32004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18" idx="3"/>
            <a:endCxn id="21" idx="1"/>
          </p:cNvCxnSpPr>
          <p:nvPr/>
        </p:nvCxnSpPr>
        <p:spPr>
          <a:xfrm flipV="1">
            <a:off x="7360920" y="3977640"/>
            <a:ext cx="868680" cy="6858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19" idx="1"/>
            <a:endCxn id="16" idx="3"/>
          </p:cNvCxnSpPr>
          <p:nvPr/>
        </p:nvCxnSpPr>
        <p:spPr>
          <a:xfrm flipH="1">
            <a:off x="7132319" y="2980944"/>
            <a:ext cx="1097281" cy="9144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8" idx="1"/>
            <a:endCxn id="9" idx="3"/>
          </p:cNvCxnSpPr>
          <p:nvPr/>
        </p:nvCxnSpPr>
        <p:spPr>
          <a:xfrm flipH="1">
            <a:off x="2285999" y="4046220"/>
            <a:ext cx="2743201" cy="306324"/>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9" idx="2"/>
            <a:endCxn id="10" idx="0"/>
          </p:cNvCxnSpPr>
          <p:nvPr/>
        </p:nvCxnSpPr>
        <p:spPr>
          <a:xfrm flipH="1">
            <a:off x="1348739" y="4681728"/>
            <a:ext cx="0" cy="43891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22" idx="1"/>
            <a:endCxn id="18" idx="3"/>
          </p:cNvCxnSpPr>
          <p:nvPr/>
        </p:nvCxnSpPr>
        <p:spPr>
          <a:xfrm flipH="1" flipV="1">
            <a:off x="7360920" y="4046220"/>
            <a:ext cx="868680" cy="1220724"/>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20" idx="1"/>
            <a:endCxn id="19" idx="0"/>
          </p:cNvCxnSpPr>
          <p:nvPr/>
        </p:nvCxnSpPr>
        <p:spPr>
          <a:xfrm>
            <a:off x="8229600" y="2112264"/>
            <a:ext cx="1165860" cy="539496"/>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COMPASS INVESTIGATOR</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Investigate before anyone is sent</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Nemotron 3 Ultra calls six bounded, read-only tools; the operator confirms before any dispatch.</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7</a:t>
            </a:r>
          </a:p>
        </p:txBody>
      </p:sp>
      <p:sp>
        <p:nvSpPr>
          <p:cNvPr id="7" name="Rounded Rectangle 6"/>
          <p:cNvSpPr/>
          <p:nvPr/>
        </p:nvSpPr>
        <p:spPr>
          <a:xfrm>
            <a:off x="548640" y="1920240"/>
            <a:ext cx="1920240" cy="22860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01 Read the report</a:t>
            </a:r>
          </a:p>
        </p:txBody>
      </p:sp>
      <p:sp>
        <p:nvSpPr>
          <p:cNvPr id="9" name="TextBox 8"/>
          <p:cNvSpPr txBox="1"/>
          <p:nvPr/>
        </p:nvSpPr>
        <p:spPr>
          <a:xfrm>
            <a:off x="713232"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Hazard and input policy decided in code, before any model call.</a:t>
            </a:r>
          </a:p>
        </p:txBody>
      </p:sp>
      <p:sp>
        <p:nvSpPr>
          <p:cNvPr id="10" name="Rounded Rectangle 9"/>
          <p:cNvSpPr/>
          <p:nvPr/>
        </p:nvSpPr>
        <p:spPr>
          <a:xfrm>
            <a:off x="2807208" y="1920240"/>
            <a:ext cx="1920240" cy="2286000"/>
          </a:xfrm>
          <a:prstGeom prst="roundRect">
            <a:avLst>
              <a:gd name="adj" fmla="val 6000"/>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02 Rank interpretations</a:t>
            </a:r>
          </a:p>
        </p:txBody>
      </p:sp>
      <p:sp>
        <p:nvSpPr>
          <p:cNvPr id="12" name="TextBox 11"/>
          <p:cNvSpPr txBox="1"/>
          <p:nvPr/>
        </p:nvSpPr>
        <p:spPr>
          <a:xfrm>
            <a:off x="2971800"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Ultra ranks up to 12 candidates that code resolved from the report.</a:t>
            </a:r>
          </a:p>
        </p:txBody>
      </p:sp>
      <p:sp>
        <p:nvSpPr>
          <p:cNvPr id="13" name="Rounded Rectangle 12"/>
          <p:cNvSpPr/>
          <p:nvPr/>
        </p:nvSpPr>
        <p:spPr>
          <a:xfrm>
            <a:off x="5065776" y="1920240"/>
            <a:ext cx="1920240" cy="2286000"/>
          </a:xfrm>
          <a:prstGeom prst="roundRect">
            <a:avLst>
              <a:gd name="adj" fmla="val 6000"/>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30368"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03 Tool loop</a:t>
            </a:r>
          </a:p>
        </p:txBody>
      </p:sp>
      <p:sp>
        <p:nvSpPr>
          <p:cNvPr id="15" name="TextBox 14"/>
          <p:cNvSpPr txBox="1"/>
          <p:nvPr/>
        </p:nvSpPr>
        <p:spPr>
          <a:xfrm>
            <a:off x="5230368"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Past cases, catalog procedures and responder qualifications, read-only.</a:t>
            </a:r>
          </a:p>
        </p:txBody>
      </p:sp>
      <p:sp>
        <p:nvSpPr>
          <p:cNvPr id="16" name="Rounded Rectangle 15"/>
          <p:cNvSpPr/>
          <p:nvPr/>
        </p:nvSpPr>
        <p:spPr>
          <a:xfrm>
            <a:off x="7324344" y="1920240"/>
            <a:ext cx="1920240" cy="22860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88936"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04 Check citations</a:t>
            </a:r>
          </a:p>
        </p:txBody>
      </p:sp>
      <p:sp>
        <p:nvSpPr>
          <p:cNvPr id="18" name="TextBox 17"/>
          <p:cNvSpPr txBox="1"/>
          <p:nvPr/>
        </p:nvSpPr>
        <p:spPr>
          <a:xfrm>
            <a:off x="7488936"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Every cited case or procedure must be one a tool returned.</a:t>
            </a:r>
          </a:p>
        </p:txBody>
      </p:sp>
      <p:sp>
        <p:nvSpPr>
          <p:cNvPr id="19" name="Rounded Rectangle 18"/>
          <p:cNvSpPr/>
          <p:nvPr/>
        </p:nvSpPr>
        <p:spPr>
          <a:xfrm>
            <a:off x="9582912" y="1920240"/>
            <a:ext cx="1920240" cy="22860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47504"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05 Operator approves</a:t>
            </a:r>
          </a:p>
        </p:txBody>
      </p:sp>
      <p:sp>
        <p:nvSpPr>
          <p:cNvPr id="21" name="TextBox 20"/>
          <p:cNvSpPr txBox="1"/>
          <p:nvPr/>
        </p:nvSpPr>
        <p:spPr>
          <a:xfrm>
            <a:off x="9747504"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The dispatch gate accepts an assignment only after a person approves.</a:t>
            </a:r>
          </a:p>
        </p:txBody>
      </p:sp>
      <p:cxnSp>
        <p:nvCxnSpPr>
          <p:cNvPr id="22" name="Connector 21"/>
          <p:cNvCxnSpPr>
            <a:stCxn id="7" idx="3"/>
            <a:endCxn id="10" idx="1"/>
          </p:cNvCxnSpPr>
          <p:nvPr/>
        </p:nvCxnSpPr>
        <p:spPr>
          <a:xfrm flipV="1">
            <a:off x="2468880" y="3063240"/>
            <a:ext cx="338328"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0" idx="3"/>
            <a:endCxn id="13" idx="1"/>
          </p:cNvCxnSpPr>
          <p:nvPr/>
        </p:nvCxnSpPr>
        <p:spPr>
          <a:xfrm flipV="1">
            <a:off x="4727448" y="3063240"/>
            <a:ext cx="338328"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a:stCxn id="13" idx="3"/>
            <a:endCxn id="16" idx="1"/>
          </p:cNvCxnSpPr>
          <p:nvPr/>
        </p:nvCxnSpPr>
        <p:spPr>
          <a:xfrm flipV="1">
            <a:off x="6986016" y="3063240"/>
            <a:ext cx="338328"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a:stCxn id="16" idx="3"/>
            <a:endCxn id="19" idx="1"/>
          </p:cNvCxnSpPr>
          <p:nvPr/>
        </p:nvCxnSpPr>
        <p:spPr>
          <a:xfrm flipV="1">
            <a:off x="9244584" y="3063240"/>
            <a:ext cx="338328"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8640" y="4572000"/>
            <a:ext cx="11064240" cy="1143000"/>
          </a:xfrm>
          <a:prstGeom prst="roundRect">
            <a:avLst>
              <a:gd name="adj" fmla="val 6000"/>
            </a:avLst>
          </a:prstGeom>
          <a:solidFill>
            <a:srgbClr val="FFF7ED"/>
          </a:solidFill>
          <a:ln w="12700">
            <a:solidFill>
              <a:srgbClr val="D9770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300" b="1">
                <a:solidFill>
                  <a:srgbClr val="92400E"/>
                </a:solidFill>
                <a:latin typeface="Inter"/>
              </a:rPr>
              <a:t>Live capture pending</a:t>
            </a:r>
          </a:p>
          <a:p>
            <a:r>
              <a:rPr sz="1200" b="0">
                <a:solidFill>
                  <a:srgbClr val="92400E"/>
                </a:solidFill>
                <a:latin typeface="Inter"/>
              </a:rPr>
              <a:t>The Nebius key is not yet set on the deployment, and field reports are closed to guest workplaces (decision pending). Replace this box with a live Nemotron capture before filing. Nothing here is a model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COMPASS INVESTIGATOR</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Untrusted text, checked in code</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A field report is data, not instructions. Code decides what reaches the model and checks what comes back.</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8</a:t>
            </a:r>
          </a:p>
        </p:txBody>
      </p:sp>
      <p:sp>
        <p:nvSpPr>
          <p:cNvPr id="7" name="Rounded Rectangle 6"/>
          <p:cNvSpPr/>
          <p:nvPr/>
        </p:nvSpPr>
        <p:spPr>
          <a:xfrm>
            <a:off x="548640" y="1828800"/>
            <a:ext cx="2606040" cy="329184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57400"/>
            <a:ext cx="214884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Hazard policy in code</a:t>
            </a:r>
          </a:p>
        </p:txBody>
      </p:sp>
      <p:sp>
        <p:nvSpPr>
          <p:cNvPr id="9" name="TextBox 8"/>
          <p:cNvSpPr txBox="1"/>
          <p:nvPr/>
        </p:nvSpPr>
        <p:spPr>
          <a:xfrm>
            <a:off x="777240" y="2880360"/>
            <a:ext cx="2194560" cy="210312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Safety-sensitive reports are classified before any model call. The policy never depends on the model's answer.</a:t>
            </a:r>
          </a:p>
        </p:txBody>
      </p:sp>
      <p:sp>
        <p:nvSpPr>
          <p:cNvPr id="10" name="Rounded Rectangle 9"/>
          <p:cNvSpPr/>
          <p:nvPr/>
        </p:nvSpPr>
        <p:spPr>
          <a:xfrm>
            <a:off x="3337560" y="1828800"/>
            <a:ext cx="2606040" cy="329184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2057400"/>
            <a:ext cx="214884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Report text is data</a:t>
            </a:r>
          </a:p>
        </p:txBody>
      </p:sp>
      <p:sp>
        <p:nvSpPr>
          <p:cNvPr id="12" name="TextBox 11"/>
          <p:cNvSpPr txBox="1"/>
          <p:nvPr/>
        </p:nvSpPr>
        <p:spPr>
          <a:xfrm>
            <a:off x="3566160" y="2880360"/>
            <a:ext cx="2194560" cy="210312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The report is quoted to the model as data. Instructions written inside it are not followed.</a:t>
            </a:r>
          </a:p>
        </p:txBody>
      </p:sp>
      <p:sp>
        <p:nvSpPr>
          <p:cNvPr id="13" name="Rounded Rectangle 12"/>
          <p:cNvSpPr/>
          <p:nvPr/>
        </p:nvSpPr>
        <p:spPr>
          <a:xfrm>
            <a:off x="6126479" y="1828800"/>
            <a:ext cx="2606040" cy="329184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79" y="2057400"/>
            <a:ext cx="214884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Citations checked</a:t>
            </a:r>
          </a:p>
        </p:txBody>
      </p:sp>
      <p:sp>
        <p:nvSpPr>
          <p:cNvPr id="15" name="TextBox 14"/>
          <p:cNvSpPr txBox="1"/>
          <p:nvPr/>
        </p:nvSpPr>
        <p:spPr>
          <a:xfrm>
            <a:off x="6355079" y="2880360"/>
            <a:ext cx="2194560" cy="210312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A cited case or procedure must come from a tool result. Anything else is repaired or replaced by the deterministic path.</a:t>
            </a:r>
          </a:p>
        </p:txBody>
      </p:sp>
      <p:sp>
        <p:nvSpPr>
          <p:cNvPr id="16" name="Rounded Rectangle 15"/>
          <p:cNvSpPr/>
          <p:nvPr/>
        </p:nvSpPr>
        <p:spPr>
          <a:xfrm>
            <a:off x="8915399" y="1828800"/>
            <a:ext cx="2606040" cy="329184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3999" y="2057400"/>
            <a:ext cx="214884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A person confirms</a:t>
            </a:r>
          </a:p>
        </p:txBody>
      </p:sp>
      <p:sp>
        <p:nvSpPr>
          <p:cNvPr id="18" name="TextBox 17"/>
          <p:cNvSpPr txBox="1"/>
          <p:nvPr/>
        </p:nvSpPr>
        <p:spPr>
          <a:xfrm>
            <a:off x="9143999" y="2880360"/>
            <a:ext cx="2194560" cy="210312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The symptom and responder are confirmed by an operator before the single dispatch gate accepts them.</a:t>
            </a:r>
          </a:p>
        </p:txBody>
      </p:sp>
      <p:sp>
        <p:nvSpPr>
          <p:cNvPr id="19" name="TextBox 18"/>
          <p:cNvSpPr txBox="1"/>
          <p:nvPr/>
        </p:nvSpPr>
        <p:spPr>
          <a:xfrm>
            <a:off x="548640" y="5394960"/>
            <a:ext cx="11064240" cy="548640"/>
          </a:xfrm>
          <a:prstGeom prst="rect">
            <a:avLst/>
          </a:prstGeom>
          <a:noFill/>
        </p:spPr>
        <p:txBody>
          <a:bodyPr wrap="square" anchor="t" lIns="18288" rIns="18288" tIns="18288" bIns="18288">
            <a:spAutoFit/>
          </a:bodyPr>
          <a:lstStyle/>
          <a:p>
            <a:pPr algn="l">
              <a:spcAft>
                <a:spcPts val="0"/>
              </a:spcAft>
            </a:pPr>
            <a:r>
              <a:rPr sz="1300" b="0">
                <a:solidFill>
                  <a:srgbClr val="667085"/>
                </a:solidFill>
                <a:latin typeface="Inter"/>
              </a:rPr>
              <a:t>Offline recorded checks: hazard and input policy decided without a model call, 6 of 6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TRUST</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Honest by design</a:t>
            </a:r>
          </a:p>
        </p:txBody>
      </p:sp>
      <p:sp>
        <p:nvSpPr>
          <p:cNvPr id="5" name="TextBox 4"/>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9</a:t>
            </a:r>
          </a:p>
        </p:txBody>
      </p:sp>
      <p:sp>
        <p:nvSpPr>
          <p:cNvPr id="6" name="Rounded Rectangle 5"/>
          <p:cNvSpPr/>
          <p:nvPr/>
        </p:nvSpPr>
        <p:spPr>
          <a:xfrm>
            <a:off x="548640" y="1600200"/>
            <a:ext cx="2606040" cy="2103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219456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Hidden truth</a:t>
            </a:r>
          </a:p>
        </p:txBody>
      </p:sp>
      <p:sp>
        <p:nvSpPr>
          <p:cNvPr id="8" name="TextBox 7"/>
          <p:cNvSpPr txBox="1"/>
          <p:nvPr/>
        </p:nvSpPr>
        <p:spPr>
          <a:xfrm>
            <a:off x="777240" y="2468880"/>
            <a:ext cx="2194560" cy="118872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True skill and true fault cause stay hidden from every model, screen and chart.</a:t>
            </a:r>
          </a:p>
        </p:txBody>
      </p:sp>
      <p:sp>
        <p:nvSpPr>
          <p:cNvPr id="9" name="Rounded Rectangle 8"/>
          <p:cNvSpPr/>
          <p:nvPr/>
        </p:nvSpPr>
        <p:spPr>
          <a:xfrm>
            <a:off x="3383280" y="1600200"/>
            <a:ext cx="2606040" cy="2103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1783080"/>
            <a:ext cx="219456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Outcomes from truth</a:t>
            </a:r>
          </a:p>
        </p:txBody>
      </p:sp>
      <p:sp>
        <p:nvSpPr>
          <p:cNvPr id="11" name="TextBox 10"/>
          <p:cNvSpPr txBox="1"/>
          <p:nvPr/>
        </p:nvSpPr>
        <p:spPr>
          <a:xfrm>
            <a:off x="3611880" y="2468880"/>
            <a:ext cx="2194560" cy="118872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Repairs succeed or fail from that hidden truth, not from what a model claims.</a:t>
            </a:r>
          </a:p>
        </p:txBody>
      </p:sp>
      <p:sp>
        <p:nvSpPr>
          <p:cNvPr id="12" name="Rounded Rectangle 11"/>
          <p:cNvSpPr/>
          <p:nvPr/>
        </p:nvSpPr>
        <p:spPr>
          <a:xfrm>
            <a:off x="548640" y="3931920"/>
            <a:ext cx="2606040" cy="2103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114800"/>
            <a:ext cx="219456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Baselines alongside</a:t>
            </a:r>
          </a:p>
        </p:txBody>
      </p:sp>
      <p:sp>
        <p:nvSpPr>
          <p:cNvPr id="14" name="TextBox 13"/>
          <p:cNvSpPr txBox="1"/>
          <p:nvPr/>
        </p:nvSpPr>
        <p:spPr>
          <a:xfrm>
            <a:off x="777240" y="4800600"/>
            <a:ext cx="2194560" cy="118872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Nearest, naive score and most common fix run next to Compass; disagreements are recorded.</a:t>
            </a:r>
          </a:p>
        </p:txBody>
      </p:sp>
      <p:sp>
        <p:nvSpPr>
          <p:cNvPr id="15" name="Rounded Rectangle 14"/>
          <p:cNvSpPr/>
          <p:nvPr/>
        </p:nvSpPr>
        <p:spPr>
          <a:xfrm>
            <a:off x="3383280" y="3931920"/>
            <a:ext cx="2606040" cy="2103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4114800"/>
            <a:ext cx="219456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Fair analytics</a:t>
            </a:r>
          </a:p>
        </p:txBody>
      </p:sp>
      <p:sp>
        <p:nvSpPr>
          <p:cNvPr id="17" name="TextBox 16"/>
          <p:cNvSpPr txBox="1"/>
          <p:nvPr/>
        </p:nvSpPr>
        <p:spPr>
          <a:xfrm>
            <a:off x="3611880" y="4800600"/>
            <a:ext cx="2194560" cy="118872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Denominators shown, thin samples suppressed, no leaderboard. Pay, seniority and HR data are never inputs.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MEASURED ON NEBIUS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Valid rankings, thinking off where it truncates</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Ranking JSON validity on the supplied model ids, five runs each. Probe of 2026-10-19; small samples.</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10</a:t>
            </a:r>
          </a:p>
        </p:txBody>
      </p:sp>
      <p:graphicFrame>
        <p:nvGraphicFramePr>
          <p:cNvPr id="7" name="Table 6"/>
          <p:cNvGraphicFramePr>
            <a:graphicFrameLocks noGrp="1"/>
          </p:cNvGraphicFramePr>
          <p:nvPr/>
        </p:nvGraphicFramePr>
        <p:xfrm>
          <a:off x="548640" y="1828800"/>
          <a:ext cx="6766560" cy="2286000"/>
        </p:xfrm>
        <a:graphic>
          <a:graphicData uri="http://schemas.openxmlformats.org/drawingml/2006/table">
            <a:tbl>
              <a:tblPr firstRow="1" bandRow="1">
                <a:tableStyleId>{5C22544A-7EE6-4342-B048-85BDC9FD1C3A}</a:tableStyleId>
              </a:tblPr>
              <a:tblGrid>
                <a:gridCol w="2286000"/>
                <a:gridCol w="2651760"/>
                <a:gridCol w="1828800"/>
              </a:tblGrid>
              <a:tr h="457200">
                <a:tc>
                  <a:txBody>
                    <a:bodyPr wrap="square"/>
                    <a:lstStyle/>
                    <a:p>
                      <a:r>
                        <a:rPr sz="1200" b="1">
                          <a:solidFill>
                            <a:srgbClr val="FFFFFF"/>
                          </a:solidFill>
                          <a:latin typeface="Inter"/>
                        </a:rPr>
                        <a:t>Model</a:t>
                      </a:r>
                    </a:p>
                  </a:txBody>
                  <a:tcPr marL="73152" marR="73152">
                    <a:solidFill>
                      <a:srgbClr val="1E1B4B"/>
                    </a:solidFill>
                  </a:tcPr>
                </a:tc>
                <a:tc>
                  <a:txBody>
                    <a:bodyPr wrap="square"/>
                    <a:lstStyle/>
                    <a:p>
                      <a:r>
                        <a:rPr sz="1200" b="1">
                          <a:solidFill>
                            <a:srgbClr val="FFFFFF"/>
                          </a:solidFill>
                          <a:latin typeface="Inter"/>
                        </a:rPr>
                        <a:t>Thinking on (default)</a:t>
                      </a:r>
                    </a:p>
                  </a:txBody>
                  <a:tcPr marL="73152" marR="73152">
                    <a:solidFill>
                      <a:srgbClr val="1E1B4B"/>
                    </a:solidFill>
                  </a:tcPr>
                </a:tc>
                <a:tc>
                  <a:txBody>
                    <a:bodyPr wrap="square"/>
                    <a:lstStyle/>
                    <a:p>
                      <a:r>
                        <a:rPr sz="1200" b="1">
                          <a:solidFill>
                            <a:srgbClr val="FFFFFF"/>
                          </a:solidFill>
                          <a:latin typeface="Inter"/>
                        </a:rPr>
                        <a:t>Thinking off</a:t>
                      </a:r>
                    </a:p>
                  </a:txBody>
                  <a:tcPr marL="73152" marR="73152">
                    <a:solidFill>
                      <a:srgbClr val="1E1B4B"/>
                    </a:solidFill>
                  </a:tcPr>
                </a:tc>
              </a:tr>
              <a:tr h="457200">
                <a:tc>
                  <a:txBody>
                    <a:bodyPr wrap="square"/>
                    <a:lstStyle/>
                    <a:p>
                      <a:r>
                        <a:rPr sz="1200" b="0">
                          <a:solidFill>
                            <a:srgbClr val="111827"/>
                          </a:solidFill>
                          <a:latin typeface="Inter"/>
                        </a:rPr>
                        <a:t>Nemotron 3 Ultra</a:t>
                      </a:r>
                    </a:p>
                  </a:txBody>
                  <a:tcPr marL="73152" marR="73152">
                    <a:solidFill>
                      <a:srgbClr val="FFFFFF"/>
                    </a:solidFill>
                  </a:tcPr>
                </a:tc>
                <a:tc>
                  <a:txBody>
                    <a:bodyPr wrap="square"/>
                    <a:lstStyle/>
                    <a:p>
                      <a:r>
                        <a:rPr sz="1200" b="0">
                          <a:solidFill>
                            <a:srgbClr val="111827"/>
                          </a:solidFill>
                          <a:latin typeface="Inter"/>
                        </a:rPr>
                        <a:t>5/5 · median 1.8 s</a:t>
                      </a:r>
                    </a:p>
                  </a:txBody>
                  <a:tcPr marL="73152" marR="73152">
                    <a:solidFill>
                      <a:srgbClr val="FFFFFF"/>
                    </a:solidFill>
                  </a:tcPr>
                </a:tc>
                <a:tc>
                  <a:txBody>
                    <a:bodyPr wrap="square"/>
                    <a:lstStyle/>
                    <a:p>
                      <a:r>
                        <a:rPr sz="1200" b="0">
                          <a:solidFill>
                            <a:srgbClr val="111827"/>
                          </a:solidFill>
                          <a:latin typeface="Inter"/>
                        </a:rPr>
                        <a:t>5/5 · 0.8 s</a:t>
                      </a:r>
                    </a:p>
                  </a:txBody>
                  <a:tcPr marL="73152" marR="73152">
                    <a:solidFill>
                      <a:srgbClr val="FFFFFF"/>
                    </a:solidFill>
                  </a:tcPr>
                </a:tc>
              </a:tr>
              <a:tr h="457200">
                <a:tc>
                  <a:txBody>
                    <a:bodyPr wrap="square"/>
                    <a:lstStyle/>
                    <a:p>
                      <a:r>
                        <a:rPr sz="1200" b="0">
                          <a:solidFill>
                            <a:srgbClr val="111827"/>
                          </a:solidFill>
                          <a:latin typeface="Inter"/>
                        </a:rPr>
                        <a:t>Nemotron 3 Super</a:t>
                      </a:r>
                    </a:p>
                  </a:txBody>
                  <a:tcPr marL="73152" marR="73152">
                    <a:solidFill>
                      <a:srgbClr val="EEF0FF"/>
                    </a:solidFill>
                  </a:tcPr>
                </a:tc>
                <a:tc>
                  <a:txBody>
                    <a:bodyPr wrap="square"/>
                    <a:lstStyle/>
                    <a:p>
                      <a:r>
                        <a:rPr sz="1200" b="0">
                          <a:solidFill>
                            <a:srgbClr val="111827"/>
                          </a:solidFill>
                          <a:latin typeface="Inter"/>
                        </a:rPr>
                        <a:t>5/5 · 3.1 s</a:t>
                      </a:r>
                    </a:p>
                  </a:txBody>
                  <a:tcPr marL="73152" marR="73152">
                    <a:solidFill>
                      <a:srgbClr val="EEF0FF"/>
                    </a:solidFill>
                  </a:tcPr>
                </a:tc>
                <a:tc>
                  <a:txBody>
                    <a:bodyPr wrap="square"/>
                    <a:lstStyle/>
                    <a:p>
                      <a:r>
                        <a:rPr sz="1200" b="0">
                          <a:solidFill>
                            <a:srgbClr val="111827"/>
                          </a:solidFill>
                          <a:latin typeface="Inter"/>
                        </a:rPr>
                        <a:t>5/5 · 0.9 s</a:t>
                      </a:r>
                    </a:p>
                  </a:txBody>
                  <a:tcPr marL="73152" marR="73152">
                    <a:solidFill>
                      <a:srgbClr val="EEF0FF"/>
                    </a:solidFill>
                  </a:tcPr>
                </a:tc>
              </a:tr>
              <a:tr h="457200">
                <a:tc>
                  <a:txBody>
                    <a:bodyPr wrap="square"/>
                    <a:lstStyle/>
                    <a:p>
                      <a:r>
                        <a:rPr sz="1200" b="0">
                          <a:solidFill>
                            <a:srgbClr val="111827"/>
                          </a:solidFill>
                          <a:latin typeface="Inter"/>
                        </a:rPr>
                        <a:t>Nemotron 3.5 Lightning</a:t>
                      </a:r>
                    </a:p>
                  </a:txBody>
                  <a:tcPr marL="73152" marR="73152">
                    <a:solidFill>
                      <a:srgbClr val="FFFFFF"/>
                    </a:solidFill>
                  </a:tcPr>
                </a:tc>
                <a:tc>
                  <a:txBody>
                    <a:bodyPr wrap="square"/>
                    <a:lstStyle/>
                    <a:p>
                      <a:r>
                        <a:rPr sz="1200" b="0">
                          <a:solidFill>
                            <a:srgbClr val="111827"/>
                          </a:solidFill>
                          <a:latin typeface="Inter"/>
                        </a:rPr>
                        <a:t>1/5 · truncated at 1,024 tokens</a:t>
                      </a:r>
                    </a:p>
                  </a:txBody>
                  <a:tcPr marL="73152" marR="73152">
                    <a:solidFill>
                      <a:srgbClr val="FFFFFF"/>
                    </a:solidFill>
                  </a:tcPr>
                </a:tc>
                <a:tc>
                  <a:txBody>
                    <a:bodyPr wrap="square"/>
                    <a:lstStyle/>
                    <a:p>
                      <a:r>
                        <a:rPr sz="1200" b="0">
                          <a:solidFill>
                            <a:srgbClr val="111827"/>
                          </a:solidFill>
                          <a:latin typeface="Inter"/>
                        </a:rPr>
                        <a:t>5/5 · 0.7 s</a:t>
                      </a:r>
                    </a:p>
                  </a:txBody>
                  <a:tcPr marL="73152" marR="73152">
                    <a:solidFill>
                      <a:srgbClr val="FFFFFF"/>
                    </a:solidFill>
                  </a:tcPr>
                </a:tc>
              </a:tr>
              <a:tr h="457200">
                <a:tc>
                  <a:txBody>
                    <a:bodyPr wrap="square"/>
                    <a:lstStyle/>
                    <a:p>
                      <a:r>
                        <a:rPr sz="1200" b="0">
                          <a:solidFill>
                            <a:srgbClr val="111827"/>
                          </a:solidFill>
                          <a:latin typeface="Inter"/>
                        </a:rPr>
                        <a:t>Nemotron 3 Nano</a:t>
                      </a:r>
                    </a:p>
                  </a:txBody>
                  <a:tcPr marL="73152" marR="73152">
                    <a:solidFill>
                      <a:srgbClr val="EEF0FF"/>
                    </a:solidFill>
                  </a:tcPr>
                </a:tc>
                <a:tc>
                  <a:txBody>
                    <a:bodyPr wrap="square"/>
                    <a:lstStyle/>
                    <a:p>
                      <a:r>
                        <a:rPr sz="1200" b="0">
                          <a:solidFill>
                            <a:srgbClr val="111827"/>
                          </a:solidFill>
                          <a:latin typeface="Inter"/>
                        </a:rPr>
                        <a:t>5/5 · 3.9 s</a:t>
                      </a:r>
                    </a:p>
                  </a:txBody>
                  <a:tcPr marL="73152" marR="73152">
                    <a:solidFill>
                      <a:srgbClr val="EEF0FF"/>
                    </a:solidFill>
                  </a:tcPr>
                </a:tc>
                <a:tc>
                  <a:txBody>
                    <a:bodyPr wrap="square"/>
                    <a:lstStyle/>
                    <a:p>
                      <a:r>
                        <a:rPr sz="1200" b="0">
                          <a:solidFill>
                            <a:srgbClr val="111827"/>
                          </a:solidFill>
                          <a:latin typeface="Inter"/>
                        </a:rPr>
                        <a:t>2/5 · omitted a candidate</a:t>
                      </a:r>
                    </a:p>
                  </a:txBody>
                  <a:tcPr marL="73152" marR="73152">
                    <a:solidFill>
                      <a:srgbClr val="EEF0FF"/>
                    </a:solidFill>
                  </a:tcPr>
                </a:tc>
              </a:tr>
            </a:tbl>
          </a:graphicData>
        </a:graphic>
      </p:graphicFrame>
      <p:sp>
        <p:nvSpPr>
          <p:cNvPr id="8" name="Rounded Rectangle 7"/>
          <p:cNvSpPr/>
          <p:nvPr/>
        </p:nvSpPr>
        <p:spPr>
          <a:xfrm>
            <a:off x="7772400" y="1828800"/>
            <a:ext cx="3840480" cy="228600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2011680"/>
            <a:ext cx="3291840" cy="457200"/>
          </a:xfrm>
          <a:prstGeom prst="rect">
            <a:avLst/>
          </a:prstGeom>
          <a:noFill/>
        </p:spPr>
        <p:txBody>
          <a:bodyPr wrap="square" anchor="t" lIns="18288" rIns="18288" tIns="18288" bIns="18288">
            <a:spAutoFit/>
          </a:bodyPr>
          <a:lstStyle/>
          <a:p>
            <a:pPr algn="l">
              <a:spcAft>
                <a:spcPts val="0"/>
              </a:spcAft>
            </a:pPr>
            <a:r>
              <a:rPr sz="1600" b="1">
                <a:solidFill>
                  <a:srgbClr val="FFFFFF"/>
                </a:solidFill>
                <a:latin typeface="Inter"/>
              </a:rPr>
              <a:t>Thinking control</a:t>
            </a:r>
          </a:p>
        </p:txBody>
      </p:sp>
      <p:sp>
        <p:nvSpPr>
          <p:cNvPr id="10" name="TextBox 9"/>
          <p:cNvSpPr txBox="1"/>
          <p:nvPr/>
        </p:nvSpPr>
        <p:spPr>
          <a:xfrm>
            <a:off x="8046720" y="2514600"/>
            <a:ext cx="3291840" cy="1554480"/>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Each model maps to chat_template_kwargs.enable_thinking. max_tokens stays at 4,096 or more when thinking is on.</a:t>
            </a:r>
          </a:p>
        </p:txBody>
      </p:sp>
      <p:sp>
        <p:nvSpPr>
          <p:cNvPr id="11" name="TextBox 10"/>
          <p:cNvSpPr txBox="1"/>
          <p:nvPr/>
        </p:nvSpPr>
        <p:spPr>
          <a:xfrm>
            <a:off x="548640" y="4480560"/>
            <a:ext cx="11064240" cy="91440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Ranking is validated in code. Output that fails validation falls back to the deterministic order, so dispatch never stops.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MEASURED ON NEBIUS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First-fix replay, paired</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60 held-out issues; the same responders, state and draws in every arm. Live run B, 2026-10-19.</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11</a:t>
            </a:r>
          </a:p>
        </p:txBody>
      </p:sp>
      <p:sp>
        <p:nvSpPr>
          <p:cNvPr id="7" name="Rounded Rectangle 6"/>
          <p:cNvSpPr/>
          <p:nvPr/>
        </p:nvSpPr>
        <p:spPr>
          <a:xfrm>
            <a:off x="548640" y="1828800"/>
            <a:ext cx="3474720" cy="173736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011680"/>
            <a:ext cx="2926079" cy="640080"/>
          </a:xfrm>
          <a:prstGeom prst="rect">
            <a:avLst/>
          </a:prstGeom>
          <a:noFill/>
        </p:spPr>
        <p:txBody>
          <a:bodyPr wrap="square" anchor="t" lIns="18288" rIns="18288" tIns="18288" bIns="18288">
            <a:spAutoFit/>
          </a:bodyPr>
          <a:lstStyle/>
          <a:p>
            <a:pPr algn="l">
              <a:spcAft>
                <a:spcPts val="0"/>
              </a:spcAft>
            </a:pPr>
            <a:r>
              <a:rPr sz="3400" b="1">
                <a:solidFill>
                  <a:srgbClr val="FFFFFF"/>
                </a:solidFill>
                <a:latin typeface="Inter"/>
              </a:rPr>
              <a:t>46 / 60</a:t>
            </a:r>
          </a:p>
        </p:txBody>
      </p:sp>
      <p:sp>
        <p:nvSpPr>
          <p:cNvPr id="9" name="TextBox 8"/>
          <p:cNvSpPr txBox="1"/>
          <p:nvPr/>
        </p:nvSpPr>
        <p:spPr>
          <a:xfrm>
            <a:off x="822959" y="2697480"/>
            <a:ext cx="2926079" cy="777239"/>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Investigator first fix worked</a:t>
            </a:r>
          </a:p>
        </p:txBody>
      </p:sp>
      <p:sp>
        <p:nvSpPr>
          <p:cNvPr id="10" name="Rounded Rectangle 9"/>
          <p:cNvSpPr/>
          <p:nvPr/>
        </p:nvSpPr>
        <p:spPr>
          <a:xfrm>
            <a:off x="4343400" y="1828800"/>
            <a:ext cx="3474720"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011680"/>
            <a:ext cx="2926079"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46 / 60</a:t>
            </a:r>
          </a:p>
        </p:txBody>
      </p:sp>
      <p:sp>
        <p:nvSpPr>
          <p:cNvPr id="12" name="TextBox 11"/>
          <p:cNvSpPr txBox="1"/>
          <p:nvPr/>
        </p:nvSpPr>
        <p:spPr>
          <a:xfrm>
            <a:off x="4617720" y="2697480"/>
            <a:ext cx="2926079" cy="777239"/>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Deterministic order first fix worked</a:t>
            </a:r>
          </a:p>
        </p:txBody>
      </p:sp>
      <p:sp>
        <p:nvSpPr>
          <p:cNvPr id="13" name="Rounded Rectangle 12"/>
          <p:cNvSpPr/>
          <p:nvPr/>
        </p:nvSpPr>
        <p:spPr>
          <a:xfrm>
            <a:off x="8138160" y="1828800"/>
            <a:ext cx="3474720"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011680"/>
            <a:ext cx="2926079"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41 / 60</a:t>
            </a:r>
          </a:p>
        </p:txBody>
      </p:sp>
      <p:sp>
        <p:nvSpPr>
          <p:cNvPr id="15" name="TextBox 14"/>
          <p:cNvSpPr txBox="1"/>
          <p:nvPr/>
        </p:nvSpPr>
        <p:spPr>
          <a:xfrm>
            <a:off x="8412480" y="2697480"/>
            <a:ext cx="2926079" cy="777239"/>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Class-frequency baseline first fix worked</a:t>
            </a:r>
          </a:p>
        </p:txBody>
      </p:sp>
      <p:sp>
        <p:nvSpPr>
          <p:cNvPr id="16" name="Rounded Rectangle 15"/>
          <p:cNvSpPr/>
          <p:nvPr/>
        </p:nvSpPr>
        <p:spPr>
          <a:xfrm>
            <a:off x="548640" y="3840480"/>
            <a:ext cx="11064240" cy="21945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023360"/>
            <a:ext cx="10515600" cy="36576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Discordant pairs and limits</a:t>
            </a:r>
          </a:p>
        </p:txBody>
      </p:sp>
      <p:sp>
        <p:nvSpPr>
          <p:cNvPr id="18" name="TextBox 17"/>
          <p:cNvSpPr txBox="1"/>
          <p:nvPr/>
        </p:nvSpPr>
        <p:spPr>
          <a:xfrm>
            <a:off x="822960" y="4480560"/>
            <a:ext cx="10515600" cy="1554480"/>
          </a:xfrm>
          <a:prstGeom prst="rect">
            <a:avLst/>
          </a:prstGeom>
          <a:noFill/>
        </p:spPr>
        <p:txBody>
          <a:bodyPr wrap="square" anchor="t" lIns="18288" rIns="18288" tIns="18288" bIns="18288">
            <a:spAutoFit/>
          </a:bodyPr>
          <a:lstStyle/>
          <a:p>
            <a:pPr algn="l">
              <a:spcAft>
                <a:spcPts val="600"/>
              </a:spcAft>
            </a:pPr>
            <a:r>
              <a:rPr sz="1300" b="0">
                <a:solidFill>
                  <a:srgbClr val="475467"/>
                </a:solidFill>
                <a:latin typeface="Inter"/>
              </a:rPr>
              <a:t>Against the baseline: 7 Investigator-only wins, 2 baseline-only. Against the deterministic order: 2 and 2.</a:t>
            </a:r>
          </a:p>
          <a:p>
            <a:pPr algn="l">
              <a:spcAft>
                <a:spcPts val="600"/>
              </a:spcAft>
            </a:pPr>
            <a:r>
              <a:rPr sz="1300" b="0">
                <a:solidFill>
                  <a:srgbClr val="475467"/>
                </a:solidFill>
                <a:latin typeface="Inter"/>
              </a:rPr>
              <a:t>The investigator ties the deterministic order. Run A reached 49/60 mostly on fallbacks, which a validator fix corrected.</a:t>
            </a:r>
          </a:p>
          <a:p>
            <a:pPr algn="l">
              <a:spcAft>
                <a:spcPts val="600"/>
              </a:spcAft>
            </a:pPr>
            <a:r>
              <a:rPr sz="1300" b="0">
                <a:solidFill>
                  <a:srgbClr val="475467"/>
                </a:solidFill>
                <a:latin typeface="Inter"/>
              </a:rPr>
              <a:t>One window, 60 issues, one sample each. The direction favours the Investigator; this is not a significance claim.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MEASURED ON NEBIUS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Investigator checks, run 3</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Scenario evaluation on Token Factory after the security fixes. 2026-10-19; small scenario set.</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12</a:t>
            </a:r>
          </a:p>
        </p:txBody>
      </p:sp>
      <p:sp>
        <p:nvSpPr>
          <p:cNvPr id="7" name="Rounded Rectangle 6"/>
          <p:cNvSpPr/>
          <p:nvPr/>
        </p:nvSpPr>
        <p:spPr>
          <a:xfrm>
            <a:off x="548640" y="1828800"/>
            <a:ext cx="2606040" cy="201168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011680"/>
            <a:ext cx="2057400" cy="640080"/>
          </a:xfrm>
          <a:prstGeom prst="rect">
            <a:avLst/>
          </a:prstGeom>
          <a:noFill/>
        </p:spPr>
        <p:txBody>
          <a:bodyPr wrap="square" anchor="t" lIns="18288" rIns="18288" tIns="18288" bIns="18288">
            <a:spAutoFit/>
          </a:bodyPr>
          <a:lstStyle/>
          <a:p>
            <a:pPr algn="l">
              <a:spcAft>
                <a:spcPts val="0"/>
              </a:spcAft>
            </a:pPr>
            <a:r>
              <a:rPr sz="3000" b="1">
                <a:solidFill>
                  <a:srgbClr val="FFFFFF"/>
                </a:solidFill>
                <a:latin typeface="Inter"/>
              </a:rPr>
              <a:t>24 / 24</a:t>
            </a:r>
          </a:p>
        </p:txBody>
      </p:sp>
      <p:sp>
        <p:nvSpPr>
          <p:cNvPr id="9" name="TextBox 8"/>
          <p:cNvSpPr txBox="1"/>
          <p:nvPr/>
        </p:nvSpPr>
        <p:spPr>
          <a:xfrm>
            <a:off x="822959" y="2697480"/>
            <a:ext cx="2057400" cy="1051560"/>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outcome class matches the expected class</a:t>
            </a:r>
          </a:p>
        </p:txBody>
      </p:sp>
      <p:sp>
        <p:nvSpPr>
          <p:cNvPr id="10" name="Rounded Rectangle 9"/>
          <p:cNvSpPr/>
          <p:nvPr/>
        </p:nvSpPr>
        <p:spPr>
          <a:xfrm>
            <a:off x="3383280" y="1828800"/>
            <a:ext cx="2606040" cy="201168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2011680"/>
            <a:ext cx="2057400" cy="640080"/>
          </a:xfrm>
          <a:prstGeom prst="rect">
            <a:avLst/>
          </a:prstGeom>
          <a:noFill/>
        </p:spPr>
        <p:txBody>
          <a:bodyPr wrap="square" anchor="t" lIns="18288" rIns="18288" tIns="18288" bIns="18288">
            <a:spAutoFit/>
          </a:bodyPr>
          <a:lstStyle/>
          <a:p>
            <a:pPr algn="l">
              <a:spcAft>
                <a:spcPts val="0"/>
              </a:spcAft>
            </a:pPr>
            <a:r>
              <a:rPr sz="3000" b="1">
                <a:solidFill>
                  <a:srgbClr val="4F46E5"/>
                </a:solidFill>
                <a:latin typeface="Inter"/>
              </a:rPr>
              <a:t>60 / 60</a:t>
            </a:r>
          </a:p>
        </p:txBody>
      </p:sp>
      <p:sp>
        <p:nvSpPr>
          <p:cNvPr id="12" name="TextBox 11"/>
          <p:cNvSpPr txBox="1"/>
          <p:nvPr/>
        </p:nvSpPr>
        <p:spPr>
          <a:xfrm>
            <a:off x="3657600" y="2697480"/>
            <a:ext cx="2057400" cy="105156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accepted citations were tool-returned references</a:t>
            </a:r>
          </a:p>
        </p:txBody>
      </p:sp>
      <p:sp>
        <p:nvSpPr>
          <p:cNvPr id="13" name="Rounded Rectangle 12"/>
          <p:cNvSpPr/>
          <p:nvPr/>
        </p:nvSpPr>
        <p:spPr>
          <a:xfrm>
            <a:off x="6217920" y="1828800"/>
            <a:ext cx="2606040" cy="201168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2011680"/>
            <a:ext cx="2057400" cy="640080"/>
          </a:xfrm>
          <a:prstGeom prst="rect">
            <a:avLst/>
          </a:prstGeom>
          <a:noFill/>
        </p:spPr>
        <p:txBody>
          <a:bodyPr wrap="square" anchor="t" lIns="18288" rIns="18288" tIns="18288" bIns="18288">
            <a:spAutoFit/>
          </a:bodyPr>
          <a:lstStyle/>
          <a:p>
            <a:pPr algn="l">
              <a:spcAft>
                <a:spcPts val="0"/>
              </a:spcAft>
            </a:pPr>
            <a:r>
              <a:rPr sz="3000" b="1">
                <a:solidFill>
                  <a:srgbClr val="4F46E5"/>
                </a:solidFill>
                <a:latin typeface="Inter"/>
              </a:rPr>
              <a:t>8 / 8</a:t>
            </a:r>
          </a:p>
        </p:txBody>
      </p:sp>
      <p:sp>
        <p:nvSpPr>
          <p:cNvPr id="15" name="TextBox 14"/>
          <p:cNvSpPr txBox="1"/>
          <p:nvPr/>
        </p:nvSpPr>
        <p:spPr>
          <a:xfrm>
            <a:off x="6492240" y="2697480"/>
            <a:ext cx="2057400" cy="105156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abstention precision and recall</a:t>
            </a:r>
          </a:p>
        </p:txBody>
      </p:sp>
      <p:sp>
        <p:nvSpPr>
          <p:cNvPr id="16" name="Rounded Rectangle 15"/>
          <p:cNvSpPr/>
          <p:nvPr/>
        </p:nvSpPr>
        <p:spPr>
          <a:xfrm>
            <a:off x="9052560" y="1828800"/>
            <a:ext cx="2606040" cy="201168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2011680"/>
            <a:ext cx="2057400" cy="640080"/>
          </a:xfrm>
          <a:prstGeom prst="rect">
            <a:avLst/>
          </a:prstGeom>
          <a:noFill/>
        </p:spPr>
        <p:txBody>
          <a:bodyPr wrap="square" anchor="t" lIns="18288" rIns="18288" tIns="18288" bIns="18288">
            <a:spAutoFit/>
          </a:bodyPr>
          <a:lstStyle/>
          <a:p>
            <a:pPr algn="l">
              <a:spcAft>
                <a:spcPts val="0"/>
              </a:spcAft>
            </a:pPr>
            <a:r>
              <a:rPr sz="3000" b="1">
                <a:solidFill>
                  <a:srgbClr val="4F46E5"/>
                </a:solidFill>
                <a:latin typeface="Inter"/>
              </a:rPr>
              <a:t>6 / 6</a:t>
            </a:r>
          </a:p>
        </p:txBody>
      </p:sp>
      <p:sp>
        <p:nvSpPr>
          <p:cNvPr id="18" name="TextBox 17"/>
          <p:cNvSpPr txBox="1"/>
          <p:nvPr/>
        </p:nvSpPr>
        <p:spPr>
          <a:xfrm>
            <a:off x="9326880" y="2697480"/>
            <a:ext cx="2057400" cy="105156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hazard and input policy decided with no model call</a:t>
            </a:r>
          </a:p>
        </p:txBody>
      </p:sp>
      <p:sp>
        <p:nvSpPr>
          <p:cNvPr id="19" name="Rounded Rectangle 18"/>
          <p:cNvSpPr/>
          <p:nvPr/>
        </p:nvSpPr>
        <p:spPr>
          <a:xfrm>
            <a:off x="548640" y="4206240"/>
            <a:ext cx="11064240" cy="18288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389120"/>
            <a:ext cx="10515600" cy="36576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What the counts mean</a:t>
            </a:r>
          </a:p>
        </p:txBody>
      </p:sp>
      <p:sp>
        <p:nvSpPr>
          <p:cNvPr id="21" name="TextBox 20"/>
          <p:cNvSpPr txBox="1"/>
          <p:nvPr/>
        </p:nvSpPr>
        <p:spPr>
          <a:xfrm>
            <a:off x="822960" y="4800600"/>
            <a:ext cx="10515600" cy="1280160"/>
          </a:xfrm>
          <a:prstGeom prst="rect">
            <a:avLst/>
          </a:prstGeom>
          <a:noFill/>
        </p:spPr>
        <p:txBody>
          <a:bodyPr wrap="square" anchor="t" lIns="18288" rIns="18288" tIns="18288" bIns="18288">
            <a:spAutoFit/>
          </a:bodyPr>
          <a:lstStyle/>
          <a:p>
            <a:pPr algn="l">
              <a:spcAft>
                <a:spcPts val="600"/>
              </a:spcAft>
            </a:pPr>
            <a:r>
              <a:rPr sz="1300" b="0">
                <a:solidFill>
                  <a:srgbClr val="475467"/>
                </a:solidFill>
                <a:latin typeface="Inter"/>
              </a:rPr>
              <a:t>Accepted, repaired, deterministic, raw invalid: 12 / 2 / 11 / 2. Fallbacks are counted, not hidden.</a:t>
            </a:r>
          </a:p>
          <a:p>
            <a:pPr algn="l">
              <a:spcAft>
                <a:spcPts val="600"/>
              </a:spcAft>
            </a:pPr>
            <a:r>
              <a:rPr sz="1300" b="0">
                <a:solidFill>
                  <a:srgbClr val="475467"/>
                </a:solidFill>
                <a:latin typeface="Inter"/>
              </a:rPr>
              <a:t>Investigation latency p50 10.5 s, p95 32.9 s (15 cases, including deterministic and injected-provider cases).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STAFFING</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Overtime, decided by people</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Nothing changes until central command approves; unanswered recommendations expire.</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13</a:t>
            </a:r>
          </a:p>
        </p:txBody>
      </p:sp>
      <p:sp>
        <p:nvSpPr>
          <p:cNvPr id="7" name="Chevron 6"/>
          <p:cNvSpPr/>
          <p:nvPr/>
        </p:nvSpPr>
        <p:spPr>
          <a:xfrm>
            <a:off x="548640" y="1828800"/>
            <a:ext cx="2834640" cy="658368"/>
          </a:xfrm>
          <a:prstGeom prst="chevron">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11827"/>
                </a:solidFill>
                <a:latin typeface="Inter"/>
              </a:rPr>
              <a:t>Backlog review</a:t>
            </a:r>
          </a:p>
        </p:txBody>
      </p:sp>
      <p:sp>
        <p:nvSpPr>
          <p:cNvPr id="8" name="Chevron 7"/>
          <p:cNvSpPr/>
          <p:nvPr/>
        </p:nvSpPr>
        <p:spPr>
          <a:xfrm>
            <a:off x="3291840" y="1828800"/>
            <a:ext cx="2834640" cy="658368"/>
          </a:xfrm>
          <a:prstGeom prst="chevron">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11827"/>
                </a:solidFill>
                <a:latin typeface="Inter"/>
              </a:rPr>
              <a:t>Lawful options only</a:t>
            </a:r>
          </a:p>
        </p:txBody>
      </p:sp>
      <p:sp>
        <p:nvSpPr>
          <p:cNvPr id="9" name="Chevron 8"/>
          <p:cNvSpPr/>
          <p:nvPr/>
        </p:nvSpPr>
        <p:spPr>
          <a:xfrm>
            <a:off x="6035040" y="1828800"/>
            <a:ext cx="2834640" cy="658368"/>
          </a:xfrm>
          <a:prstGeom prst="chevron">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Inter"/>
              </a:rPr>
              <a:t>Nemotron 3 Super ranks</a:t>
            </a:r>
          </a:p>
        </p:txBody>
      </p:sp>
      <p:sp>
        <p:nvSpPr>
          <p:cNvPr id="10" name="Chevron 9"/>
          <p:cNvSpPr/>
          <p:nvPr/>
        </p:nvSpPr>
        <p:spPr>
          <a:xfrm>
            <a:off x="8778240" y="1828800"/>
            <a:ext cx="2834640" cy="658368"/>
          </a:xfrm>
          <a:prstGeom prst="chevron">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11827"/>
                </a:solidFill>
                <a:latin typeface="Inter"/>
              </a:rPr>
              <a:t>Command approves</a:t>
            </a:r>
          </a:p>
        </p:txBody>
      </p:sp>
      <p:sp>
        <p:nvSpPr>
          <p:cNvPr id="11" name="Oval 10"/>
          <p:cNvSpPr/>
          <p:nvPr/>
        </p:nvSpPr>
        <p:spPr>
          <a:xfrm>
            <a:off x="548640" y="292608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12" name="TextBox 11"/>
          <p:cNvSpPr txBox="1"/>
          <p:nvPr/>
        </p:nvSpPr>
        <p:spPr>
          <a:xfrm>
            <a:off x="1207007" y="285292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Legal limits first</a:t>
            </a:r>
          </a:p>
        </p:txBody>
      </p:sp>
      <p:sp>
        <p:nvSpPr>
          <p:cNvPr id="13" name="TextBox 12"/>
          <p:cNvSpPr txBox="1"/>
          <p:nvPr/>
        </p:nvSpPr>
        <p:spPr>
          <a:xfrm>
            <a:off x="1207007" y="317296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16 h duty, 12 h rest and the staffing cap, checked in code before ranking.</a:t>
            </a:r>
          </a:p>
        </p:txBody>
      </p:sp>
      <p:sp>
        <p:nvSpPr>
          <p:cNvPr id="14" name="Oval 13"/>
          <p:cNvSpPr/>
          <p:nvPr/>
        </p:nvSpPr>
        <p:spPr>
          <a:xfrm>
            <a:off x="548640" y="3977639"/>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5" name="TextBox 14"/>
          <p:cNvSpPr txBox="1"/>
          <p:nvPr/>
        </p:nvSpPr>
        <p:spPr>
          <a:xfrm>
            <a:off x="1207007" y="3904487"/>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Ranked by coverage</a:t>
            </a:r>
          </a:p>
        </p:txBody>
      </p:sp>
      <p:sp>
        <p:nvSpPr>
          <p:cNvPr id="16" name="TextBox 15"/>
          <p:cNvSpPr txBox="1"/>
          <p:nvPr/>
        </p:nvSpPr>
        <p:spPr>
          <a:xfrm>
            <a:off x="1207007" y="4224527"/>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Observed coverage of the backlog; first-eligible is the baseline.</a:t>
            </a:r>
          </a:p>
        </p:txBody>
      </p:sp>
      <p:sp>
        <p:nvSpPr>
          <p:cNvPr id="17" name="Oval 16"/>
          <p:cNvSpPr/>
          <p:nvPr/>
        </p:nvSpPr>
        <p:spPr>
          <a:xfrm>
            <a:off x="548640" y="50292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8" name="TextBox 17"/>
          <p:cNvSpPr txBox="1"/>
          <p:nvPr/>
        </p:nvSpPr>
        <p:spPr>
          <a:xfrm>
            <a:off x="1207007" y="495604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Audited decisions</a:t>
            </a:r>
          </a:p>
        </p:txBody>
      </p:sp>
      <p:sp>
        <p:nvSpPr>
          <p:cNvPr id="19" name="TextBox 18"/>
          <p:cNvSpPr txBox="1"/>
          <p:nvPr/>
        </p:nvSpPr>
        <p:spPr>
          <a:xfrm>
            <a:off x="1207007" y="527608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Every approval or rejection, and who made it, is recorded.</a:t>
            </a:r>
          </a:p>
        </p:txBody>
      </p:sp>
      <p:sp>
        <p:nvSpPr>
          <p:cNvPr id="20" name="Rounded Rectangle 19"/>
          <p:cNvSpPr/>
          <p:nvPr/>
        </p:nvSpPr>
        <p:spPr>
          <a:xfrm>
            <a:off x="6583680" y="2926080"/>
            <a:ext cx="5029200" cy="27432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108960"/>
            <a:ext cx="457200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Recommendation card</a:t>
            </a:r>
          </a:p>
        </p:txBody>
      </p:sp>
      <p:sp>
        <p:nvSpPr>
          <p:cNvPr id="22" name="TextBox 21"/>
          <p:cNvSpPr txBox="1"/>
          <p:nvPr/>
        </p:nvSpPr>
        <p:spPr>
          <a:xfrm>
            <a:off x="6858000" y="3566160"/>
            <a:ext cx="4480560" cy="2011680"/>
          </a:xfrm>
          <a:prstGeom prst="rect">
            <a:avLst/>
          </a:prstGeom>
          <a:noFill/>
        </p:spPr>
        <p:txBody>
          <a:bodyPr wrap="square" anchor="t" lIns="18288" rIns="18288" tIns="18288" bIns="18288">
            <a:spAutoFit/>
          </a:bodyPr>
          <a:lstStyle/>
          <a:p>
            <a:pPr algn="l">
              <a:spcAft>
                <a:spcPts val="800"/>
              </a:spcAft>
            </a:pPr>
            <a:r>
              <a:rPr sz="1300" b="0">
                <a:solidFill>
                  <a:srgbClr val="475467"/>
                </a:solidFill>
                <a:latin typeface="Inter"/>
              </a:rPr>
              <a:t>Staffing recommendation: a ranked list of lawful overtime options, with the coverage each one adds.</a:t>
            </a:r>
          </a:p>
          <a:p>
            <a:pPr algn="l">
              <a:spcAft>
                <a:spcPts val="800"/>
              </a:spcAft>
            </a:pPr>
            <a:r>
              <a:rPr sz="1300" b="0">
                <a:solidFill>
                  <a:srgbClr val="475467"/>
                </a:solidFill>
                <a:latin typeface="Inter"/>
              </a:rPr>
              <a:t>Approve, reject or let it expire. Nothing changes in the simulated floor until approval.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ISSUE PARETO</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Where the downtime comes from</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Issue class → observed symptom → applied fix, or floor → station</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14</a:t>
            </a:r>
          </a:p>
        </p:txBody>
      </p:sp>
      <p:sp>
        <p:nvSpPr>
          <p:cNvPr id="7" name="Rounded Rectangle 6"/>
          <p:cNvSpPr/>
          <p:nvPr/>
        </p:nvSpPr>
        <p:spPr>
          <a:xfrm>
            <a:off x="475488" y="1755648"/>
            <a:ext cx="7644383" cy="4363974"/>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pareto.png"/>
          <p:cNvPicPr>
            <a:picLocks noChangeAspect="1"/>
          </p:cNvPicPr>
          <p:nvPr/>
        </p:nvPicPr>
        <p:blipFill>
          <a:blip r:embed="rId4"/>
          <a:stretch>
            <a:fillRect/>
          </a:stretch>
        </p:blipFill>
        <p:spPr>
          <a:xfrm>
            <a:off x="548640" y="1828800"/>
            <a:ext cx="7498079" cy="4217670"/>
          </a:xfrm>
          <a:prstGeom prst="rect">
            <a:avLst/>
          </a:prstGeom>
        </p:spPr>
      </p:pic>
      <p:sp>
        <p:nvSpPr>
          <p:cNvPr id="9" name="Rounded Rectangle 8"/>
          <p:cNvSpPr/>
          <p:nvPr/>
        </p:nvSpPr>
        <p:spPr>
          <a:xfrm>
            <a:off x="6629399" y="5680709"/>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Issue Pareto</a:t>
            </a:r>
          </a:p>
        </p:txBody>
      </p:sp>
      <p:sp>
        <p:nvSpPr>
          <p:cNvPr id="10" name="Rounded Rectangle 9"/>
          <p:cNvSpPr/>
          <p:nvPr/>
        </p:nvSpPr>
        <p:spPr>
          <a:xfrm>
            <a:off x="8321040" y="1828800"/>
            <a:ext cx="3291840" cy="950976"/>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49640" y="1956816"/>
            <a:ext cx="2834640" cy="32004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Three measures</a:t>
            </a:r>
          </a:p>
        </p:txBody>
      </p:sp>
      <p:sp>
        <p:nvSpPr>
          <p:cNvPr id="12" name="TextBox 11"/>
          <p:cNvSpPr txBox="1"/>
          <p:nvPr/>
        </p:nvSpPr>
        <p:spPr>
          <a:xfrm>
            <a:off x="8549640" y="2249424"/>
            <a:ext cx="2834640" cy="54864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Issues, downtime or failed attempts, by day, week or month.</a:t>
            </a:r>
          </a:p>
        </p:txBody>
      </p:sp>
      <p:sp>
        <p:nvSpPr>
          <p:cNvPr id="13" name="Rounded Rectangle 12"/>
          <p:cNvSpPr/>
          <p:nvPr/>
        </p:nvSpPr>
        <p:spPr>
          <a:xfrm>
            <a:off x="8321040" y="2907792"/>
            <a:ext cx="3291840" cy="950976"/>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3035808"/>
            <a:ext cx="2834640" cy="32004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The vital few</a:t>
            </a:r>
          </a:p>
        </p:txBody>
      </p:sp>
      <p:sp>
        <p:nvSpPr>
          <p:cNvPr id="15" name="TextBox 14"/>
          <p:cNvSpPr txBox="1"/>
          <p:nvPr/>
        </p:nvSpPr>
        <p:spPr>
          <a:xfrm>
            <a:off x="8549640" y="3328416"/>
            <a:ext cx="2834640" cy="54864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Sorted bars, cumulative line and an 80% marker.</a:t>
            </a:r>
          </a:p>
        </p:txBody>
      </p:sp>
      <p:sp>
        <p:nvSpPr>
          <p:cNvPr id="16" name="Rounded Rectangle 15"/>
          <p:cNvSpPr/>
          <p:nvPr/>
        </p:nvSpPr>
        <p:spPr>
          <a:xfrm>
            <a:off x="8321040" y="3986784"/>
            <a:ext cx="3291840" cy="950976"/>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114800"/>
            <a:ext cx="2834640" cy="32004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Drill down</a:t>
            </a:r>
          </a:p>
        </p:txBody>
      </p:sp>
      <p:sp>
        <p:nvSpPr>
          <p:cNvPr id="18" name="TextBox 17"/>
          <p:cNvSpPr txBox="1"/>
          <p:nvPr/>
        </p:nvSpPr>
        <p:spPr>
          <a:xfrm>
            <a:off x="8549640" y="4407408"/>
            <a:ext cx="2834640" cy="54864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Class to symptom to the fix that was applied.</a:t>
            </a:r>
          </a:p>
        </p:txBody>
      </p:sp>
      <p:sp>
        <p:nvSpPr>
          <p:cNvPr id="19" name="Rounded Rectangle 18"/>
          <p:cNvSpPr/>
          <p:nvPr/>
        </p:nvSpPr>
        <p:spPr>
          <a:xfrm>
            <a:off x="8321040" y="5065776"/>
            <a:ext cx="3291840" cy="950976"/>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5193792"/>
            <a:ext cx="2834640" cy="32004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Public records only</a:t>
            </a:r>
          </a:p>
        </p:txBody>
      </p:sp>
      <p:sp>
        <p:nvSpPr>
          <p:cNvPr id="21" name="TextBox 20"/>
          <p:cNvSpPr txBox="1"/>
          <p:nvPr/>
        </p:nvSpPr>
        <p:spPr>
          <a:xfrm>
            <a:off x="8549640" y="5486400"/>
            <a:ext cx="2834640" cy="54864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Hidden causes are never used.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RESULTS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A month of operations</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Synthetic plant e8-aura-p1, simulated 1 September to 6 October 2026.</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15</a:t>
            </a:r>
          </a:p>
        </p:txBody>
      </p:sp>
      <p:sp>
        <p:nvSpPr>
          <p:cNvPr id="7" name="Rounded Rectangle 6"/>
          <p:cNvSpPr/>
          <p:nvPr/>
        </p:nvSpPr>
        <p:spPr>
          <a:xfrm>
            <a:off x="548640" y="1783080"/>
            <a:ext cx="3502152" cy="173736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965960"/>
            <a:ext cx="2953512" cy="640080"/>
          </a:xfrm>
          <a:prstGeom prst="rect">
            <a:avLst/>
          </a:prstGeom>
          <a:noFill/>
        </p:spPr>
        <p:txBody>
          <a:bodyPr wrap="square" anchor="t" lIns="18288" rIns="18288" tIns="18288" bIns="18288">
            <a:spAutoFit/>
          </a:bodyPr>
          <a:lstStyle/>
          <a:p>
            <a:pPr algn="l">
              <a:spcAft>
                <a:spcPts val="0"/>
              </a:spcAft>
            </a:pPr>
            <a:r>
              <a:rPr sz="3400" b="1">
                <a:solidFill>
                  <a:srgbClr val="FFFFFF"/>
                </a:solidFill>
                <a:latin typeface="Inter"/>
              </a:rPr>
              <a:t>3,004</a:t>
            </a:r>
          </a:p>
        </p:txBody>
      </p:sp>
      <p:sp>
        <p:nvSpPr>
          <p:cNvPr id="9" name="TextBox 8"/>
          <p:cNvSpPr txBox="1"/>
          <p:nvPr/>
        </p:nvSpPr>
        <p:spPr>
          <a:xfrm>
            <a:off x="822959" y="2651760"/>
            <a:ext cx="2953512" cy="777239"/>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issues raised in September, on the Analytics screen</a:t>
            </a:r>
          </a:p>
        </p:txBody>
      </p:sp>
      <p:sp>
        <p:nvSpPr>
          <p:cNvPr id="10" name="Rounded Rectangle 9"/>
          <p:cNvSpPr/>
          <p:nvPr/>
        </p:nvSpPr>
        <p:spPr>
          <a:xfrm>
            <a:off x="4334256" y="1783080"/>
            <a:ext cx="3502152"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1965960"/>
            <a:ext cx="2953512"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25%</a:t>
            </a:r>
          </a:p>
        </p:txBody>
      </p:sp>
      <p:sp>
        <p:nvSpPr>
          <p:cNvPr id="12" name="TextBox 11"/>
          <p:cNvSpPr txBox="1"/>
          <p:nvPr/>
        </p:nvSpPr>
        <p:spPr>
          <a:xfrm>
            <a:off x="4608576" y="2651760"/>
            <a:ext cx="2953512" cy="777239"/>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reopened, over 4,683 repair attempts</a:t>
            </a:r>
          </a:p>
        </p:txBody>
      </p:sp>
      <p:sp>
        <p:nvSpPr>
          <p:cNvPr id="13" name="Rounded Rectangle 12"/>
          <p:cNvSpPr/>
          <p:nvPr/>
        </p:nvSpPr>
        <p:spPr>
          <a:xfrm>
            <a:off x="8110727" y="1783080"/>
            <a:ext cx="3502152"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8" y="1965960"/>
            <a:ext cx="2953512"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78%</a:t>
            </a:r>
          </a:p>
        </p:txBody>
      </p:sp>
      <p:sp>
        <p:nvSpPr>
          <p:cNvPr id="15" name="TextBox 14"/>
          <p:cNvSpPr txBox="1"/>
          <p:nvPr/>
        </p:nvSpPr>
        <p:spPr>
          <a:xfrm>
            <a:off x="8385048" y="2651760"/>
            <a:ext cx="2953512" cy="777239"/>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in the top two issue classes; the 80% line is crossed on the third</a:t>
            </a:r>
          </a:p>
        </p:txBody>
      </p:sp>
      <p:sp>
        <p:nvSpPr>
          <p:cNvPr id="16" name="Rounded Rectangle 15"/>
          <p:cNvSpPr/>
          <p:nvPr/>
        </p:nvSpPr>
        <p:spPr>
          <a:xfrm>
            <a:off x="548640" y="3749039"/>
            <a:ext cx="11064240" cy="22860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931920"/>
            <a:ext cx="10515600" cy="36576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How it was made</a:t>
            </a:r>
          </a:p>
        </p:txBody>
      </p:sp>
      <p:sp>
        <p:nvSpPr>
          <p:cNvPr id="18" name="TextBox 17"/>
          <p:cNvSpPr txBox="1"/>
          <p:nvPr/>
        </p:nvSpPr>
        <p:spPr>
          <a:xfrm>
            <a:off x="822960" y="4389120"/>
            <a:ext cx="10515600" cy="1554480"/>
          </a:xfrm>
          <a:prstGeom prst="rect">
            <a:avLst/>
          </a:prstGeom>
          <a:noFill/>
        </p:spPr>
        <p:txBody>
          <a:bodyPr wrap="square" anchor="t" lIns="18288" rIns="18288" tIns="18288" bIns="18288">
            <a:spAutoFit/>
          </a:bodyPr>
          <a:lstStyle/>
          <a:p>
            <a:pPr algn="l">
              <a:spcAft>
                <a:spcPts val="600"/>
              </a:spcAft>
            </a:pPr>
            <a:r>
              <a:rPr sz="1300" b="0">
                <a:solidFill>
                  <a:srgbClr val="475467"/>
                </a:solidFill>
                <a:latin typeface="Inter"/>
              </a:rPr>
              <a:t>Generated offline with the app's own engine, with deterministic fallbacks. Every record is one the app would produce.</a:t>
            </a:r>
          </a:p>
          <a:p>
            <a:pPr algn="l">
              <a:spcAft>
                <a:spcPts val="600"/>
              </a:spcAft>
            </a:pPr>
            <a:r>
              <a:rPr sz="1300" b="0">
                <a:solidFill>
                  <a:srgbClr val="475467"/>
                </a:solidFill>
                <a:latin typeface="Inter"/>
              </a:rPr>
              <a:t>It is a simulation, not a benchmark of Nemotron against a baseline. Weeks start Monday 08:00 UTC.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INFERENCE</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Built on Nebius Token Factory</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NVIDIA Nemotron models, one per role. Each role picks its own model in Settings.</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16</a:t>
            </a:r>
          </a:p>
        </p:txBody>
      </p:sp>
      <p:graphicFrame>
        <p:nvGraphicFramePr>
          <p:cNvPr id="7" name="Table 6"/>
          <p:cNvGraphicFramePr>
            <a:graphicFrameLocks noGrp="1"/>
          </p:cNvGraphicFramePr>
          <p:nvPr/>
        </p:nvGraphicFramePr>
        <p:xfrm>
          <a:off x="548640" y="1828800"/>
          <a:ext cx="7315200" cy="2011680"/>
        </p:xfrm>
        <a:graphic>
          <a:graphicData uri="http://schemas.openxmlformats.org/drawingml/2006/table">
            <a:tbl>
              <a:tblPr firstRow="1" bandRow="1">
                <a:tableStyleId>{5C22544A-7EE6-4342-B048-85BDC9FD1C3A}</a:tableStyleId>
              </a:tblPr>
              <a:tblGrid>
                <a:gridCol w="2377440"/>
                <a:gridCol w="2468880"/>
                <a:gridCol w="1371600"/>
                <a:gridCol w="1097280"/>
              </a:tblGrid>
              <a:tr h="502920">
                <a:tc>
                  <a:txBody>
                    <a:bodyPr wrap="square"/>
                    <a:lstStyle/>
                    <a:p>
                      <a:r>
                        <a:rPr sz="1200" b="1">
                          <a:solidFill>
                            <a:srgbClr val="FFFFFF"/>
                          </a:solidFill>
                          <a:latin typeface="Inter"/>
                        </a:rPr>
                        <a:t>Role</a:t>
                      </a:r>
                    </a:p>
                  </a:txBody>
                  <a:tcPr marL="73152" marR="73152">
                    <a:solidFill>
                      <a:srgbClr val="1E1B4B"/>
                    </a:solidFill>
                  </a:tcPr>
                </a:tc>
                <a:tc>
                  <a:txBody>
                    <a:bodyPr wrap="square"/>
                    <a:lstStyle/>
                    <a:p>
                      <a:r>
                        <a:rPr sz="1200" b="1">
                          <a:solidFill>
                            <a:srgbClr val="FFFFFF"/>
                          </a:solidFill>
                          <a:latin typeface="Inter"/>
                        </a:rPr>
                        <a:t>Model</a:t>
                      </a:r>
                    </a:p>
                  </a:txBody>
                  <a:tcPr marL="73152" marR="73152">
                    <a:solidFill>
                      <a:srgbClr val="1E1B4B"/>
                    </a:solidFill>
                  </a:tcPr>
                </a:tc>
                <a:tc>
                  <a:txBody>
                    <a:bodyPr wrap="square"/>
                    <a:lstStyle/>
                    <a:p>
                      <a:r>
                        <a:rPr sz="1200" b="1">
                          <a:solidFill>
                            <a:srgbClr val="FFFFFF"/>
                          </a:solidFill>
                          <a:latin typeface="Inter"/>
                        </a:rPr>
                        <a:t>$ in / out per 1M</a:t>
                      </a:r>
                    </a:p>
                  </a:txBody>
                  <a:tcPr marL="73152" marR="73152">
                    <a:solidFill>
                      <a:srgbClr val="1E1B4B"/>
                    </a:solidFill>
                  </a:tcPr>
                </a:tc>
                <a:tc>
                  <a:txBody>
                    <a:bodyPr wrap="square"/>
                    <a:lstStyle/>
                    <a:p>
                      <a:r>
                        <a:rPr sz="1200" b="1">
                          <a:solidFill>
                            <a:srgbClr val="FFFFFF"/>
                          </a:solidFill>
                          <a:latin typeface="Inter"/>
                        </a:rPr>
                        <a:t>Context</a:t>
                      </a:r>
                    </a:p>
                  </a:txBody>
                  <a:tcPr marL="73152" marR="73152">
                    <a:solidFill>
                      <a:srgbClr val="1E1B4B"/>
                    </a:solidFill>
                  </a:tcPr>
                </a:tc>
              </a:tr>
              <a:tr h="502920">
                <a:tc>
                  <a:txBody>
                    <a:bodyPr wrap="square"/>
                    <a:lstStyle/>
                    <a:p>
                      <a:r>
                        <a:rPr sz="1200" b="0">
                          <a:solidFill>
                            <a:srgbClr val="111827"/>
                          </a:solidFill>
                          <a:latin typeface="Inter"/>
                        </a:rPr>
                        <a:t>Investigator</a:t>
                      </a:r>
                    </a:p>
                  </a:txBody>
                  <a:tcPr marL="73152" marR="73152">
                    <a:solidFill>
                      <a:srgbClr val="FFFFFF"/>
                    </a:solidFill>
                  </a:tcPr>
                </a:tc>
                <a:tc>
                  <a:txBody>
                    <a:bodyPr wrap="square"/>
                    <a:lstStyle/>
                    <a:p>
                      <a:r>
                        <a:rPr sz="1200" b="0">
                          <a:solidFill>
                            <a:srgbClr val="111827"/>
                          </a:solidFill>
                          <a:latin typeface="Inter"/>
                        </a:rPr>
                        <a:t>Nemotron 3 Ultra 550B-A55B</a:t>
                      </a:r>
                    </a:p>
                  </a:txBody>
                  <a:tcPr marL="73152" marR="73152">
                    <a:solidFill>
                      <a:srgbClr val="FFFFFF"/>
                    </a:solidFill>
                  </a:tcPr>
                </a:tc>
                <a:tc>
                  <a:txBody>
                    <a:bodyPr wrap="square"/>
                    <a:lstStyle/>
                    <a:p>
                      <a:r>
                        <a:rPr sz="1200" b="0">
                          <a:solidFill>
                            <a:srgbClr val="111827"/>
                          </a:solidFill>
                          <a:latin typeface="Inter"/>
                        </a:rPr>
                        <a:t>1.00 / 3.00</a:t>
                      </a:r>
                    </a:p>
                  </a:txBody>
                  <a:tcPr marL="73152" marR="73152">
                    <a:solidFill>
                      <a:srgbClr val="FFFFFF"/>
                    </a:solidFill>
                  </a:tcPr>
                </a:tc>
                <a:tc>
                  <a:txBody>
                    <a:bodyPr wrap="square"/>
                    <a:lstStyle/>
                    <a:p>
                      <a:r>
                        <a:rPr sz="1200" b="0">
                          <a:solidFill>
                            <a:srgbClr val="111827"/>
                          </a:solidFill>
                          <a:latin typeface="Inter"/>
                        </a:rPr>
                        <a:t>1,048,576</a:t>
                      </a:r>
                    </a:p>
                  </a:txBody>
                  <a:tcPr marL="73152" marR="73152">
                    <a:solidFill>
                      <a:srgbClr val="FFFFFF"/>
                    </a:solidFill>
                  </a:tcPr>
                </a:tc>
              </a:tr>
              <a:tr h="502920">
                <a:tc>
                  <a:txBody>
                    <a:bodyPr wrap="square"/>
                    <a:lstStyle/>
                    <a:p>
                      <a:r>
                        <a:rPr sz="1200" b="0">
                          <a:solidFill>
                            <a:srgbClr val="111827"/>
                          </a:solidFill>
                          <a:latin typeface="Inter"/>
                        </a:rPr>
                        <a:t>Rank responders, fixes, overtime</a:t>
                      </a:r>
                    </a:p>
                  </a:txBody>
                  <a:tcPr marL="73152" marR="73152">
                    <a:solidFill>
                      <a:srgbClr val="EEF0FF"/>
                    </a:solidFill>
                  </a:tcPr>
                </a:tc>
                <a:tc>
                  <a:txBody>
                    <a:bodyPr wrap="square"/>
                    <a:lstStyle/>
                    <a:p>
                      <a:r>
                        <a:rPr sz="1200" b="0">
                          <a:solidFill>
                            <a:srgbClr val="111827"/>
                          </a:solidFill>
                          <a:latin typeface="Inter"/>
                        </a:rPr>
                        <a:t>Nemotron 3 Super 120B-A12B</a:t>
                      </a:r>
                    </a:p>
                  </a:txBody>
                  <a:tcPr marL="73152" marR="73152">
                    <a:solidFill>
                      <a:srgbClr val="EEF0FF"/>
                    </a:solidFill>
                  </a:tcPr>
                </a:tc>
                <a:tc>
                  <a:txBody>
                    <a:bodyPr wrap="square"/>
                    <a:lstStyle/>
                    <a:p>
                      <a:r>
                        <a:rPr sz="1200" b="0">
                          <a:solidFill>
                            <a:srgbClr val="111827"/>
                          </a:solidFill>
                          <a:latin typeface="Inter"/>
                        </a:rPr>
                        <a:t>0.30 / 0.90</a:t>
                      </a:r>
                    </a:p>
                  </a:txBody>
                  <a:tcPr marL="73152" marR="73152">
                    <a:solidFill>
                      <a:srgbClr val="EEF0FF"/>
                    </a:solidFill>
                  </a:tcPr>
                </a:tc>
                <a:tc>
                  <a:txBody>
                    <a:bodyPr wrap="square"/>
                    <a:lstStyle/>
                    <a:p>
                      <a:r>
                        <a:rPr sz="1200" b="0">
                          <a:solidFill>
                            <a:srgbClr val="111827"/>
                          </a:solidFill>
                          <a:latin typeface="Inter"/>
                        </a:rPr>
                        <a:t>262,144</a:t>
                      </a:r>
                    </a:p>
                  </a:txBody>
                  <a:tcPr marL="73152" marR="73152">
                    <a:solidFill>
                      <a:srgbClr val="EEF0FF"/>
                    </a:solidFill>
                  </a:tcPr>
                </a:tc>
              </a:tr>
              <a:tr h="502920">
                <a:tc>
                  <a:txBody>
                    <a:bodyPr wrap="square"/>
                    <a:lstStyle/>
                    <a:p>
                      <a:r>
                        <a:rPr sz="1200" b="0">
                          <a:solidFill>
                            <a:srgbClr val="111827"/>
                          </a:solidFill>
                          <a:latin typeface="Inter"/>
                        </a:rPr>
                        <a:t>Event planner and narrator</a:t>
                      </a:r>
                    </a:p>
                  </a:txBody>
                  <a:tcPr marL="73152" marR="73152">
                    <a:solidFill>
                      <a:srgbClr val="FFFFFF"/>
                    </a:solidFill>
                  </a:tcPr>
                </a:tc>
                <a:tc>
                  <a:txBody>
                    <a:bodyPr wrap="square"/>
                    <a:lstStyle/>
                    <a:p>
                      <a:r>
                        <a:rPr sz="1200" b="0">
                          <a:solidFill>
                            <a:srgbClr val="111827"/>
                          </a:solidFill>
                          <a:latin typeface="Inter"/>
                        </a:rPr>
                        <a:t>Nemotron 3.5 Lightning</a:t>
                      </a:r>
                    </a:p>
                  </a:txBody>
                  <a:tcPr marL="73152" marR="73152">
                    <a:solidFill>
                      <a:srgbClr val="FFFFFF"/>
                    </a:solidFill>
                  </a:tcPr>
                </a:tc>
                <a:tc>
                  <a:txBody>
                    <a:bodyPr wrap="square"/>
                    <a:lstStyle/>
                    <a:p>
                      <a:r>
                        <a:rPr sz="1200" b="0">
                          <a:solidFill>
                            <a:srgbClr val="111827"/>
                          </a:solidFill>
                          <a:latin typeface="Inter"/>
                        </a:rPr>
                        <a:t>0.06 / 0.24</a:t>
                      </a:r>
                    </a:p>
                  </a:txBody>
                  <a:tcPr marL="73152" marR="73152">
                    <a:solidFill>
                      <a:srgbClr val="FFFFFF"/>
                    </a:solidFill>
                  </a:tcPr>
                </a:tc>
                <a:tc>
                  <a:txBody>
                    <a:bodyPr wrap="square"/>
                    <a:lstStyle/>
                    <a:p>
                      <a:r>
                        <a:rPr sz="1200" b="0">
                          <a:solidFill>
                            <a:srgbClr val="111827"/>
                          </a:solidFill>
                          <a:latin typeface="Inter"/>
                        </a:rPr>
                        <a:t>1,048,576</a:t>
                      </a:r>
                    </a:p>
                  </a:txBody>
                  <a:tcPr marL="73152" marR="73152">
                    <a:solidFill>
                      <a:srgbClr val="FFFFFF"/>
                    </a:solidFill>
                  </a:tcPr>
                </a:tc>
              </a:tr>
            </a:tbl>
          </a:graphicData>
        </a:graphic>
      </p:graphicFrame>
      <p:sp>
        <p:nvSpPr>
          <p:cNvPr id="8" name="Oval 7"/>
          <p:cNvSpPr/>
          <p:nvPr/>
        </p:nvSpPr>
        <p:spPr>
          <a:xfrm>
            <a:off x="548640" y="38862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9" name="TextBox 8"/>
          <p:cNvSpPr txBox="1"/>
          <p:nvPr/>
        </p:nvSpPr>
        <p:spPr>
          <a:xfrm>
            <a:off x="1207007" y="3813048"/>
            <a:ext cx="65836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Validators are the contract</a:t>
            </a:r>
          </a:p>
        </p:txBody>
      </p:sp>
      <p:sp>
        <p:nvSpPr>
          <p:cNvPr id="10" name="TextBox 9"/>
          <p:cNvSpPr txBox="1"/>
          <p:nvPr/>
        </p:nvSpPr>
        <p:spPr>
          <a:xfrm>
            <a:off x="1207007" y="4133087"/>
            <a:ext cx="65836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Structured JSON, checked by code before anything is used.</a:t>
            </a:r>
          </a:p>
        </p:txBody>
      </p:sp>
      <p:sp>
        <p:nvSpPr>
          <p:cNvPr id="11" name="Oval 10"/>
          <p:cNvSpPr/>
          <p:nvPr/>
        </p:nvSpPr>
        <p:spPr>
          <a:xfrm>
            <a:off x="548640" y="48006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2" name="TextBox 11"/>
          <p:cNvSpPr txBox="1"/>
          <p:nvPr/>
        </p:nvSpPr>
        <p:spPr>
          <a:xfrm>
            <a:off x="1207007" y="4727448"/>
            <a:ext cx="65836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Bounded failure</a:t>
            </a:r>
          </a:p>
        </p:txBody>
      </p:sp>
      <p:sp>
        <p:nvSpPr>
          <p:cNvPr id="13" name="TextBox 12"/>
          <p:cNvSpPr txBox="1"/>
          <p:nvPr/>
        </p:nvSpPr>
        <p:spPr>
          <a:xfrm>
            <a:off x="1207007" y="5047488"/>
            <a:ext cx="65836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Timeouts, bounded retries and a circuit breaker per provider.</a:t>
            </a:r>
          </a:p>
        </p:txBody>
      </p:sp>
      <p:sp>
        <p:nvSpPr>
          <p:cNvPr id="14" name="Oval 13"/>
          <p:cNvSpPr/>
          <p:nvPr/>
        </p:nvSpPr>
        <p:spPr>
          <a:xfrm>
            <a:off x="548640" y="57150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5" name="TextBox 14"/>
          <p:cNvSpPr txBox="1"/>
          <p:nvPr/>
        </p:nvSpPr>
        <p:spPr>
          <a:xfrm>
            <a:off x="1207007" y="5641848"/>
            <a:ext cx="65836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Never holds the clock</a:t>
            </a:r>
          </a:p>
        </p:txBody>
      </p:sp>
      <p:sp>
        <p:nvSpPr>
          <p:cNvPr id="16" name="TextBox 15"/>
          <p:cNvSpPr txBox="1"/>
          <p:nvPr/>
        </p:nvSpPr>
        <p:spPr>
          <a:xfrm>
            <a:off x="1207007" y="5961888"/>
            <a:ext cx="65836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Model calls run in a background lane, not the simulation clock.</a:t>
            </a:r>
          </a:p>
        </p:txBody>
      </p:sp>
      <p:sp>
        <p:nvSpPr>
          <p:cNvPr id="17" name="Rounded Rectangle 16"/>
          <p:cNvSpPr/>
          <p:nvPr/>
        </p:nvSpPr>
        <p:spPr>
          <a:xfrm>
            <a:off x="8229600" y="1828800"/>
            <a:ext cx="3383280" cy="237744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3920" y="2011680"/>
            <a:ext cx="2926080" cy="457200"/>
          </a:xfrm>
          <a:prstGeom prst="rect">
            <a:avLst/>
          </a:prstGeom>
          <a:noFill/>
        </p:spPr>
        <p:txBody>
          <a:bodyPr wrap="square" anchor="t" lIns="18288" rIns="18288" tIns="18288" bIns="18288">
            <a:spAutoFit/>
          </a:bodyPr>
          <a:lstStyle/>
          <a:p>
            <a:pPr algn="l">
              <a:spcAft>
                <a:spcPts val="0"/>
              </a:spcAft>
            </a:pPr>
            <a:r>
              <a:rPr sz="1600" b="1">
                <a:solidFill>
                  <a:srgbClr val="FFFFFF"/>
                </a:solidFill>
                <a:latin typeface="Inter"/>
              </a:rPr>
              <a:t>Fallback on every call</a:t>
            </a:r>
          </a:p>
        </p:txBody>
      </p:sp>
      <p:sp>
        <p:nvSpPr>
          <p:cNvPr id="19" name="TextBox 18"/>
          <p:cNvSpPr txBox="1"/>
          <p:nvPr/>
        </p:nvSpPr>
        <p:spPr>
          <a:xfrm>
            <a:off x="8503920" y="2514600"/>
            <a:ext cx="2926080" cy="1645920"/>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If a model is slow, rate-limited or invalid, a deterministic path answers. Dispatch never stops on a model call.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TRY IT</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Guest workplaces</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Sign in with any username and the shared guest password. Each username gets its own workplace.</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17</a:t>
            </a:r>
          </a:p>
        </p:txBody>
      </p:sp>
      <p:sp>
        <p:nvSpPr>
          <p:cNvPr id="7" name="Rounded Rectangle 6"/>
          <p:cNvSpPr/>
          <p:nvPr/>
        </p:nvSpPr>
        <p:spPr>
          <a:xfrm>
            <a:off x="548640" y="1828800"/>
            <a:ext cx="3474720" cy="21945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057400"/>
            <a:ext cx="2926080" cy="45720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Own workplace</a:t>
            </a:r>
          </a:p>
        </p:txBody>
      </p:sp>
      <p:sp>
        <p:nvSpPr>
          <p:cNvPr id="9" name="TextBox 8"/>
          <p:cNvSpPr txBox="1"/>
          <p:nvPr/>
        </p:nvSpPr>
        <p:spPr>
          <a:xfrm>
            <a:off x="822959" y="2606040"/>
            <a:ext cx="2926080" cy="137160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Each username starts from a full copy of the plant-1 history. Changes stay in that workplace.</a:t>
            </a:r>
          </a:p>
        </p:txBody>
      </p:sp>
      <p:sp>
        <p:nvSpPr>
          <p:cNvPr id="10" name="Rounded Rectangle 9"/>
          <p:cNvSpPr/>
          <p:nvPr/>
        </p:nvSpPr>
        <p:spPr>
          <a:xfrm>
            <a:off x="4297679" y="1828800"/>
            <a:ext cx="3474720" cy="21945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1999" y="2057400"/>
            <a:ext cx="2926080" cy="45720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Ten registered usernames</a:t>
            </a:r>
          </a:p>
        </p:txBody>
      </p:sp>
      <p:sp>
        <p:nvSpPr>
          <p:cNvPr id="12" name="TextBox 11"/>
          <p:cNvSpPr txBox="1"/>
          <p:nvPr/>
        </p:nvSpPr>
        <p:spPr>
          <a:xfrm>
            <a:off x="4571999" y="2606040"/>
            <a:ext cx="2926080" cy="137160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New usernames close after ten workplaces, to limit bot sign-ups. Registered users still sign in.</a:t>
            </a:r>
          </a:p>
        </p:txBody>
      </p:sp>
      <p:sp>
        <p:nvSpPr>
          <p:cNvPr id="13" name="Rounded Rectangle 12"/>
          <p:cNvSpPr/>
          <p:nvPr/>
        </p:nvSpPr>
        <p:spPr>
          <a:xfrm>
            <a:off x="8046719" y="1828800"/>
            <a:ext cx="3474720" cy="21945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057400"/>
            <a:ext cx="2926080" cy="45720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Idle workplaces are swept</a:t>
            </a:r>
          </a:p>
        </p:txBody>
      </p:sp>
      <p:sp>
        <p:nvSpPr>
          <p:cNvPr id="15" name="TextBox 14"/>
          <p:cNvSpPr txBox="1"/>
          <p:nvPr/>
        </p:nvSpPr>
        <p:spPr>
          <a:xfrm>
            <a:off x="8321040" y="2606040"/>
            <a:ext cx="2926080" cy="137160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A workplace unused for seven days is removed and its slot is freed.</a:t>
            </a:r>
          </a:p>
        </p:txBody>
      </p:sp>
      <p:sp>
        <p:nvSpPr>
          <p:cNvPr id="16" name="Rounded Rectangle 15"/>
          <p:cNvSpPr/>
          <p:nvPr/>
        </p:nvSpPr>
        <p:spPr>
          <a:xfrm>
            <a:off x="548640" y="4343400"/>
            <a:ext cx="11064240" cy="1097280"/>
          </a:xfrm>
          <a:prstGeom prst="roundRect">
            <a:avLst>
              <a:gd name="adj" fmla="val 6000"/>
            </a:avLst>
          </a:prstGeom>
          <a:solidFill>
            <a:srgbClr val="FFF7ED"/>
          </a:solidFill>
          <a:ln w="12700">
            <a:solidFill>
              <a:srgbClr val="D9770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300" b="1">
                <a:solidFill>
                  <a:srgbClr val="92400E"/>
                </a:solidFill>
                <a:latin typeface="Inter"/>
              </a:rPr>
              <a:t>Access decision pending</a:t>
            </a:r>
          </a:p>
          <a:p>
            <a:r>
              <a:rPr sz="1200" b="0">
                <a:solidFill>
                  <a:srgbClr val="92400E"/>
                </a:solidFill>
                <a:latin typeface="Inter"/>
              </a:rPr>
              <a:t>Field reports and the Investigator are closed on guest workplaces. Judges cannot reach the Nemotron Investigator until the owner decides whether to open it, and the Nebius key is set on the server.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BUILT TO RUN</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Engineering quality</a:t>
            </a:r>
          </a:p>
        </p:txBody>
      </p:sp>
      <p:sp>
        <p:nvSpPr>
          <p:cNvPr id="5" name="TextBox 4"/>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18</a:t>
            </a:r>
          </a:p>
        </p:txBody>
      </p:sp>
      <p:sp>
        <p:nvSpPr>
          <p:cNvPr id="6" name="Rounded Rectangle 5"/>
          <p:cNvSpPr/>
          <p:nvPr/>
        </p:nvSpPr>
        <p:spPr>
          <a:xfrm>
            <a:off x="548640" y="1600200"/>
            <a:ext cx="2606040" cy="160020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783080"/>
            <a:ext cx="2057400" cy="640080"/>
          </a:xfrm>
          <a:prstGeom prst="rect">
            <a:avLst/>
          </a:prstGeom>
          <a:noFill/>
        </p:spPr>
        <p:txBody>
          <a:bodyPr wrap="square" anchor="t" lIns="18288" rIns="18288" tIns="18288" bIns="18288">
            <a:spAutoFit/>
          </a:bodyPr>
          <a:lstStyle/>
          <a:p>
            <a:pPr algn="l">
              <a:spcAft>
                <a:spcPts val="0"/>
              </a:spcAft>
            </a:pPr>
            <a:r>
              <a:rPr sz="3400" b="1">
                <a:solidFill>
                  <a:srgbClr val="FFFFFF"/>
                </a:solidFill>
                <a:latin typeface="Inter"/>
              </a:rPr>
              <a:t>635</a:t>
            </a:r>
          </a:p>
        </p:txBody>
      </p:sp>
      <p:sp>
        <p:nvSpPr>
          <p:cNvPr id="8" name="TextBox 7"/>
          <p:cNvSpPr txBox="1"/>
          <p:nvPr/>
        </p:nvSpPr>
        <p:spPr>
          <a:xfrm>
            <a:off x="822959" y="2468880"/>
            <a:ext cx="2057400" cy="640080"/>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hermetic unit and integration tests, all passing</a:t>
            </a:r>
          </a:p>
        </p:txBody>
      </p:sp>
      <p:sp>
        <p:nvSpPr>
          <p:cNvPr id="9" name="Rounded Rectangle 8"/>
          <p:cNvSpPr/>
          <p:nvPr/>
        </p:nvSpPr>
        <p:spPr>
          <a:xfrm>
            <a:off x="3383280" y="1600200"/>
            <a:ext cx="2606040" cy="16002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783080"/>
            <a:ext cx="2057400"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208</a:t>
            </a:r>
          </a:p>
        </p:txBody>
      </p:sp>
      <p:sp>
        <p:nvSpPr>
          <p:cNvPr id="11" name="TextBox 10"/>
          <p:cNvSpPr txBox="1"/>
          <p:nvPr/>
        </p:nvSpPr>
        <p:spPr>
          <a:xfrm>
            <a:off x="3657600" y="2468880"/>
            <a:ext cx="2057400" cy="64008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Chromium end-to-end tests, last recorded run</a:t>
            </a:r>
          </a:p>
        </p:txBody>
      </p:sp>
      <p:sp>
        <p:nvSpPr>
          <p:cNvPr id="12" name="Oval 11"/>
          <p:cNvSpPr/>
          <p:nvPr/>
        </p:nvSpPr>
        <p:spPr>
          <a:xfrm>
            <a:off x="548640" y="352044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13" name="TextBox 12"/>
          <p:cNvSpPr txBox="1"/>
          <p:nvPr/>
        </p:nvSpPr>
        <p:spPr>
          <a:xfrm>
            <a:off x="1207007" y="3447288"/>
            <a:ext cx="512064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One app, two modes</a:t>
            </a:r>
          </a:p>
        </p:txBody>
      </p:sp>
      <p:sp>
        <p:nvSpPr>
          <p:cNvPr id="14" name="TextBox 13"/>
          <p:cNvSpPr txBox="1"/>
          <p:nvPr/>
        </p:nvSpPr>
        <p:spPr>
          <a:xfrm>
            <a:off x="1207007" y="3767328"/>
            <a:ext cx="512064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Offline makes no API calls and is fully reproducible.</a:t>
            </a:r>
          </a:p>
        </p:txBody>
      </p:sp>
      <p:sp>
        <p:nvSpPr>
          <p:cNvPr id="15" name="Oval 14"/>
          <p:cNvSpPr/>
          <p:nvPr/>
        </p:nvSpPr>
        <p:spPr>
          <a:xfrm>
            <a:off x="548640" y="438912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6" name="TextBox 15"/>
          <p:cNvSpPr txBox="1"/>
          <p:nvPr/>
        </p:nvSpPr>
        <p:spPr>
          <a:xfrm>
            <a:off x="1207007" y="4315968"/>
            <a:ext cx="512064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Crash-safe state</a:t>
            </a:r>
          </a:p>
        </p:txBody>
      </p:sp>
      <p:sp>
        <p:nvSpPr>
          <p:cNvPr id="17" name="TextBox 16"/>
          <p:cNvSpPr txBox="1"/>
          <p:nvPr/>
        </p:nvSpPr>
        <p:spPr>
          <a:xfrm>
            <a:off x="1207007" y="4636008"/>
            <a:ext cx="512064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Checksummed journal and a restart-safe scheduler.</a:t>
            </a:r>
          </a:p>
        </p:txBody>
      </p:sp>
      <p:sp>
        <p:nvSpPr>
          <p:cNvPr id="18" name="Oval 17"/>
          <p:cNvSpPr/>
          <p:nvPr/>
        </p:nvSpPr>
        <p:spPr>
          <a:xfrm>
            <a:off x="548640" y="52578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9" name="TextBox 18"/>
          <p:cNvSpPr txBox="1"/>
          <p:nvPr/>
        </p:nvSpPr>
        <p:spPr>
          <a:xfrm>
            <a:off x="1207007" y="5184648"/>
            <a:ext cx="512064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Spend only when watched</a:t>
            </a:r>
          </a:p>
        </p:txBody>
      </p:sp>
      <p:sp>
        <p:nvSpPr>
          <p:cNvPr id="20" name="TextBox 19"/>
          <p:cNvSpPr txBox="1"/>
          <p:nvPr/>
        </p:nvSpPr>
        <p:spPr>
          <a:xfrm>
            <a:off x="1207007" y="5504688"/>
            <a:ext cx="512064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An unattended room pauses itself after 10 idle minutes; a usage ledger shows estimated spend.</a:t>
            </a:r>
          </a:p>
        </p:txBody>
      </p:sp>
      <p:sp>
        <p:nvSpPr>
          <p:cNvPr id="21" name="Rounded Rectangle 20"/>
          <p:cNvSpPr/>
          <p:nvPr/>
        </p:nvSpPr>
        <p:spPr>
          <a:xfrm>
            <a:off x="6419088" y="1755648"/>
            <a:ext cx="5266944" cy="3026664"/>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1-console.png"/>
          <p:cNvPicPr>
            <a:picLocks noChangeAspect="1"/>
          </p:cNvPicPr>
          <p:nvPr/>
        </p:nvPicPr>
        <p:blipFill>
          <a:blip r:embed="rId4"/>
          <a:stretch>
            <a:fillRect/>
          </a:stretch>
        </p:blipFill>
        <p:spPr>
          <a:xfrm>
            <a:off x="6492240" y="1828800"/>
            <a:ext cx="5120640" cy="2880360"/>
          </a:xfrm>
          <a:prstGeom prst="rect">
            <a:avLst/>
          </a:prstGeom>
        </p:spPr>
      </p:pic>
      <p:sp>
        <p:nvSpPr>
          <p:cNvPr id="23" name="Rounded Rectangle 22"/>
          <p:cNvSpPr/>
          <p:nvPr/>
        </p:nvSpPr>
        <p:spPr>
          <a:xfrm>
            <a:off x="10195559" y="4343400"/>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Operator console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ROADMAP</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What's next</a:t>
            </a:r>
          </a:p>
        </p:txBody>
      </p:sp>
      <p:sp>
        <p:nvSpPr>
          <p:cNvPr id="5" name="TextBox 4"/>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19</a:t>
            </a:r>
          </a:p>
        </p:txBody>
      </p:sp>
      <p:sp>
        <p:nvSpPr>
          <p:cNvPr id="6" name="Oval 5"/>
          <p:cNvSpPr/>
          <p:nvPr/>
        </p:nvSpPr>
        <p:spPr>
          <a:xfrm>
            <a:off x="548640" y="18288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7" name="TextBox 6"/>
          <p:cNvSpPr txBox="1"/>
          <p:nvPr/>
        </p:nvSpPr>
        <p:spPr>
          <a:xfrm>
            <a:off x="1207007" y="1755648"/>
            <a:ext cx="493776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Real systems</a:t>
            </a:r>
          </a:p>
        </p:txBody>
      </p:sp>
      <p:sp>
        <p:nvSpPr>
          <p:cNvPr id="8" name="TextBox 7"/>
          <p:cNvSpPr txBox="1"/>
          <p:nvPr/>
        </p:nvSpPr>
        <p:spPr>
          <a:xfrm>
            <a:off x="1207007" y="2075688"/>
            <a:ext cx="493776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Maintenance, ticketing and rostering in place of the simulated floor.</a:t>
            </a:r>
          </a:p>
        </p:txBody>
      </p:sp>
      <p:sp>
        <p:nvSpPr>
          <p:cNvPr id="9" name="Oval 8"/>
          <p:cNvSpPr/>
          <p:nvPr/>
        </p:nvSpPr>
        <p:spPr>
          <a:xfrm>
            <a:off x="548640" y="288036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0" name="TextBox 9"/>
          <p:cNvSpPr txBox="1"/>
          <p:nvPr/>
        </p:nvSpPr>
        <p:spPr>
          <a:xfrm>
            <a:off x="1207007" y="2807208"/>
            <a:ext cx="493776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Learn from approvals</a:t>
            </a:r>
          </a:p>
        </p:txBody>
      </p:sp>
      <p:sp>
        <p:nvSpPr>
          <p:cNvPr id="11" name="TextBox 10"/>
          <p:cNvSpPr txBox="1"/>
          <p:nvPr/>
        </p:nvSpPr>
        <p:spPr>
          <a:xfrm>
            <a:off x="1207007" y="3127248"/>
            <a:ext cx="493776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Feed operator decisions and outcomes back into the evidence.</a:t>
            </a:r>
          </a:p>
        </p:txBody>
      </p:sp>
      <p:sp>
        <p:nvSpPr>
          <p:cNvPr id="12" name="Oval 11"/>
          <p:cNvSpPr/>
          <p:nvPr/>
        </p:nvSpPr>
        <p:spPr>
          <a:xfrm>
            <a:off x="548640" y="393192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3" name="TextBox 12"/>
          <p:cNvSpPr txBox="1"/>
          <p:nvPr/>
        </p:nvSpPr>
        <p:spPr>
          <a:xfrm>
            <a:off x="1207007" y="3858768"/>
            <a:ext cx="493776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Longer live measurement</a:t>
            </a:r>
          </a:p>
        </p:txBody>
      </p:sp>
      <p:sp>
        <p:nvSpPr>
          <p:cNvPr id="14" name="TextBox 13"/>
          <p:cNvSpPr txBox="1"/>
          <p:nvPr/>
        </p:nvSpPr>
        <p:spPr>
          <a:xfrm>
            <a:off x="1207007" y="4178808"/>
            <a:ext cx="493776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The Investigator against its baselines on live Nemotron runs.</a:t>
            </a:r>
          </a:p>
        </p:txBody>
      </p:sp>
      <p:sp>
        <p:nvSpPr>
          <p:cNvPr id="15" name="Rounded Rectangle 14"/>
          <p:cNvSpPr/>
          <p:nvPr/>
        </p:nvSpPr>
        <p:spPr>
          <a:xfrm>
            <a:off x="6400800" y="1828800"/>
            <a:ext cx="5212080" cy="3931920"/>
          </a:xfrm>
          <a:prstGeom prst="roundRect">
            <a:avLst>
              <a:gd name="adj" fmla="val 6000"/>
            </a:avLst>
          </a:prstGeom>
          <a:solidFill>
            <a:srgbClr val="FFF7ED"/>
          </a:solidFill>
          <a:ln w="12700">
            <a:solidFill>
              <a:srgbClr val="D9770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0" y="2011680"/>
            <a:ext cx="4663440" cy="365760"/>
          </a:xfrm>
          <a:prstGeom prst="rect">
            <a:avLst/>
          </a:prstGeom>
          <a:noFill/>
        </p:spPr>
        <p:txBody>
          <a:bodyPr wrap="square" anchor="t" lIns="18288" rIns="18288" tIns="18288" bIns="18288">
            <a:spAutoFit/>
          </a:bodyPr>
          <a:lstStyle/>
          <a:p>
            <a:pPr algn="l">
              <a:spcAft>
                <a:spcPts val="0"/>
              </a:spcAft>
            </a:pPr>
            <a:r>
              <a:rPr sz="1400" b="1">
                <a:solidFill>
                  <a:srgbClr val="92400E"/>
                </a:solidFill>
                <a:latin typeface="Inter"/>
              </a:rPr>
              <a:t>Open before submission (remove before filing)</a:t>
            </a:r>
          </a:p>
        </p:txBody>
      </p:sp>
      <p:sp>
        <p:nvSpPr>
          <p:cNvPr id="17" name="TextBox 16"/>
          <p:cNvSpPr txBox="1"/>
          <p:nvPr/>
        </p:nvSpPr>
        <p:spPr>
          <a:xfrm>
            <a:off x="6675120" y="2560320"/>
            <a:ext cx="4663440" cy="3108960"/>
          </a:xfrm>
          <a:prstGeom prst="rect">
            <a:avLst/>
          </a:prstGeom>
          <a:noFill/>
        </p:spPr>
        <p:txBody>
          <a:bodyPr wrap="square" anchor="t" lIns="18288" rIns="18288" tIns="18288" bIns="18288">
            <a:spAutoFit/>
          </a:bodyPr>
          <a:lstStyle/>
          <a:p>
            <a:pPr algn="l">
              <a:spcAft>
                <a:spcPts val="800"/>
              </a:spcAft>
            </a:pPr>
            <a:r>
              <a:rPr sz="1300" b="0">
                <a:solidFill>
                  <a:srgbClr val="92400E"/>
                </a:solidFill>
                <a:latin typeface="Inter"/>
              </a:rPr>
              <a:t>Nebius key set on the server, then a live Nemotron check and captures for the Investigator slides.</a:t>
            </a:r>
          </a:p>
          <a:p>
            <a:pPr algn="l">
              <a:spcAft>
                <a:spcPts val="800"/>
              </a:spcAft>
            </a:pPr>
            <a:r>
              <a:rPr sz="1300" b="0">
                <a:solidFill>
                  <a:srgbClr val="92400E"/>
                </a:solidFill>
                <a:latin typeface="Inter"/>
              </a:rPr>
              <a:t>Decision on whether judges can use field reports and the Investigator.</a:t>
            </a:r>
          </a:p>
          <a:p>
            <a:pPr algn="l">
              <a:spcAft>
                <a:spcPts val="800"/>
              </a:spcAft>
            </a:pPr>
            <a:r>
              <a:rPr sz="1300" b="0">
                <a:solidFill>
                  <a:srgbClr val="92400E"/>
                </a:solidFill>
                <a:latin typeface="Inter"/>
              </a:rPr>
              <a:t>Demo video, under three minutes, uploaded to YouTube and linked on the form.</a:t>
            </a:r>
          </a:p>
          <a:p>
            <a:pPr algn="l">
              <a:spcAft>
                <a:spcPts val="800"/>
              </a:spcAft>
            </a:pPr>
            <a:r>
              <a:rPr sz="1300" b="0">
                <a:solidFill>
                  <a:srgbClr val="92400E"/>
                </a:solidFill>
                <a:latin typeface="Inter"/>
              </a:rPr>
              <a:t>Public repository under Apache-2.0 with a sanitized history scan.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194560"/>
            <a:ext cx="6858000" cy="1280160"/>
          </a:xfrm>
          <a:prstGeom prst="rect">
            <a:avLst/>
          </a:prstGeom>
          <a:noFill/>
        </p:spPr>
        <p:txBody>
          <a:bodyPr wrap="square" anchor="t" lIns="18288" rIns="18288" tIns="18288" bIns="18288">
            <a:spAutoFit/>
          </a:bodyPr>
          <a:lstStyle/>
          <a:p>
            <a:pPr algn="l">
              <a:spcAft>
                <a:spcPts val="0"/>
              </a:spcAft>
            </a:pPr>
            <a:r>
              <a:rPr sz="4000" b="1">
                <a:solidFill>
                  <a:srgbClr val="4F46E5"/>
                </a:solidFill>
                <a:latin typeface="Inter"/>
              </a:rPr>
              <a:t>The right responder.</a:t>
            </a:r>
          </a:p>
          <a:p>
            <a:pPr algn="l">
              <a:spcAft>
                <a:spcPts val="0"/>
              </a:spcAft>
            </a:pPr>
            <a:r>
              <a:rPr sz="4000" b="1">
                <a:solidFill>
                  <a:srgbClr val="4F46E5"/>
                </a:solidFill>
                <a:latin typeface="Inter"/>
              </a:rPr>
              <a:t>The right fix.</a:t>
            </a:r>
          </a:p>
        </p:txBody>
      </p:sp>
      <p:sp>
        <p:nvSpPr>
          <p:cNvPr id="4" name="TextBox 3"/>
          <p:cNvSpPr txBox="1"/>
          <p:nvPr/>
        </p:nvSpPr>
        <p:spPr>
          <a:xfrm>
            <a:off x="548640" y="3566160"/>
            <a:ext cx="6400800" cy="914400"/>
          </a:xfrm>
          <a:prstGeom prst="rect">
            <a:avLst/>
          </a:prstGeom>
          <a:noFill/>
        </p:spPr>
        <p:txBody>
          <a:bodyPr wrap="square" anchor="t" lIns="18288" rIns="18288" tIns="18288" bIns="18288">
            <a:spAutoFit/>
          </a:bodyPr>
          <a:lstStyle/>
          <a:p>
            <a:pPr algn="l">
              <a:spcAft>
                <a:spcPts val="0"/>
              </a:spcAft>
            </a:pPr>
            <a:r>
              <a:rPr sz="2000" b="1">
                <a:solidFill>
                  <a:srgbClr val="111827"/>
                </a:solidFill>
                <a:latin typeface="Inter"/>
              </a:rPr>
              <a:t>Runs autonomously. Supervised by your control room.</a:t>
            </a:r>
          </a:p>
        </p:txBody>
      </p:sp>
      <p:sp>
        <p:nvSpPr>
          <p:cNvPr id="5" name="TextBox 4"/>
          <p:cNvSpPr txBox="1"/>
          <p:nvPr/>
        </p:nvSpPr>
        <p:spPr>
          <a:xfrm>
            <a:off x="548640" y="4297680"/>
            <a:ext cx="6858000" cy="914400"/>
          </a:xfrm>
          <a:prstGeom prst="rect">
            <a:avLst/>
          </a:prstGeom>
          <a:noFill/>
        </p:spPr>
        <p:txBody>
          <a:bodyPr wrap="square" anchor="t" lIns="18288" rIns="18288" tIns="18288" bIns="18288">
            <a:spAutoFit/>
          </a:bodyPr>
          <a:lstStyle/>
          <a:p>
            <a:pPr algn="l">
              <a:spcAft>
                <a:spcPts val="400"/>
              </a:spcAft>
            </a:pPr>
            <a:r>
              <a:rPr sz="1400" b="0">
                <a:solidFill>
                  <a:srgbClr val="475467"/>
                </a:solidFill>
                <a:latin typeface="Inter"/>
              </a:rPr>
              <a:t>Built on Nebius Token Factory with NVIDIA Nemotron models.</a:t>
            </a:r>
          </a:p>
          <a:p>
            <a:pPr algn="l">
              <a:spcAft>
                <a:spcPts val="400"/>
              </a:spcAft>
            </a:pPr>
            <a:r>
              <a:rPr sz="1400" b="0">
                <a:solidFill>
                  <a:srgbClr val="475467"/>
                </a:solidFill>
                <a:latin typeface="Inter"/>
              </a:rPr>
              <a:t>Apache-2.0 · public repository · 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