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is a dispatch agent for operations control rooms, built for the Nebius x NVIDIA hackathon on Nemotron models through Nebius Token Factory. Technicians describe faults in their own words; code establishes the facts; Nemotron ranks and drafts; people approve the decisions that matter.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Proximity is easy to compute and easy to defend, but it ignores fit. What matters is who is likely to resolve this class of issue on the first attempt, with which procedure, and whether the shift can cover the backlog. Reports also arrive as free text, not clean tickets.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project existed before this hackathon: it was built for an earlier AMD hackathon. We claim only the work after baseline 1e1c69c. The full disclosure, with commit counts, is HACKATHON_CHANGES.md in the repository.</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field report is untrusted text. The hazard and input policy runs in code before any model call. Nemotron 3 Super ranks interpretations from candidates the code resolved; the operator confirms the symptom. Nothing is dispatched from this step.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control room puts the floor map, the issue queue, the dispatch context, the event feed, the Issue Pareto and analytics on separate monitors (/rooms/&lt;room&gt;/display/&lt;screen&gt;). Staffing, station KPIs, loadboards and field reports are panels too. The operator console, with override and approval controls, is the seventh screen. Captured live from a local build on the synthetic plant-1 month.</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paths share one dispatch gate. Ordinary dispatch: an issue is raised, Super ranks eligible responders, an offer goes out, and the responder accepts or rejects. Field-report investigation: a technician's report is confirmed by the operator, Ultra runs the bounded investigation, and a person approves the recommended responder and fix before any assignment. The outcome feeds observed history. Overtime is a separate branch: Super ranks lawful options and central command decides.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Code owns time, facts, eligibility, baselines, the dispatch gate and every mutation. Models rank or propose; they never act. The ranker receives application-owned evidence and ranks only the candidates it is given. The Investigator quotes only what its tools returned, and the validator checks every citation. The planner proposes synthetic incidents; the validator checks each proposal. If a model is slow, rate-limited or returns invalid output, the deterministic path takes over.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Investigator runs Nemotron 3 Ultra in a bounded tool loop. Nemotron 3 Super ranks the interpretations first. Ultra reads past cases, catalog procedures and responder qualifications through six read-only tools. Every citation must be a record a tool returned. A person confirms the symptom, and the single dispatch gate accepts the assignment only after approval.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reports are data, not instructions. The policy in code decides what reaches the model, and the validators check what comes back. We do not claim that Nemotron verifies its own prose, and the controls are finite: a bounded lexicon and validators, not a proof of semantic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wanted the system to show Compass being wrong as well as right. Hidden truth plus baselines make its choices inspectable. Disagreement alone does not prove better outcomes.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measurements, both dated 2026-10-19 and both small samples. The generic probe uses one ranking prompt, five runs each. The Compass packets are the app's own ranking and planner packets, five samples each. Lightning truncated its reasoning at 1,024 tokens with thinking on, so thinking is switched off for it. These are validity results, not outcome accuracy or uptime guarantees.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Paired replay on 60 held-out issues: the same responders, state and random draws in every arm, only the first fix differs. Run B and a repeat on the same code, run C, are both shown. In run B the Investigator ties the deterministic order; in run C it fell back to the deterministic path 23 times, and it did not beat the deterministic order. This is not a significance claim and does not show a gain over the deterministic order.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Evaluation run 3 of the Investigator on Token Factory, after the security fixes. Citation validity counts only references the tools returned; it does not show that a rationale follows from a case. Accepted, repaired, deterministic and raw-invalid counts overlap and are not additive. Latency includes deterministic and injected-provider cases.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Operator approval is the default. Legal limits are configured limits checked in code before the ranking sees an option. Rooms can opt into an audited auto-approve policy; the default is operator approval.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Pareto answers the supervisor's first question: which few problems cost us most of the time. The bars are September 2026 issues: 1,280, 1,059 and 665, out of 3,004. It describes recorded work; it does not rank people or claim causation.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month is synthetic and was generated offline with the app's own engine and deterministic fallbacks, so it is not a benchmark of the models. The 25% is the full-history reopen rate on the Analytics screen, over 4,682 repair attempts; it is not a September figure. The 78% is September: the top two classes account for 2,339 of 3,004 issues.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role picks its own model in Settings, and the model name appears next to the calls it makes. Prices are the Token Factory list prices as recorded on 2026-10-19, in US dollars per million tokens. Ask Compass uses the Super assistant role.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Judges sign in with a valid username and the shared guest password. Each username gets its own workplace, copied from the full plant-1 history. New usernames close after ten registered workplaces, to limit bot sign-ups. Field reports and the Investigator are open to guest workplaces, paid from the sponsor's Nebius tokens.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that matters is tested without spending API credits. The browser tests force provider failures to prove the fallbacks. The hermetic suite passed 635 of 635 on 2026-10-26; the Chromium count is the last recorded run.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 item: the amber card lists what must be finished before filing. Remove it from the final deck.</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ResponseCompass: the right responder, the right fix, supervised by your control room. Built on Nemotron models through Nebius Token Factory. Repository and demo video links are added at filing.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5.xml"/><Relationship Id="rId4"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9.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cover.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4572000"/>
            <a:ext cx="5120640" cy="822960"/>
          </a:xfrm>
          <a:prstGeom prst="rect">
            <a:avLst/>
          </a:prstGeom>
          <a:noFill/>
        </p:spPr>
        <p:txBody>
          <a:bodyPr wrap="square" anchor="t" lIns="18288" rIns="18288" tIns="18288" bIns="18288">
            <a:spAutoFit/>
          </a:bodyPr>
          <a:lstStyle/>
          <a:p>
            <a:pPr algn="l">
              <a:spcAft>
                <a:spcPts val="400"/>
              </a:spcAft>
            </a:pPr>
            <a:r>
              <a:rPr sz="1300" b="0">
                <a:solidFill>
                  <a:srgbClr val="667085"/>
                </a:solidFill>
                <a:latin typeface="Inter"/>
              </a:rPr>
              <a:t>Nebius x NVIDIA Global AI Hackathon · Best Apps and Agents</a:t>
            </a:r>
          </a:p>
          <a:p>
            <a:pPr algn="l">
              <a:spcAft>
                <a:spcPts val="400"/>
              </a:spcAft>
            </a:pPr>
            <a:r>
              <a:rPr sz="1300" b="0">
                <a:solidFill>
                  <a:srgbClr val="667085"/>
                </a:solidFill>
                <a:latin typeface="Inter"/>
              </a:rPr>
              <a:t>Nemotron 3 Ultra, Nemotron 3 Super and Nemotron 3.5 Lightning on Nebius Token Factory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THE PROBLEM</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Closest is not best</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2</a:t>
            </a:r>
          </a:p>
        </p:txBody>
      </p:sp>
      <p:sp>
        <p:nvSpPr>
          <p:cNvPr id="6" name="Oval 5"/>
          <p:cNvSpPr/>
          <p:nvPr/>
        </p:nvSpPr>
        <p:spPr>
          <a:xfrm>
            <a:off x="548640" y="173736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7" name="TextBox 6"/>
          <p:cNvSpPr txBox="1"/>
          <p:nvPr/>
        </p:nvSpPr>
        <p:spPr>
          <a:xfrm>
            <a:off x="1207007" y="1664207"/>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Nearest is not most experienced.</a:t>
            </a:r>
          </a:p>
        </p:txBody>
      </p:sp>
      <p:sp>
        <p:nvSpPr>
          <p:cNvPr id="8" name="TextBox 7"/>
          <p:cNvSpPr txBox="1"/>
          <p:nvPr/>
        </p:nvSpPr>
        <p:spPr>
          <a:xfrm>
            <a:off x="1207007" y="198424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The closest technician may never have fixed this fault.</a:t>
            </a:r>
          </a:p>
        </p:txBody>
      </p:sp>
      <p:sp>
        <p:nvSpPr>
          <p:cNvPr id="9" name="Oval 8"/>
          <p:cNvSpPr/>
          <p:nvPr/>
        </p:nvSpPr>
        <p:spPr>
          <a:xfrm>
            <a:off x="548640" y="283464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0" name="TextBox 9"/>
          <p:cNvSpPr txBox="1"/>
          <p:nvPr/>
        </p:nvSpPr>
        <p:spPr>
          <a:xfrm>
            <a:off x="1207007" y="276148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The first fix is often a guess.</a:t>
            </a:r>
          </a:p>
        </p:txBody>
      </p:sp>
      <p:sp>
        <p:nvSpPr>
          <p:cNvPr id="11" name="TextBox 10"/>
          <p:cNvSpPr txBox="1"/>
          <p:nvPr/>
        </p:nvSpPr>
        <p:spPr>
          <a:xfrm>
            <a:off x="1207007" y="308152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A wrong guess means a reopened issue and another trip.</a:t>
            </a:r>
          </a:p>
        </p:txBody>
      </p:sp>
      <p:sp>
        <p:nvSpPr>
          <p:cNvPr id="12" name="Oval 11"/>
          <p:cNvSpPr/>
          <p:nvPr/>
        </p:nvSpPr>
        <p:spPr>
          <a:xfrm>
            <a:off x="548640" y="393192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3" name="TextBox 12"/>
          <p:cNvSpPr txBox="1"/>
          <p:nvPr/>
        </p:nvSpPr>
        <p:spPr>
          <a:xfrm>
            <a:off x="1207007" y="385876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Reports arrive as free text.</a:t>
            </a:r>
          </a:p>
        </p:txBody>
      </p:sp>
      <p:sp>
        <p:nvSpPr>
          <p:cNvPr id="14" name="TextBox 13"/>
          <p:cNvSpPr txBox="1"/>
          <p:nvPr/>
        </p:nvSpPr>
        <p:spPr>
          <a:xfrm>
            <a:off x="1207007" y="417880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"The transfer keeps stopping short" must become an equipment, a symptom and a set of past cases.</a:t>
            </a:r>
          </a:p>
        </p:txBody>
      </p:sp>
      <p:sp>
        <p:nvSpPr>
          <p:cNvPr id="15" name="Oval 14"/>
          <p:cNvSpPr/>
          <p:nvPr/>
        </p:nvSpPr>
        <p:spPr>
          <a:xfrm>
            <a:off x="548640" y="50292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04</a:t>
            </a:r>
          </a:p>
        </p:txBody>
      </p:sp>
      <p:sp>
        <p:nvSpPr>
          <p:cNvPr id="16" name="TextBox 15"/>
          <p:cNvSpPr txBox="1"/>
          <p:nvPr/>
        </p:nvSpPr>
        <p:spPr>
          <a:xfrm>
            <a:off x="1207007" y="495604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Backlogs force overtime calls.</a:t>
            </a:r>
          </a:p>
        </p:txBody>
      </p:sp>
      <p:sp>
        <p:nvSpPr>
          <p:cNvPr id="17" name="TextBox 16"/>
          <p:cNvSpPr txBox="1"/>
          <p:nvPr/>
        </p:nvSpPr>
        <p:spPr>
          <a:xfrm>
            <a:off x="1207007" y="527608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Who may legally stay on, and who covers the most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WHAT IS NEW FOR NEBIUS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Existing foundation, new Nebius work</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The control-room product existed before this entry. The Nebius work is listed on the right.</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3</a:t>
            </a:r>
          </a:p>
        </p:txBody>
      </p:sp>
      <p:sp>
        <p:nvSpPr>
          <p:cNvPr id="7" name="Rounded Rectangle 6"/>
          <p:cNvSpPr/>
          <p:nvPr/>
        </p:nvSpPr>
        <p:spPr>
          <a:xfrm>
            <a:off x="548640" y="1828800"/>
            <a:ext cx="5212080" cy="41148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466344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Existing foundation (before baseline 1e1c69c)</a:t>
            </a:r>
          </a:p>
        </p:txBody>
      </p:sp>
      <p:sp>
        <p:nvSpPr>
          <p:cNvPr id="9" name="TextBox 8"/>
          <p:cNvSpPr txBox="1"/>
          <p:nvPr/>
        </p:nvSpPr>
        <p:spPr>
          <a:xfrm>
            <a:off x="822960" y="2514600"/>
            <a:ext cx="4663440" cy="3291840"/>
          </a:xfrm>
          <a:prstGeom prst="rect">
            <a:avLst/>
          </a:prstGeom>
          <a:noFill/>
        </p:spPr>
        <p:txBody>
          <a:bodyPr wrap="square" anchor="t" lIns="18288" rIns="18288" tIns="18288" bIns="18288">
            <a:spAutoFit/>
          </a:bodyPr>
          <a:lstStyle/>
          <a:p>
            <a:pPr algn="l">
              <a:spcAft>
                <a:spcPts val="800"/>
              </a:spcAft>
            </a:pPr>
            <a:r>
              <a:rPr sz="1300" b="0">
                <a:solidFill>
                  <a:srgbClr val="475467"/>
                </a:solidFill>
                <a:latin typeface="Inter"/>
              </a:rPr>
              <a:t>A persistent simulated control room with deterministic eligibility, metrics and outcomes.</a:t>
            </a:r>
          </a:p>
          <a:p>
            <a:pPr algn="l">
              <a:spcAft>
                <a:spcPts val="800"/>
              </a:spcAft>
            </a:pPr>
            <a:r>
              <a:rPr sz="1300" b="0">
                <a:solidFill>
                  <a:srgbClr val="475467"/>
                </a:solidFill>
                <a:latin typeface="Inter"/>
              </a:rPr>
              <a:t>Wall-display screens, operator console and Offline mode.</a:t>
            </a:r>
          </a:p>
          <a:p>
            <a:pPr algn="l">
              <a:spcAft>
                <a:spcPts val="800"/>
              </a:spcAft>
            </a:pPr>
            <a:r>
              <a:rPr sz="1300" b="0">
                <a:solidFill>
                  <a:srgbClr val="475467"/>
                </a:solidFill>
                <a:latin typeface="Inter"/>
              </a:rPr>
              <a:t>Hidden responder skill and hidden fault cause, never shown to a model or screen.</a:t>
            </a:r>
          </a:p>
          <a:p>
            <a:pPr algn="l">
              <a:spcAft>
                <a:spcPts val="800"/>
              </a:spcAft>
            </a:pPr>
            <a:r>
              <a:rPr sz="1300" b="0">
                <a:solidFill>
                  <a:srgbClr val="475467"/>
                </a:solidFill>
                <a:latin typeface="Inter"/>
              </a:rPr>
              <a:t>Analytics, Issue Pareto and baselines.</a:t>
            </a:r>
          </a:p>
          <a:p>
            <a:pPr algn="l">
              <a:spcAft>
                <a:spcPts val="800"/>
              </a:spcAft>
            </a:pPr>
            <a:r>
              <a:rPr sz="1300" b="0">
                <a:solidFill>
                  <a:srgbClr val="475467"/>
                </a:solidFill>
                <a:latin typeface="Inter"/>
              </a:rPr>
              <a:t>Built for an earlier AMD hackathon; that entry is disclosed in the repository.</a:t>
            </a:r>
          </a:p>
        </p:txBody>
      </p:sp>
      <p:sp>
        <p:nvSpPr>
          <p:cNvPr id="10" name="Rounded Rectangle 9"/>
          <p:cNvSpPr/>
          <p:nvPr/>
        </p:nvSpPr>
        <p:spPr>
          <a:xfrm>
            <a:off x="6035040" y="1828800"/>
            <a:ext cx="5577840" cy="411480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09360" y="2011680"/>
            <a:ext cx="5029200" cy="365760"/>
          </a:xfrm>
          <a:prstGeom prst="rect">
            <a:avLst/>
          </a:prstGeom>
          <a:noFill/>
        </p:spPr>
        <p:txBody>
          <a:bodyPr wrap="square" anchor="t" lIns="18288" rIns="18288" tIns="18288" bIns="18288">
            <a:spAutoFit/>
          </a:bodyPr>
          <a:lstStyle/>
          <a:p>
            <a:pPr algn="l">
              <a:spcAft>
                <a:spcPts val="0"/>
              </a:spcAft>
            </a:pPr>
            <a:r>
              <a:rPr sz="1500" b="1">
                <a:solidFill>
                  <a:srgbClr val="FFFFFF"/>
                </a:solidFill>
                <a:latin typeface="Inter"/>
              </a:rPr>
              <a:t>Added for Nebius (after baseline 1e1c69c)</a:t>
            </a:r>
          </a:p>
        </p:txBody>
      </p:sp>
      <p:sp>
        <p:nvSpPr>
          <p:cNvPr id="12" name="TextBox 11"/>
          <p:cNvSpPr txBox="1"/>
          <p:nvPr/>
        </p:nvSpPr>
        <p:spPr>
          <a:xfrm>
            <a:off x="6309360" y="2514600"/>
            <a:ext cx="5029200" cy="3291840"/>
          </a:xfrm>
          <a:prstGeom prst="rect">
            <a:avLst/>
          </a:prstGeom>
          <a:noFill/>
        </p:spPr>
        <p:txBody>
          <a:bodyPr wrap="square" anchor="t" lIns="18288" rIns="18288" tIns="18288" bIns="18288">
            <a:spAutoFit/>
          </a:bodyPr>
          <a:lstStyle/>
          <a:p>
            <a:pPr algn="l">
              <a:spcAft>
                <a:spcPts val="800"/>
              </a:spcAft>
            </a:pPr>
            <a:r>
              <a:rPr sz="1300" b="0">
                <a:solidFill>
                  <a:srgbClr val="E0E7FF"/>
                </a:solidFill>
                <a:latin typeface="Inter"/>
              </a:rPr>
              <a:t>Field reports and the Compass Investigator: Nemotron 3 Ultra in a bounded, read-only tool loop.</a:t>
            </a:r>
          </a:p>
          <a:p>
            <a:pPr algn="l">
              <a:spcAft>
                <a:spcPts val="800"/>
              </a:spcAft>
            </a:pPr>
            <a:r>
              <a:rPr sz="1300" b="0">
                <a:solidFill>
                  <a:srgbClr val="E0E7FF"/>
                </a:solidFill>
                <a:latin typeface="Inter"/>
              </a:rPr>
              <a:t>Citation, catalog and safety checks in code, and a single dispatch gate on every assignment.</a:t>
            </a:r>
          </a:p>
          <a:p>
            <a:pPr algn="l">
              <a:spcAft>
                <a:spcPts val="800"/>
              </a:spcAft>
            </a:pPr>
            <a:r>
              <a:rPr sz="1300" b="0">
                <a:solidFill>
                  <a:srgbClr val="E0E7FF"/>
                </a:solidFill>
                <a:latin typeface="Inter"/>
              </a:rPr>
              <a:t>Nebius Token Factory provider, with a Nemotron model chosen per role and per-model thinking control.</a:t>
            </a:r>
          </a:p>
          <a:p>
            <a:pPr algn="l">
              <a:spcAft>
                <a:spcPts val="800"/>
              </a:spcAft>
            </a:pPr>
            <a:r>
              <a:rPr sz="1300" b="0">
                <a:solidFill>
                  <a:srgbClr val="E0E7FF"/>
                </a:solidFill>
                <a:latin typeface="Inter"/>
              </a:rPr>
              <a:t>Paired evaluation harness, usage ledger and budget, and the Investigator checks on this deck.</a:t>
            </a:r>
          </a:p>
          <a:p>
            <a:pPr algn="l">
              <a:spcAft>
                <a:spcPts val="800"/>
              </a:spcAft>
            </a:pPr>
            <a:r>
              <a:rPr sz="1300" b="0">
                <a:solidFill>
                  <a:srgbClr val="E0E7FF"/>
                </a:solidFill>
                <a:latin typeface="Inter"/>
              </a:rPr>
              <a:t>Guest workplaces with a per-username workplace and a ten-username cap.</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FIELD REPORTS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A report, not a ticket</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Technicians describe faults in their own words. Code turns the words into facts; the model only ranks.</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4</a:t>
            </a:r>
          </a:p>
        </p:txBody>
      </p:sp>
      <p:sp>
        <p:nvSpPr>
          <p:cNvPr id="7" name="Rounded Rectangle 6"/>
          <p:cNvSpPr/>
          <p:nvPr/>
        </p:nvSpPr>
        <p:spPr>
          <a:xfrm>
            <a:off x="548640" y="1828800"/>
            <a:ext cx="5394960"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011680"/>
            <a:ext cx="4846320" cy="274320"/>
          </a:xfrm>
          <a:prstGeom prst="rect">
            <a:avLst/>
          </a:prstGeom>
          <a:noFill/>
        </p:spPr>
        <p:txBody>
          <a:bodyPr wrap="square" anchor="t" lIns="18288" rIns="18288" tIns="18288" bIns="18288">
            <a:spAutoFit/>
          </a:bodyPr>
          <a:lstStyle/>
          <a:p>
            <a:pPr algn="l">
              <a:spcAft>
                <a:spcPts val="0"/>
              </a:spcAft>
            </a:pPr>
            <a:r>
              <a:rPr sz="1000" b="1">
                <a:solidFill>
                  <a:srgbClr val="667085"/>
                </a:solidFill>
                <a:latin typeface="Inter"/>
              </a:rPr>
              <a:t>FIELD REPORT · UNTRUSTED TEXT</a:t>
            </a:r>
          </a:p>
        </p:txBody>
      </p:sp>
      <p:sp>
        <p:nvSpPr>
          <p:cNvPr id="9" name="TextBox 8"/>
          <p:cNvSpPr txBox="1"/>
          <p:nvPr/>
        </p:nvSpPr>
        <p:spPr>
          <a:xfrm>
            <a:off x="822960" y="2331720"/>
            <a:ext cx="4937760" cy="1097280"/>
          </a:xfrm>
          <a:prstGeom prst="rect">
            <a:avLst/>
          </a:prstGeom>
          <a:noFill/>
        </p:spPr>
        <p:txBody>
          <a:bodyPr wrap="square" anchor="t" lIns="18288" rIns="18288" tIns="18288" bIns="18288">
            <a:spAutoFit/>
          </a:bodyPr>
          <a:lstStyle/>
          <a:p>
            <a:pPr algn="l">
              <a:spcAft>
                <a:spcPts val="0"/>
              </a:spcAft>
            </a:pPr>
            <a:r>
              <a:rPr sz="1800" b="1">
                <a:solidFill>
                  <a:srgbClr val="111827"/>
                </a:solidFill>
                <a:latin typeface="Inter"/>
              </a:rPr>
              <a:t>"Station 12: the transfer keeps stopping short of the end position every few cycles."</a:t>
            </a:r>
          </a:p>
        </p:txBody>
      </p:sp>
      <p:sp>
        <p:nvSpPr>
          <p:cNvPr id="10" name="Rounded Rectangle 9"/>
          <p:cNvSpPr/>
          <p:nvPr/>
        </p:nvSpPr>
        <p:spPr>
          <a:xfrm>
            <a:off x="548640" y="4069080"/>
            <a:ext cx="2286000" cy="9601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Technician report</a:t>
            </a:r>
          </a:p>
          <a:p>
            <a:pPr algn="ctr"/>
            <a:r>
              <a:rPr sz="950" b="0">
                <a:solidFill>
                  <a:srgbClr val="475467"/>
                </a:solidFill>
                <a:latin typeface="Inter"/>
              </a:rPr>
              <a:t>free text, typed on the floor</a:t>
            </a:r>
          </a:p>
        </p:txBody>
      </p:sp>
      <p:sp>
        <p:nvSpPr>
          <p:cNvPr id="11" name="Rounded Rectangle 10"/>
          <p:cNvSpPr/>
          <p:nvPr/>
        </p:nvSpPr>
        <p:spPr>
          <a:xfrm>
            <a:off x="3474720" y="4069080"/>
            <a:ext cx="2286000" cy="960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Code resolves facts</a:t>
            </a:r>
          </a:p>
          <a:p>
            <a:pPr algn="ctr"/>
            <a:r>
              <a:rPr sz="950" b="0">
                <a:solidFill>
                  <a:srgbClr val="475467"/>
                </a:solidFill>
                <a:latin typeface="Inter"/>
              </a:rPr>
              <a:t>equipment, history, hazard policy</a:t>
            </a:r>
          </a:p>
        </p:txBody>
      </p:sp>
      <p:sp>
        <p:nvSpPr>
          <p:cNvPr id="12" name="Rounded Rectangle 11"/>
          <p:cNvSpPr/>
          <p:nvPr/>
        </p:nvSpPr>
        <p:spPr>
          <a:xfrm>
            <a:off x="6400800" y="4069080"/>
            <a:ext cx="2286000" cy="9601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Nemotron 3 Super</a:t>
            </a:r>
          </a:p>
          <a:p>
            <a:pPr algn="ctr"/>
            <a:r>
              <a:rPr sz="950" b="0">
                <a:solidFill>
                  <a:srgbClr val="E0E7FF"/>
                </a:solidFill>
                <a:latin typeface="Inter"/>
              </a:rPr>
              <a:t>ranks up to 12 interpretations</a:t>
            </a:r>
          </a:p>
        </p:txBody>
      </p:sp>
      <p:sp>
        <p:nvSpPr>
          <p:cNvPr id="13" name="Rounded Rectangle 12"/>
          <p:cNvSpPr/>
          <p:nvPr/>
        </p:nvSpPr>
        <p:spPr>
          <a:xfrm>
            <a:off x="9326880" y="4069080"/>
            <a:ext cx="2286000" cy="9601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Operator confirms</a:t>
            </a:r>
          </a:p>
          <a:p>
            <a:pPr algn="ctr"/>
            <a:r>
              <a:rPr sz="950" b="0">
                <a:solidFill>
                  <a:srgbClr val="475467"/>
                </a:solidFill>
                <a:latin typeface="Inter"/>
              </a:rPr>
              <a:t>symptom and equipment, by a person</a:t>
            </a:r>
          </a:p>
        </p:txBody>
      </p:sp>
      <p:cxnSp>
        <p:nvCxnSpPr>
          <p:cNvPr id="14" name="Connector 13"/>
          <p:cNvCxnSpPr>
            <a:stCxn id="10" idx="3"/>
            <a:endCxn id="11" idx="1"/>
          </p:cNvCxnSpPr>
          <p:nvPr/>
        </p:nvCxnSpPr>
        <p:spPr>
          <a:xfrm flipV="1">
            <a:off x="2834640" y="4549140"/>
            <a:ext cx="64008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a:stCxn id="11" idx="3"/>
            <a:endCxn id="12" idx="1"/>
          </p:cNvCxnSpPr>
          <p:nvPr/>
        </p:nvCxnSpPr>
        <p:spPr>
          <a:xfrm flipV="1">
            <a:off x="5760720" y="4549140"/>
            <a:ext cx="64008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a:stCxn id="12" idx="3"/>
            <a:endCxn id="13" idx="1"/>
          </p:cNvCxnSpPr>
          <p:nvPr/>
        </p:nvCxnSpPr>
        <p:spPr>
          <a:xfrm flipV="1">
            <a:off x="8686800" y="4549140"/>
            <a:ext cx="64008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548640" y="5349240"/>
            <a:ext cx="11064240" cy="54864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Interpretations come only from candidates code resolved from the report. A report whose equipment does not resolve is not investigated. Without enough history, the Investigator abstains rather than guesses.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CONTROL ROOM</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One agent, many screens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Each panel runs full screen on its own monitor; the operator console keeps the controls.</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5</a:t>
            </a:r>
          </a:p>
        </p:txBody>
      </p:sp>
      <p:sp>
        <p:nvSpPr>
          <p:cNvPr id="7" name="Rounded Rectangle 6"/>
          <p:cNvSpPr/>
          <p:nvPr/>
        </p:nvSpPr>
        <p:spPr>
          <a:xfrm>
            <a:off x="475488" y="175564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map.png"/>
          <p:cNvPicPr>
            <a:picLocks noChangeAspect="1"/>
          </p:cNvPicPr>
          <p:nvPr/>
        </p:nvPicPr>
        <p:blipFill>
          <a:blip r:embed="rId4"/>
          <a:stretch>
            <a:fillRect/>
          </a:stretch>
        </p:blipFill>
        <p:spPr>
          <a:xfrm>
            <a:off x="548640" y="1828800"/>
            <a:ext cx="3429000" cy="1928812"/>
          </a:xfrm>
          <a:prstGeom prst="rect">
            <a:avLst/>
          </a:prstGeom>
        </p:spPr>
      </p:pic>
      <p:sp>
        <p:nvSpPr>
          <p:cNvPr id="9" name="Rounded Rectangle 8"/>
          <p:cNvSpPr/>
          <p:nvPr/>
        </p:nvSpPr>
        <p:spPr>
          <a:xfrm>
            <a:off x="2560320" y="339185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Floor map</a:t>
            </a:r>
          </a:p>
        </p:txBody>
      </p:sp>
      <p:sp>
        <p:nvSpPr>
          <p:cNvPr id="10" name="Rounded Rectangle 9"/>
          <p:cNvSpPr/>
          <p:nvPr/>
        </p:nvSpPr>
        <p:spPr>
          <a:xfrm>
            <a:off x="4224527" y="175564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screen-issues.png"/>
          <p:cNvPicPr>
            <a:picLocks noChangeAspect="1"/>
          </p:cNvPicPr>
          <p:nvPr/>
        </p:nvPicPr>
        <p:blipFill>
          <a:blip r:embed="rId5"/>
          <a:stretch>
            <a:fillRect/>
          </a:stretch>
        </p:blipFill>
        <p:spPr>
          <a:xfrm>
            <a:off x="4297679" y="1828800"/>
            <a:ext cx="3429000" cy="1928812"/>
          </a:xfrm>
          <a:prstGeom prst="rect">
            <a:avLst/>
          </a:prstGeom>
        </p:spPr>
      </p:pic>
      <p:sp>
        <p:nvSpPr>
          <p:cNvPr id="12" name="Rounded Rectangle 11"/>
          <p:cNvSpPr/>
          <p:nvPr/>
        </p:nvSpPr>
        <p:spPr>
          <a:xfrm>
            <a:off x="6309359" y="339185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Issues</a:t>
            </a:r>
          </a:p>
        </p:txBody>
      </p:sp>
      <p:sp>
        <p:nvSpPr>
          <p:cNvPr id="13" name="Rounded Rectangle 12"/>
          <p:cNvSpPr/>
          <p:nvPr/>
        </p:nvSpPr>
        <p:spPr>
          <a:xfrm>
            <a:off x="7973567" y="175564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creen-dispatch.png"/>
          <p:cNvPicPr>
            <a:picLocks noChangeAspect="1"/>
          </p:cNvPicPr>
          <p:nvPr/>
        </p:nvPicPr>
        <p:blipFill>
          <a:blip r:embed="rId6"/>
          <a:stretch>
            <a:fillRect/>
          </a:stretch>
        </p:blipFill>
        <p:spPr>
          <a:xfrm>
            <a:off x="8046719" y="1828800"/>
            <a:ext cx="3429000" cy="1928812"/>
          </a:xfrm>
          <a:prstGeom prst="rect">
            <a:avLst/>
          </a:prstGeom>
        </p:spPr>
      </p:pic>
      <p:sp>
        <p:nvSpPr>
          <p:cNvPr id="15" name="Rounded Rectangle 14"/>
          <p:cNvSpPr/>
          <p:nvPr/>
        </p:nvSpPr>
        <p:spPr>
          <a:xfrm>
            <a:off x="10058399" y="339185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Dispatch</a:t>
            </a:r>
          </a:p>
        </p:txBody>
      </p:sp>
      <p:sp>
        <p:nvSpPr>
          <p:cNvPr id="16" name="Rounded Rectangle 15"/>
          <p:cNvSpPr/>
          <p:nvPr/>
        </p:nvSpPr>
        <p:spPr>
          <a:xfrm>
            <a:off x="475488" y="399592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reen-events.png"/>
          <p:cNvPicPr>
            <a:picLocks noChangeAspect="1"/>
          </p:cNvPicPr>
          <p:nvPr/>
        </p:nvPicPr>
        <p:blipFill>
          <a:blip r:embed="rId7"/>
          <a:stretch>
            <a:fillRect/>
          </a:stretch>
        </p:blipFill>
        <p:spPr>
          <a:xfrm>
            <a:off x="548640" y="4069080"/>
            <a:ext cx="3429000" cy="1928812"/>
          </a:xfrm>
          <a:prstGeom prst="rect">
            <a:avLst/>
          </a:prstGeom>
        </p:spPr>
      </p:pic>
      <p:sp>
        <p:nvSpPr>
          <p:cNvPr id="18" name="Rounded Rectangle 17"/>
          <p:cNvSpPr/>
          <p:nvPr/>
        </p:nvSpPr>
        <p:spPr>
          <a:xfrm>
            <a:off x="2560320" y="563213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Event feed</a:t>
            </a:r>
          </a:p>
        </p:txBody>
      </p:sp>
      <p:sp>
        <p:nvSpPr>
          <p:cNvPr id="19" name="Rounded Rectangle 18"/>
          <p:cNvSpPr/>
          <p:nvPr/>
        </p:nvSpPr>
        <p:spPr>
          <a:xfrm>
            <a:off x="4224527" y="399592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creen-pareto.png"/>
          <p:cNvPicPr>
            <a:picLocks noChangeAspect="1"/>
          </p:cNvPicPr>
          <p:nvPr/>
        </p:nvPicPr>
        <p:blipFill>
          <a:blip r:embed="rId8"/>
          <a:stretch>
            <a:fillRect/>
          </a:stretch>
        </p:blipFill>
        <p:spPr>
          <a:xfrm>
            <a:off x="4297679" y="4069080"/>
            <a:ext cx="3429000" cy="1928812"/>
          </a:xfrm>
          <a:prstGeom prst="rect">
            <a:avLst/>
          </a:prstGeom>
        </p:spPr>
      </p:pic>
      <p:sp>
        <p:nvSpPr>
          <p:cNvPr id="21" name="Rounded Rectangle 20"/>
          <p:cNvSpPr/>
          <p:nvPr/>
        </p:nvSpPr>
        <p:spPr>
          <a:xfrm>
            <a:off x="6309359" y="563213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Issue Pareto</a:t>
            </a:r>
          </a:p>
        </p:txBody>
      </p:sp>
      <p:sp>
        <p:nvSpPr>
          <p:cNvPr id="22" name="Rounded Rectangle 21"/>
          <p:cNvSpPr/>
          <p:nvPr/>
        </p:nvSpPr>
        <p:spPr>
          <a:xfrm>
            <a:off x="7973567" y="3995928"/>
            <a:ext cx="3575304" cy="2075116"/>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screen-analytics.png"/>
          <p:cNvPicPr>
            <a:picLocks noChangeAspect="1"/>
          </p:cNvPicPr>
          <p:nvPr/>
        </p:nvPicPr>
        <p:blipFill>
          <a:blip r:embed="rId9"/>
          <a:stretch>
            <a:fillRect/>
          </a:stretch>
        </p:blipFill>
        <p:spPr>
          <a:xfrm>
            <a:off x="8046719" y="4069080"/>
            <a:ext cx="3429000" cy="1928812"/>
          </a:xfrm>
          <a:prstGeom prst="rect">
            <a:avLst/>
          </a:prstGeom>
        </p:spPr>
      </p:pic>
      <p:sp>
        <p:nvSpPr>
          <p:cNvPr id="24" name="Rounded Rectangle 23"/>
          <p:cNvSpPr/>
          <p:nvPr/>
        </p:nvSpPr>
        <p:spPr>
          <a:xfrm>
            <a:off x="10058399" y="5632132"/>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Analytics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HOW IT RUNS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Two paths, one dispatch gate</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Ordinary dispatch runs on its own. A field report waits for the operator and an approval before any assignment.</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6</a:t>
            </a:r>
          </a:p>
        </p:txBody>
      </p:sp>
      <p:sp>
        <p:nvSpPr>
          <p:cNvPr id="7" name="TextBox 6"/>
          <p:cNvSpPr txBox="1"/>
          <p:nvPr/>
        </p:nvSpPr>
        <p:spPr>
          <a:xfrm>
            <a:off x="411480" y="1691640"/>
            <a:ext cx="5486400" cy="274320"/>
          </a:xfrm>
          <a:prstGeom prst="rect">
            <a:avLst/>
          </a:prstGeom>
          <a:noFill/>
        </p:spPr>
        <p:txBody>
          <a:bodyPr wrap="square" anchor="t" lIns="18288" rIns="18288" tIns="18288" bIns="18288">
            <a:spAutoFit/>
          </a:bodyPr>
          <a:lstStyle/>
          <a:p>
            <a:pPr algn="l">
              <a:spcAft>
                <a:spcPts val="0"/>
              </a:spcAft>
            </a:pPr>
            <a:r>
              <a:rPr sz="1000" b="1">
                <a:solidFill>
                  <a:srgbClr val="667085"/>
                </a:solidFill>
                <a:latin typeface="Inter"/>
              </a:rPr>
              <a:t>ORDINARY DISPATCH</a:t>
            </a:r>
          </a:p>
        </p:txBody>
      </p:sp>
      <p:sp>
        <p:nvSpPr>
          <p:cNvPr id="8" name="TextBox 7"/>
          <p:cNvSpPr txBox="1"/>
          <p:nvPr/>
        </p:nvSpPr>
        <p:spPr>
          <a:xfrm>
            <a:off x="411480" y="3154680"/>
            <a:ext cx="7315200" cy="274320"/>
          </a:xfrm>
          <a:prstGeom prst="rect">
            <a:avLst/>
          </a:prstGeom>
          <a:noFill/>
        </p:spPr>
        <p:txBody>
          <a:bodyPr wrap="square" anchor="t" lIns="18288" rIns="18288" tIns="18288" bIns="18288">
            <a:spAutoFit/>
          </a:bodyPr>
          <a:lstStyle/>
          <a:p>
            <a:pPr algn="l">
              <a:spcAft>
                <a:spcPts val="0"/>
              </a:spcAft>
            </a:pPr>
            <a:r>
              <a:rPr sz="1000" b="1">
                <a:solidFill>
                  <a:srgbClr val="667085"/>
                </a:solidFill>
                <a:latin typeface="Inter"/>
              </a:rPr>
              <a:t>FIELD REPORT · INVESTIGATION</a:t>
            </a:r>
          </a:p>
        </p:txBody>
      </p:sp>
      <p:sp>
        <p:nvSpPr>
          <p:cNvPr id="9" name="TextBox 8"/>
          <p:cNvSpPr txBox="1"/>
          <p:nvPr/>
        </p:nvSpPr>
        <p:spPr>
          <a:xfrm>
            <a:off x="411480" y="4617720"/>
            <a:ext cx="5486400" cy="274320"/>
          </a:xfrm>
          <a:prstGeom prst="rect">
            <a:avLst/>
          </a:prstGeom>
          <a:noFill/>
        </p:spPr>
        <p:txBody>
          <a:bodyPr wrap="square" anchor="t" lIns="18288" rIns="18288" tIns="18288" bIns="18288">
            <a:spAutoFit/>
          </a:bodyPr>
          <a:lstStyle/>
          <a:p>
            <a:pPr algn="l">
              <a:spcAft>
                <a:spcPts val="0"/>
              </a:spcAft>
            </a:pPr>
            <a:r>
              <a:rPr sz="1000" b="1">
                <a:solidFill>
                  <a:srgbClr val="667085"/>
                </a:solidFill>
                <a:latin typeface="Inter"/>
              </a:rPr>
              <a:t>OVERTIME</a:t>
            </a:r>
          </a:p>
        </p:txBody>
      </p:sp>
      <p:sp>
        <p:nvSpPr>
          <p:cNvPr id="10" name="Rounded Rectangle 9"/>
          <p:cNvSpPr/>
          <p:nvPr/>
        </p:nvSpPr>
        <p:spPr>
          <a:xfrm>
            <a:off x="411480" y="2011680"/>
            <a:ext cx="164592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Issue raised</a:t>
            </a:r>
          </a:p>
          <a:p>
            <a:pPr algn="ctr"/>
            <a:r>
              <a:rPr sz="950" b="0">
                <a:solidFill>
                  <a:srgbClr val="475467"/>
                </a:solidFill>
                <a:latin typeface="Inter"/>
              </a:rPr>
              <a:t>equipment fault</a:t>
            </a:r>
          </a:p>
        </p:txBody>
      </p:sp>
      <p:sp>
        <p:nvSpPr>
          <p:cNvPr id="11" name="Rounded Rectangle 10"/>
          <p:cNvSpPr/>
          <p:nvPr/>
        </p:nvSpPr>
        <p:spPr>
          <a:xfrm>
            <a:off x="2331720" y="2011680"/>
            <a:ext cx="164592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Rank responders</a:t>
            </a:r>
          </a:p>
          <a:p>
            <a:pPr algn="ctr"/>
            <a:r>
              <a:rPr sz="950" b="0">
                <a:solidFill>
                  <a:srgbClr val="E0E7FF"/>
                </a:solidFill>
                <a:latin typeface="Inter"/>
              </a:rPr>
              <a:t>Super, eligible only</a:t>
            </a:r>
          </a:p>
        </p:txBody>
      </p:sp>
      <p:sp>
        <p:nvSpPr>
          <p:cNvPr id="12" name="Rounded Rectangle 11"/>
          <p:cNvSpPr/>
          <p:nvPr/>
        </p:nvSpPr>
        <p:spPr>
          <a:xfrm>
            <a:off x="4251960" y="2011680"/>
            <a:ext cx="164592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Offer sent</a:t>
            </a:r>
          </a:p>
          <a:p>
            <a:pPr algn="ctr"/>
            <a:r>
              <a:rPr sz="950" b="0">
                <a:solidFill>
                  <a:srgbClr val="475467"/>
                </a:solidFill>
                <a:latin typeface="Inter"/>
              </a:rPr>
              <a:t>automatic, ranked</a:t>
            </a:r>
          </a:p>
        </p:txBody>
      </p:sp>
      <p:sp>
        <p:nvSpPr>
          <p:cNvPr id="13" name="Rounded Rectangle 12"/>
          <p:cNvSpPr/>
          <p:nvPr/>
        </p:nvSpPr>
        <p:spPr>
          <a:xfrm>
            <a:off x="6172200" y="2011680"/>
            <a:ext cx="164592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Responder</a:t>
            </a:r>
          </a:p>
          <a:p>
            <a:pPr algn="ctr"/>
            <a:r>
              <a:rPr sz="950" b="0">
                <a:solidFill>
                  <a:srgbClr val="475467"/>
                </a:solidFill>
                <a:latin typeface="Inter"/>
              </a:rPr>
              <a:t>accepts or rejects</a:t>
            </a:r>
          </a:p>
        </p:txBody>
      </p:sp>
      <p:sp>
        <p:nvSpPr>
          <p:cNvPr id="14" name="Rounded Rectangle 13"/>
          <p:cNvSpPr/>
          <p:nvPr/>
        </p:nvSpPr>
        <p:spPr>
          <a:xfrm>
            <a:off x="8092440" y="2011680"/>
            <a:ext cx="164592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Rank fixes</a:t>
            </a:r>
          </a:p>
          <a:p>
            <a:pPr algn="ctr"/>
            <a:r>
              <a:rPr sz="950" b="0">
                <a:solidFill>
                  <a:srgbClr val="E0E7FF"/>
                </a:solidFill>
                <a:latin typeface="Inter"/>
              </a:rPr>
              <a:t>Super, catalog procedures</a:t>
            </a:r>
          </a:p>
        </p:txBody>
      </p:sp>
      <p:sp>
        <p:nvSpPr>
          <p:cNvPr id="15" name="Rounded Rectangle 14"/>
          <p:cNvSpPr/>
          <p:nvPr/>
        </p:nvSpPr>
        <p:spPr>
          <a:xfrm>
            <a:off x="10012680" y="2011680"/>
            <a:ext cx="164592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Repair attempt</a:t>
            </a:r>
          </a:p>
          <a:p>
            <a:pPr algn="ctr"/>
            <a:r>
              <a:rPr sz="950" b="0">
                <a:solidFill>
                  <a:srgbClr val="475467"/>
                </a:solidFill>
                <a:latin typeface="Inter"/>
              </a:rPr>
              <a:t>outcome from hidden truth</a:t>
            </a:r>
          </a:p>
        </p:txBody>
      </p:sp>
      <p:cxnSp>
        <p:nvCxnSpPr>
          <p:cNvPr id="16" name="Connector 15"/>
          <p:cNvCxnSpPr>
            <a:stCxn id="10" idx="3"/>
            <a:endCxn id="11" idx="1"/>
          </p:cNvCxnSpPr>
          <p:nvPr/>
        </p:nvCxnSpPr>
        <p:spPr>
          <a:xfrm flipV="1">
            <a:off x="2057400" y="237744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a:stCxn id="11" idx="3"/>
            <a:endCxn id="12" idx="1"/>
          </p:cNvCxnSpPr>
          <p:nvPr/>
        </p:nvCxnSpPr>
        <p:spPr>
          <a:xfrm flipV="1">
            <a:off x="3977640" y="237744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a:stCxn id="12" idx="3"/>
            <a:endCxn id="13" idx="1"/>
          </p:cNvCxnSpPr>
          <p:nvPr/>
        </p:nvCxnSpPr>
        <p:spPr>
          <a:xfrm flipV="1">
            <a:off x="5897880" y="237744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a:stCxn id="13" idx="3"/>
            <a:endCxn id="14" idx="1"/>
          </p:cNvCxnSpPr>
          <p:nvPr/>
        </p:nvCxnSpPr>
        <p:spPr>
          <a:xfrm flipV="1">
            <a:off x="7818120" y="237744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a:stCxn id="14" idx="3"/>
            <a:endCxn id="15" idx="1"/>
          </p:cNvCxnSpPr>
          <p:nvPr/>
        </p:nvCxnSpPr>
        <p:spPr>
          <a:xfrm flipV="1">
            <a:off x="9738360" y="237744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411480" y="3474720"/>
            <a:ext cx="164592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Field report</a:t>
            </a:r>
          </a:p>
          <a:p>
            <a:pPr algn="ctr"/>
            <a:r>
              <a:rPr sz="950" b="0">
                <a:solidFill>
                  <a:srgbClr val="475467"/>
                </a:solidFill>
                <a:latin typeface="Inter"/>
              </a:rPr>
              <a:t>technician text, untrusted</a:t>
            </a:r>
          </a:p>
        </p:txBody>
      </p:sp>
      <p:sp>
        <p:nvSpPr>
          <p:cNvPr id="22" name="Rounded Rectangle 21"/>
          <p:cNvSpPr/>
          <p:nvPr/>
        </p:nvSpPr>
        <p:spPr>
          <a:xfrm>
            <a:off x="2331720" y="3474720"/>
            <a:ext cx="164592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Super ranks</a:t>
            </a:r>
          </a:p>
          <a:p>
            <a:pPr algn="ctr"/>
            <a:r>
              <a:rPr sz="950" b="0">
                <a:solidFill>
                  <a:srgbClr val="E0E7FF"/>
                </a:solidFill>
                <a:latin typeface="Inter"/>
              </a:rPr>
              <a:t>interpretations, up to 12</a:t>
            </a:r>
          </a:p>
        </p:txBody>
      </p:sp>
      <p:sp>
        <p:nvSpPr>
          <p:cNvPr id="23" name="Rounded Rectangle 22"/>
          <p:cNvSpPr/>
          <p:nvPr/>
        </p:nvSpPr>
        <p:spPr>
          <a:xfrm>
            <a:off x="4251960" y="3474720"/>
            <a:ext cx="164592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Operator confirms</a:t>
            </a:r>
          </a:p>
          <a:p>
            <a:pPr algn="ctr"/>
            <a:r>
              <a:rPr sz="950" b="0">
                <a:solidFill>
                  <a:srgbClr val="475467"/>
                </a:solidFill>
                <a:latin typeface="Inter"/>
              </a:rPr>
              <a:t>symptom and equipment</a:t>
            </a:r>
          </a:p>
        </p:txBody>
      </p:sp>
      <p:sp>
        <p:nvSpPr>
          <p:cNvPr id="24" name="Rounded Rectangle 23"/>
          <p:cNvSpPr/>
          <p:nvPr/>
        </p:nvSpPr>
        <p:spPr>
          <a:xfrm>
            <a:off x="6172200" y="3474720"/>
            <a:ext cx="164592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Ultra investigates</a:t>
            </a:r>
          </a:p>
          <a:p>
            <a:pPr algn="ctr"/>
            <a:r>
              <a:rPr sz="950" b="0">
                <a:solidFill>
                  <a:srgbClr val="E0E7FF"/>
                </a:solidFill>
                <a:latin typeface="Inter"/>
              </a:rPr>
              <a:t>six read-only tools</a:t>
            </a:r>
          </a:p>
        </p:txBody>
      </p:sp>
      <p:sp>
        <p:nvSpPr>
          <p:cNvPr id="25" name="Rounded Rectangle 24"/>
          <p:cNvSpPr/>
          <p:nvPr/>
        </p:nvSpPr>
        <p:spPr>
          <a:xfrm>
            <a:off x="8092440" y="3474720"/>
            <a:ext cx="164592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Operator approves</a:t>
            </a:r>
          </a:p>
          <a:p>
            <a:pPr algn="ctr"/>
            <a:r>
              <a:rPr sz="950" b="0">
                <a:solidFill>
                  <a:srgbClr val="475467"/>
                </a:solidFill>
                <a:latin typeface="Inter"/>
              </a:rPr>
              <a:t>the gate opens here</a:t>
            </a:r>
          </a:p>
        </p:txBody>
      </p:sp>
      <p:sp>
        <p:nvSpPr>
          <p:cNvPr id="26" name="Rounded Rectangle 25"/>
          <p:cNvSpPr/>
          <p:nvPr/>
        </p:nvSpPr>
        <p:spPr>
          <a:xfrm>
            <a:off x="10012680" y="3474720"/>
            <a:ext cx="164592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Assign</a:t>
            </a:r>
          </a:p>
          <a:p>
            <a:pPr algn="ctr"/>
            <a:r>
              <a:rPr sz="950" b="0">
                <a:solidFill>
                  <a:srgbClr val="475467"/>
                </a:solidFill>
                <a:latin typeface="Inter"/>
              </a:rPr>
              <a:t>responder and fix</a:t>
            </a:r>
          </a:p>
        </p:txBody>
      </p:sp>
      <p:cxnSp>
        <p:nvCxnSpPr>
          <p:cNvPr id="27" name="Connector 26"/>
          <p:cNvCxnSpPr>
            <a:stCxn id="21" idx="3"/>
            <a:endCxn id="22" idx="1"/>
          </p:cNvCxnSpPr>
          <p:nvPr/>
        </p:nvCxnSpPr>
        <p:spPr>
          <a:xfrm flipV="1">
            <a:off x="2057400" y="384048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8" name="Connector 27"/>
          <p:cNvCxnSpPr>
            <a:stCxn id="22" idx="3"/>
            <a:endCxn id="23" idx="1"/>
          </p:cNvCxnSpPr>
          <p:nvPr/>
        </p:nvCxnSpPr>
        <p:spPr>
          <a:xfrm flipV="1">
            <a:off x="3977640" y="384048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9" name="Connector 28"/>
          <p:cNvCxnSpPr>
            <a:stCxn id="23" idx="3"/>
            <a:endCxn id="24" idx="1"/>
          </p:cNvCxnSpPr>
          <p:nvPr/>
        </p:nvCxnSpPr>
        <p:spPr>
          <a:xfrm flipV="1">
            <a:off x="5897880" y="384048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0" name="Connector 29"/>
          <p:cNvCxnSpPr>
            <a:stCxn id="24" idx="3"/>
            <a:endCxn id="25" idx="1"/>
          </p:cNvCxnSpPr>
          <p:nvPr/>
        </p:nvCxnSpPr>
        <p:spPr>
          <a:xfrm flipV="1">
            <a:off x="7818120" y="384048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a:stCxn id="25" idx="3"/>
            <a:endCxn id="26" idx="1"/>
          </p:cNvCxnSpPr>
          <p:nvPr/>
        </p:nvCxnSpPr>
        <p:spPr>
          <a:xfrm flipV="1">
            <a:off x="9738360" y="384048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411480" y="4937760"/>
            <a:ext cx="1645920" cy="7315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Backlog review</a:t>
            </a:r>
          </a:p>
          <a:p>
            <a:pPr algn="ctr"/>
            <a:r>
              <a:rPr sz="950" b="0">
                <a:solidFill>
                  <a:srgbClr val="475467"/>
                </a:solidFill>
                <a:latin typeface="Inter"/>
              </a:rPr>
              <a:t>before each handover</a:t>
            </a:r>
          </a:p>
        </p:txBody>
      </p:sp>
      <p:sp>
        <p:nvSpPr>
          <p:cNvPr id="33" name="Rounded Rectangle 32"/>
          <p:cNvSpPr/>
          <p:nvPr/>
        </p:nvSpPr>
        <p:spPr>
          <a:xfrm>
            <a:off x="2331720" y="4937760"/>
            <a:ext cx="1645920" cy="73152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Rank overtime</a:t>
            </a:r>
          </a:p>
          <a:p>
            <a:pPr algn="ctr"/>
            <a:r>
              <a:rPr sz="950" b="0">
                <a:solidFill>
                  <a:srgbClr val="E0E7FF"/>
                </a:solidFill>
                <a:latin typeface="Inter"/>
              </a:rPr>
              <a:t>Super, legal options</a:t>
            </a:r>
          </a:p>
        </p:txBody>
      </p:sp>
      <p:sp>
        <p:nvSpPr>
          <p:cNvPr id="34" name="Rounded Rectangle 33"/>
          <p:cNvSpPr/>
          <p:nvPr/>
        </p:nvSpPr>
        <p:spPr>
          <a:xfrm>
            <a:off x="4251960" y="4937760"/>
            <a:ext cx="1645920" cy="73152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Central command</a:t>
            </a:r>
          </a:p>
          <a:p>
            <a:pPr algn="ctr"/>
            <a:r>
              <a:rPr sz="950" b="0">
                <a:solidFill>
                  <a:srgbClr val="475467"/>
                </a:solidFill>
                <a:latin typeface="Inter"/>
              </a:rPr>
              <a:t>approves or rejects</a:t>
            </a:r>
          </a:p>
        </p:txBody>
      </p:sp>
      <p:cxnSp>
        <p:nvCxnSpPr>
          <p:cNvPr id="35" name="Connector 34"/>
          <p:cNvCxnSpPr>
            <a:stCxn id="32" idx="3"/>
            <a:endCxn id="33" idx="1"/>
          </p:cNvCxnSpPr>
          <p:nvPr/>
        </p:nvCxnSpPr>
        <p:spPr>
          <a:xfrm flipV="1">
            <a:off x="2057400" y="530352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33" idx="3"/>
            <a:endCxn id="34" idx="1"/>
          </p:cNvCxnSpPr>
          <p:nvPr/>
        </p:nvCxnSpPr>
        <p:spPr>
          <a:xfrm flipV="1">
            <a:off x="3977640" y="5303520"/>
            <a:ext cx="274320"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8092440" y="4937760"/>
            <a:ext cx="1828800" cy="7315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Observed history</a:t>
            </a:r>
          </a:p>
          <a:p>
            <a:pPr algn="ctr"/>
            <a:r>
              <a:rPr sz="950" b="0">
                <a:solidFill>
                  <a:srgbClr val="A5B4FC"/>
                </a:solidFill>
                <a:latin typeface="Inter"/>
              </a:rPr>
              <a:t>evidence for every ranking</a:t>
            </a:r>
          </a:p>
        </p:txBody>
      </p:sp>
      <p:cxnSp>
        <p:nvCxnSpPr>
          <p:cNvPr id="38" name="Connector 37"/>
          <p:cNvCxnSpPr>
            <a:stCxn id="15" idx="2"/>
            <a:endCxn id="37" idx="0"/>
          </p:cNvCxnSpPr>
          <p:nvPr/>
        </p:nvCxnSpPr>
        <p:spPr>
          <a:xfrm flipH="1">
            <a:off x="9006840" y="2743200"/>
            <a:ext cx="1828800" cy="219456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26" idx="2"/>
            <a:endCxn id="37" idx="0"/>
          </p:cNvCxnSpPr>
          <p:nvPr/>
        </p:nvCxnSpPr>
        <p:spPr>
          <a:xfrm flipH="1">
            <a:off x="9006840" y="4206240"/>
            <a:ext cx="1828800" cy="73152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092440" y="5760720"/>
            <a:ext cx="3749039"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Central command can override, transfer or add support at any time.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ARCHITECTURE</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Code owns the facts. Models only rank.</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Code owns time, facts, eligibility, baselines, the dispatch gate and every mutation. Models rank or propose.</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7</a:t>
            </a:r>
          </a:p>
        </p:txBody>
      </p:sp>
      <p:sp>
        <p:nvSpPr>
          <p:cNvPr id="7" name="Rounded Rectangle 6"/>
          <p:cNvSpPr/>
          <p:nvPr/>
        </p:nvSpPr>
        <p:spPr>
          <a:xfrm>
            <a:off x="5669280" y="429768"/>
            <a:ext cx="292608" cy="1828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53328" y="420624"/>
            <a:ext cx="1463040" cy="256032"/>
          </a:xfrm>
          <a:prstGeom prst="rect">
            <a:avLst/>
          </a:prstGeom>
          <a:noFill/>
        </p:spPr>
        <p:txBody>
          <a:bodyPr wrap="square" anchor="t" lIns="18288" rIns="18288" tIns="18288" bIns="18288">
            <a:spAutoFit/>
          </a:bodyPr>
          <a:lstStyle/>
          <a:p>
            <a:pPr algn="l">
              <a:spcAft>
                <a:spcPts val="0"/>
              </a:spcAft>
            </a:pPr>
            <a:r>
              <a:rPr sz="1000" b="0">
                <a:solidFill>
                  <a:srgbClr val="475467"/>
                </a:solidFill>
                <a:latin typeface="Inter"/>
              </a:rPr>
              <a:t>Application code</a:t>
            </a:r>
          </a:p>
        </p:txBody>
      </p:sp>
      <p:sp>
        <p:nvSpPr>
          <p:cNvPr id="9" name="Rounded Rectangle 8"/>
          <p:cNvSpPr/>
          <p:nvPr/>
        </p:nvSpPr>
        <p:spPr>
          <a:xfrm>
            <a:off x="7470648" y="429768"/>
            <a:ext cx="292608" cy="18288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54696" y="420624"/>
            <a:ext cx="1463040" cy="256032"/>
          </a:xfrm>
          <a:prstGeom prst="rect">
            <a:avLst/>
          </a:prstGeom>
          <a:noFill/>
        </p:spPr>
        <p:txBody>
          <a:bodyPr wrap="square" anchor="t" lIns="18288" rIns="18288" tIns="18288" bIns="18288">
            <a:spAutoFit/>
          </a:bodyPr>
          <a:lstStyle/>
          <a:p>
            <a:pPr algn="l">
              <a:spcAft>
                <a:spcPts val="0"/>
              </a:spcAft>
            </a:pPr>
            <a:r>
              <a:rPr sz="1000" b="0">
                <a:solidFill>
                  <a:srgbClr val="475467"/>
                </a:solidFill>
                <a:latin typeface="Inter"/>
              </a:rPr>
              <a:t>Nemotron model</a:t>
            </a:r>
          </a:p>
        </p:txBody>
      </p:sp>
      <p:sp>
        <p:nvSpPr>
          <p:cNvPr id="11" name="Rounded Rectangle 10"/>
          <p:cNvSpPr/>
          <p:nvPr/>
        </p:nvSpPr>
        <p:spPr>
          <a:xfrm>
            <a:off x="9134856" y="429768"/>
            <a:ext cx="292608" cy="18288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518904" y="420624"/>
            <a:ext cx="1463040" cy="256032"/>
          </a:xfrm>
          <a:prstGeom prst="rect">
            <a:avLst/>
          </a:prstGeom>
          <a:noFill/>
        </p:spPr>
        <p:txBody>
          <a:bodyPr wrap="square" anchor="t" lIns="18288" rIns="18288" tIns="18288" bIns="18288">
            <a:spAutoFit/>
          </a:bodyPr>
          <a:lstStyle/>
          <a:p>
            <a:pPr algn="l">
              <a:spcAft>
                <a:spcPts val="0"/>
              </a:spcAft>
            </a:pPr>
            <a:r>
              <a:rPr sz="1000" b="0">
                <a:solidFill>
                  <a:srgbClr val="475467"/>
                </a:solidFill>
                <a:latin typeface="Inter"/>
              </a:rPr>
              <a:t>Store</a:t>
            </a:r>
          </a:p>
        </p:txBody>
      </p:sp>
      <p:sp>
        <p:nvSpPr>
          <p:cNvPr id="13" name="Rounded Rectangle 12"/>
          <p:cNvSpPr/>
          <p:nvPr/>
        </p:nvSpPr>
        <p:spPr>
          <a:xfrm>
            <a:off x="10181844" y="429768"/>
            <a:ext cx="292608" cy="182880"/>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565892" y="420624"/>
            <a:ext cx="1463040" cy="256032"/>
          </a:xfrm>
          <a:prstGeom prst="rect">
            <a:avLst/>
          </a:prstGeom>
          <a:noFill/>
        </p:spPr>
        <p:txBody>
          <a:bodyPr wrap="square" anchor="t" lIns="18288" rIns="18288" tIns="18288" bIns="18288">
            <a:spAutoFit/>
          </a:bodyPr>
          <a:lstStyle/>
          <a:p>
            <a:pPr algn="l">
              <a:spcAft>
                <a:spcPts val="0"/>
              </a:spcAft>
            </a:pPr>
            <a:r>
              <a:rPr sz="1000" b="0">
                <a:solidFill>
                  <a:srgbClr val="475467"/>
                </a:solidFill>
                <a:latin typeface="Inter"/>
              </a:rPr>
              <a:t>People</a:t>
            </a:r>
          </a:p>
        </p:txBody>
      </p:sp>
      <p:sp>
        <p:nvSpPr>
          <p:cNvPr id="15" name="Rounded Rectangle 14"/>
          <p:cNvSpPr/>
          <p:nvPr/>
        </p:nvSpPr>
        <p:spPr>
          <a:xfrm>
            <a:off x="411480" y="178308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Simulation clock</a:t>
            </a:r>
          </a:p>
          <a:p>
            <a:pPr algn="ctr"/>
            <a:r>
              <a:rPr sz="950" b="0">
                <a:solidFill>
                  <a:srgbClr val="475467"/>
                </a:solidFill>
                <a:latin typeface="Inter"/>
              </a:rPr>
              <a:t>persistent, pausable</a:t>
            </a:r>
          </a:p>
        </p:txBody>
      </p:sp>
      <p:sp>
        <p:nvSpPr>
          <p:cNvPr id="16" name="Rounded Rectangle 15"/>
          <p:cNvSpPr/>
          <p:nvPr/>
        </p:nvSpPr>
        <p:spPr>
          <a:xfrm>
            <a:off x="411480" y="288036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Scheduler</a:t>
            </a:r>
          </a:p>
          <a:p>
            <a:pPr algn="ctr"/>
            <a:r>
              <a:rPr sz="950" b="0">
                <a:solidFill>
                  <a:srgbClr val="475467"/>
                </a:solidFill>
                <a:latin typeface="Inter"/>
              </a:rPr>
              <a:t>one-shot, restart-safe</a:t>
            </a:r>
          </a:p>
        </p:txBody>
      </p:sp>
      <p:sp>
        <p:nvSpPr>
          <p:cNvPr id="17" name="Rounded Rectangle 16"/>
          <p:cNvSpPr/>
          <p:nvPr/>
        </p:nvSpPr>
        <p:spPr>
          <a:xfrm>
            <a:off x="411480" y="4023360"/>
            <a:ext cx="1874519" cy="658368"/>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Responders</a:t>
            </a:r>
          </a:p>
          <a:p>
            <a:pPr algn="ctr"/>
            <a:r>
              <a:rPr sz="950" b="0">
                <a:solidFill>
                  <a:srgbClr val="475467"/>
                </a:solidFill>
                <a:latin typeface="Inter"/>
              </a:rPr>
              <a:t>accept or reject</a:t>
            </a:r>
          </a:p>
        </p:txBody>
      </p:sp>
      <p:sp>
        <p:nvSpPr>
          <p:cNvPr id="18" name="Rounded Rectangle 17"/>
          <p:cNvSpPr/>
          <p:nvPr/>
        </p:nvSpPr>
        <p:spPr>
          <a:xfrm>
            <a:off x="411480" y="512064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Dispatch</a:t>
            </a:r>
          </a:p>
          <a:p>
            <a:pPr algn="ctr"/>
            <a:r>
              <a:rPr sz="950" b="0">
                <a:solidFill>
                  <a:srgbClr val="475467"/>
                </a:solidFill>
                <a:latin typeface="Inter"/>
              </a:rPr>
              <a:t>ranked offer queue</a:t>
            </a:r>
          </a:p>
        </p:txBody>
      </p:sp>
      <p:sp>
        <p:nvSpPr>
          <p:cNvPr id="19" name="Rounded Rectangle 18"/>
          <p:cNvSpPr/>
          <p:nvPr/>
        </p:nvSpPr>
        <p:spPr>
          <a:xfrm>
            <a:off x="2834640" y="1783080"/>
            <a:ext cx="1874519"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Event planner</a:t>
            </a:r>
          </a:p>
          <a:p>
            <a:pPr algn="ctr"/>
            <a:r>
              <a:rPr sz="950" b="0">
                <a:solidFill>
                  <a:srgbClr val="E0E7FF"/>
                </a:solidFill>
                <a:latin typeface="Inter"/>
              </a:rPr>
              <a:t>Nemotron 3.5 Lightning</a:t>
            </a:r>
          </a:p>
        </p:txBody>
      </p:sp>
      <p:sp>
        <p:nvSpPr>
          <p:cNvPr id="20" name="Rounded Rectangle 19"/>
          <p:cNvSpPr/>
          <p:nvPr/>
        </p:nvSpPr>
        <p:spPr>
          <a:xfrm>
            <a:off x="2834640" y="288036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Fallback planner</a:t>
            </a:r>
          </a:p>
          <a:p>
            <a:pPr algn="ctr"/>
            <a:r>
              <a:rPr sz="950" b="0">
                <a:solidFill>
                  <a:srgbClr val="475467"/>
                </a:solidFill>
                <a:latin typeface="Inter"/>
              </a:rPr>
              <a:t>deterministic, API-free</a:t>
            </a:r>
          </a:p>
        </p:txBody>
      </p:sp>
      <p:sp>
        <p:nvSpPr>
          <p:cNvPr id="21" name="Rounded Rectangle 20"/>
          <p:cNvSpPr/>
          <p:nvPr/>
        </p:nvSpPr>
        <p:spPr>
          <a:xfrm>
            <a:off x="2834640" y="4617720"/>
            <a:ext cx="1874519"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Compass</a:t>
            </a:r>
          </a:p>
          <a:p>
            <a:pPr algn="ctr"/>
            <a:r>
              <a:rPr sz="950" b="0">
                <a:solidFill>
                  <a:srgbClr val="E0E7FF"/>
                </a:solidFill>
                <a:latin typeface="Inter"/>
              </a:rPr>
              <a:t>Nemotron 3 Super ranks</a:t>
            </a:r>
          </a:p>
        </p:txBody>
      </p:sp>
      <p:sp>
        <p:nvSpPr>
          <p:cNvPr id="22" name="Rounded Rectangle 21"/>
          <p:cNvSpPr/>
          <p:nvPr/>
        </p:nvSpPr>
        <p:spPr>
          <a:xfrm>
            <a:off x="2834640" y="566928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Baselines</a:t>
            </a:r>
          </a:p>
          <a:p>
            <a:pPr algn="ctr"/>
            <a:r>
              <a:rPr sz="950" b="0">
                <a:solidFill>
                  <a:srgbClr val="475467"/>
                </a:solidFill>
                <a:latin typeface="Inter"/>
              </a:rPr>
              <a:t>nearest + naive score</a:t>
            </a:r>
          </a:p>
        </p:txBody>
      </p:sp>
      <p:sp>
        <p:nvSpPr>
          <p:cNvPr id="23" name="Rounded Rectangle 22"/>
          <p:cNvSpPr/>
          <p:nvPr/>
        </p:nvSpPr>
        <p:spPr>
          <a:xfrm>
            <a:off x="5257800" y="1783080"/>
            <a:ext cx="1874519"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Investigator</a:t>
            </a:r>
          </a:p>
          <a:p>
            <a:pPr algn="ctr"/>
            <a:r>
              <a:rPr sz="950" b="0">
                <a:solidFill>
                  <a:srgbClr val="E0E7FF"/>
                </a:solidFill>
                <a:latin typeface="Inter"/>
              </a:rPr>
              <a:t>Nemotron 3 Ultra</a:t>
            </a:r>
          </a:p>
        </p:txBody>
      </p:sp>
      <p:sp>
        <p:nvSpPr>
          <p:cNvPr id="24" name="Rounded Rectangle 23"/>
          <p:cNvSpPr/>
          <p:nvPr/>
        </p:nvSpPr>
        <p:spPr>
          <a:xfrm>
            <a:off x="5257800" y="274320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Validator and gate</a:t>
            </a:r>
          </a:p>
          <a:p>
            <a:pPr algn="ctr"/>
            <a:r>
              <a:rPr sz="950" b="0">
                <a:solidFill>
                  <a:srgbClr val="475467"/>
                </a:solidFill>
                <a:latin typeface="Inter"/>
              </a:rPr>
              <a:t>schema, facts, one dispatch gate</a:t>
            </a:r>
          </a:p>
        </p:txBody>
      </p:sp>
      <p:sp>
        <p:nvSpPr>
          <p:cNvPr id="25" name="Rounded Rectangle 24"/>
          <p:cNvSpPr/>
          <p:nvPr/>
        </p:nvSpPr>
        <p:spPr>
          <a:xfrm>
            <a:off x="5257800" y="4937760"/>
            <a:ext cx="1874519"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Context engine</a:t>
            </a:r>
          </a:p>
          <a:p>
            <a:pPr algn="ctr"/>
            <a:r>
              <a:rPr sz="950" b="0">
                <a:solidFill>
                  <a:srgbClr val="475467"/>
                </a:solidFill>
                <a:latin typeface="Inter"/>
              </a:rPr>
              <a:t>eligibility, travel, history</a:t>
            </a:r>
          </a:p>
        </p:txBody>
      </p:sp>
      <p:sp>
        <p:nvSpPr>
          <p:cNvPr id="26" name="Rounded Rectangle 25"/>
          <p:cNvSpPr/>
          <p:nvPr/>
        </p:nvSpPr>
        <p:spPr>
          <a:xfrm>
            <a:off x="5029200" y="3611880"/>
            <a:ext cx="2331720" cy="86868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Canonical state</a:t>
            </a:r>
          </a:p>
          <a:p>
            <a:pPr algn="ctr"/>
            <a:r>
              <a:rPr sz="950" b="0">
                <a:solidFill>
                  <a:srgbClr val="A5B4FC"/>
                </a:solidFill>
                <a:latin typeface="Inter"/>
              </a:rPr>
              <a:t>persistent store, audit trail</a:t>
            </a:r>
          </a:p>
        </p:txBody>
      </p:sp>
      <p:sp>
        <p:nvSpPr>
          <p:cNvPr id="27" name="Rounded Rectangle 26"/>
          <p:cNvSpPr/>
          <p:nvPr/>
        </p:nvSpPr>
        <p:spPr>
          <a:xfrm>
            <a:off x="8229600" y="2651760"/>
            <a:ext cx="2331720" cy="658368"/>
          </a:xfrm>
          <a:prstGeom prst="roundRect">
            <a:avLst>
              <a:gd name="adj" fmla="val 6000"/>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Central command</a:t>
            </a:r>
          </a:p>
          <a:p>
            <a:pPr algn="ctr"/>
            <a:r>
              <a:rPr sz="950" b="0">
                <a:solidFill>
                  <a:srgbClr val="475467"/>
                </a:solidFill>
                <a:latin typeface="Inter"/>
              </a:rPr>
              <a:t>approves, overrides</a:t>
            </a:r>
          </a:p>
        </p:txBody>
      </p:sp>
      <p:sp>
        <p:nvSpPr>
          <p:cNvPr id="28" name="Rounded Rectangle 27"/>
          <p:cNvSpPr/>
          <p:nvPr/>
        </p:nvSpPr>
        <p:spPr>
          <a:xfrm>
            <a:off x="8229600" y="1783080"/>
            <a:ext cx="2331720" cy="658368"/>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FFFFFF"/>
                </a:solidFill>
                <a:latin typeface="Inter"/>
              </a:rPr>
              <a:t>Narrator</a:t>
            </a:r>
          </a:p>
          <a:p>
            <a:pPr algn="ctr"/>
            <a:r>
              <a:rPr sz="950" b="0">
                <a:solidFill>
                  <a:srgbClr val="E0E7FF"/>
                </a:solidFill>
                <a:latin typeface="Inter"/>
              </a:rPr>
              <a:t>Nemotron 3.5 Lightning</a:t>
            </a:r>
          </a:p>
        </p:txBody>
      </p:sp>
      <p:sp>
        <p:nvSpPr>
          <p:cNvPr id="29" name="Rounded Rectangle 28"/>
          <p:cNvSpPr/>
          <p:nvPr/>
        </p:nvSpPr>
        <p:spPr>
          <a:xfrm>
            <a:off x="8229600" y="3648456"/>
            <a:ext cx="2331720"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Live Floor &amp; Analytics</a:t>
            </a:r>
          </a:p>
          <a:p>
            <a:pPr algn="ctr"/>
            <a:r>
              <a:rPr sz="950" b="0">
                <a:solidFill>
                  <a:srgbClr val="475467"/>
                </a:solidFill>
                <a:latin typeface="Inter"/>
              </a:rPr>
              <a:t>UI, fixed snapshots</a:t>
            </a:r>
          </a:p>
        </p:txBody>
      </p:sp>
      <p:sp>
        <p:nvSpPr>
          <p:cNvPr id="30" name="Rounded Rectangle 29"/>
          <p:cNvSpPr/>
          <p:nvPr/>
        </p:nvSpPr>
        <p:spPr>
          <a:xfrm>
            <a:off x="8229600" y="4937760"/>
            <a:ext cx="2331720" cy="658368"/>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27432" bIns="27432"/>
          <a:lstStyle/>
          <a:p>
            <a:pPr algn="ctr"/>
            <a:r>
              <a:rPr sz="1200" b="1">
                <a:solidFill>
                  <a:srgbClr val="111827"/>
                </a:solidFill>
                <a:latin typeface="Inter"/>
              </a:rPr>
              <a:t>Resolution engine</a:t>
            </a:r>
          </a:p>
          <a:p>
            <a:pPr algn="ctr"/>
            <a:r>
              <a:rPr sz="950" b="0">
                <a:solidFill>
                  <a:srgbClr val="475467"/>
                </a:solidFill>
                <a:latin typeface="Inter"/>
              </a:rPr>
              <a:t>hidden skill, outcome</a:t>
            </a:r>
          </a:p>
        </p:txBody>
      </p:sp>
      <p:cxnSp>
        <p:nvCxnSpPr>
          <p:cNvPr id="31" name="Connector 30"/>
          <p:cNvCxnSpPr>
            <a:stCxn id="15" idx="3"/>
            <a:endCxn id="19" idx="1"/>
          </p:cNvCxnSpPr>
          <p:nvPr/>
        </p:nvCxnSpPr>
        <p:spPr>
          <a:xfrm flipV="1">
            <a:off x="2285999" y="2112264"/>
            <a:ext cx="548641"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a:stCxn id="16" idx="3"/>
            <a:endCxn id="20" idx="1"/>
          </p:cNvCxnSpPr>
          <p:nvPr/>
        </p:nvCxnSpPr>
        <p:spPr>
          <a:xfrm flipV="1">
            <a:off x="2285999" y="3209544"/>
            <a:ext cx="548641"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a:stCxn id="19" idx="2"/>
            <a:endCxn id="24" idx="1"/>
          </p:cNvCxnSpPr>
          <p:nvPr/>
        </p:nvCxnSpPr>
        <p:spPr>
          <a:xfrm>
            <a:off x="3771899" y="2441448"/>
            <a:ext cx="1485901" cy="630936"/>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a:stCxn id="20" idx="3"/>
            <a:endCxn id="24" idx="1"/>
          </p:cNvCxnSpPr>
          <p:nvPr/>
        </p:nvCxnSpPr>
        <p:spPr>
          <a:xfrm flipV="1">
            <a:off x="4709159" y="3072384"/>
            <a:ext cx="548641" cy="13716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a:stCxn id="23" idx="2"/>
            <a:endCxn id="24" idx="0"/>
          </p:cNvCxnSpPr>
          <p:nvPr/>
        </p:nvCxnSpPr>
        <p:spPr>
          <a:xfrm flipH="1">
            <a:off x="6195059" y="2441448"/>
            <a:ext cx="0" cy="30175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a:stCxn id="24" idx="2"/>
            <a:endCxn id="26" idx="0"/>
          </p:cNvCxnSpPr>
          <p:nvPr/>
        </p:nvCxnSpPr>
        <p:spPr>
          <a:xfrm>
            <a:off x="6195059" y="3401568"/>
            <a:ext cx="1" cy="21031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7" name="Connector 36"/>
          <p:cNvCxnSpPr>
            <a:stCxn id="26" idx="2"/>
            <a:endCxn id="25" idx="0"/>
          </p:cNvCxnSpPr>
          <p:nvPr/>
        </p:nvCxnSpPr>
        <p:spPr>
          <a:xfrm flipH="1">
            <a:off x="6195059" y="4480560"/>
            <a:ext cx="1" cy="45720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a:stCxn id="25" idx="1"/>
            <a:endCxn id="21" idx="3"/>
          </p:cNvCxnSpPr>
          <p:nvPr/>
        </p:nvCxnSpPr>
        <p:spPr>
          <a:xfrm flipH="1" flipV="1">
            <a:off x="4709159" y="4946904"/>
            <a:ext cx="548641" cy="3200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9" name="Connector 38"/>
          <p:cNvCxnSpPr>
            <a:stCxn id="22" idx="3"/>
            <a:endCxn id="25" idx="2"/>
          </p:cNvCxnSpPr>
          <p:nvPr/>
        </p:nvCxnSpPr>
        <p:spPr>
          <a:xfrm flipV="1">
            <a:off x="4709159" y="5596128"/>
            <a:ext cx="1485900" cy="402336"/>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0" name="Connector 39"/>
          <p:cNvCxnSpPr>
            <a:stCxn id="21" idx="0"/>
            <a:endCxn id="20" idx="2"/>
          </p:cNvCxnSpPr>
          <p:nvPr/>
        </p:nvCxnSpPr>
        <p:spPr>
          <a:xfrm flipH="1" flipV="1">
            <a:off x="3771899" y="3538728"/>
            <a:ext cx="0" cy="1078992"/>
          </a:xfrm>
          <a:prstGeom prst="line">
            <a:avLst/>
          </a:prstGeom>
          <a:ln w="19050">
            <a:solidFill>
              <a:srgbClr val="667085"/>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41" name="Connector 40"/>
          <p:cNvCxnSpPr>
            <a:stCxn id="26" idx="3"/>
            <a:endCxn id="29" idx="1"/>
          </p:cNvCxnSpPr>
          <p:nvPr/>
        </p:nvCxnSpPr>
        <p:spPr>
          <a:xfrm flipV="1">
            <a:off x="7360920" y="3977640"/>
            <a:ext cx="868680" cy="6858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2" name="Connector 41"/>
          <p:cNvCxnSpPr>
            <a:stCxn id="27" idx="1"/>
            <a:endCxn id="24" idx="3"/>
          </p:cNvCxnSpPr>
          <p:nvPr/>
        </p:nvCxnSpPr>
        <p:spPr>
          <a:xfrm flipH="1">
            <a:off x="7132319" y="2980944"/>
            <a:ext cx="1097281" cy="9144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3" name="Connector 42"/>
          <p:cNvCxnSpPr>
            <a:stCxn id="26" idx="1"/>
            <a:endCxn id="17" idx="3"/>
          </p:cNvCxnSpPr>
          <p:nvPr/>
        </p:nvCxnSpPr>
        <p:spPr>
          <a:xfrm flipH="1">
            <a:off x="2285999" y="4046220"/>
            <a:ext cx="2743201" cy="306324"/>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a:stCxn id="17" idx="2"/>
            <a:endCxn id="18" idx="0"/>
          </p:cNvCxnSpPr>
          <p:nvPr/>
        </p:nvCxnSpPr>
        <p:spPr>
          <a:xfrm flipH="1">
            <a:off x="1348739" y="4681728"/>
            <a:ext cx="0" cy="438912"/>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5" name="Connector 44"/>
          <p:cNvCxnSpPr>
            <a:stCxn id="30" idx="1"/>
            <a:endCxn id="26" idx="3"/>
          </p:cNvCxnSpPr>
          <p:nvPr/>
        </p:nvCxnSpPr>
        <p:spPr>
          <a:xfrm flipH="1" flipV="1">
            <a:off x="7360920" y="4046220"/>
            <a:ext cx="868680" cy="1220724"/>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6" name="Connector 45"/>
          <p:cNvCxnSpPr>
            <a:stCxn id="28" idx="1"/>
            <a:endCxn id="27" idx="0"/>
          </p:cNvCxnSpPr>
          <p:nvPr/>
        </p:nvCxnSpPr>
        <p:spPr>
          <a:xfrm>
            <a:off x="8229600" y="2112264"/>
            <a:ext cx="1165860" cy="539496"/>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COMPASS INVESTIGATOR</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Investigate before anyone is sent</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Super ranks the interpretations; Ultra runs six bounded, read-only tools; the operator approves before any dispatch.</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8</a:t>
            </a:r>
          </a:p>
        </p:txBody>
      </p:sp>
      <p:sp>
        <p:nvSpPr>
          <p:cNvPr id="7" name="Rounded Rectangle 6"/>
          <p:cNvSpPr/>
          <p:nvPr/>
        </p:nvSpPr>
        <p:spPr>
          <a:xfrm>
            <a:off x="548640" y="1920240"/>
            <a:ext cx="1920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2"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01 Read the report</a:t>
            </a:r>
          </a:p>
        </p:txBody>
      </p:sp>
      <p:sp>
        <p:nvSpPr>
          <p:cNvPr id="9" name="TextBox 8"/>
          <p:cNvSpPr txBox="1"/>
          <p:nvPr/>
        </p:nvSpPr>
        <p:spPr>
          <a:xfrm>
            <a:off x="713232"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Hazard and input policy decided in code, before any model call.</a:t>
            </a:r>
          </a:p>
        </p:txBody>
      </p:sp>
      <p:sp>
        <p:nvSpPr>
          <p:cNvPr id="10" name="Rounded Rectangle 9"/>
          <p:cNvSpPr/>
          <p:nvPr/>
        </p:nvSpPr>
        <p:spPr>
          <a:xfrm>
            <a:off x="2807208" y="1920240"/>
            <a:ext cx="1920240" cy="2286000"/>
          </a:xfrm>
          <a:prstGeom prst="roundRect">
            <a:avLst>
              <a:gd name="adj" fmla="val 6000"/>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71800"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02 Rank interpretations</a:t>
            </a:r>
          </a:p>
        </p:txBody>
      </p:sp>
      <p:sp>
        <p:nvSpPr>
          <p:cNvPr id="12" name="TextBox 11"/>
          <p:cNvSpPr txBox="1"/>
          <p:nvPr/>
        </p:nvSpPr>
        <p:spPr>
          <a:xfrm>
            <a:off x="2971800"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Nemotron 3 Super ranks up to 12 candidates that code resolved.</a:t>
            </a:r>
          </a:p>
        </p:txBody>
      </p:sp>
      <p:sp>
        <p:nvSpPr>
          <p:cNvPr id="13" name="Rounded Rectangle 12"/>
          <p:cNvSpPr/>
          <p:nvPr/>
        </p:nvSpPr>
        <p:spPr>
          <a:xfrm>
            <a:off x="5065776" y="1920240"/>
            <a:ext cx="1920240" cy="2286000"/>
          </a:xfrm>
          <a:prstGeom prst="roundRect">
            <a:avLst>
              <a:gd name="adj" fmla="val 6000"/>
            </a:avLst>
          </a:prstGeom>
          <a:solidFill>
            <a:srgbClr val="FFFFFF"/>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230368"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03 Tool loop</a:t>
            </a:r>
          </a:p>
        </p:txBody>
      </p:sp>
      <p:sp>
        <p:nvSpPr>
          <p:cNvPr id="15" name="TextBox 14"/>
          <p:cNvSpPr txBox="1"/>
          <p:nvPr/>
        </p:nvSpPr>
        <p:spPr>
          <a:xfrm>
            <a:off x="5230368"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Ultra reads past cases, catalog procedures and qualifications, read-only.</a:t>
            </a:r>
          </a:p>
        </p:txBody>
      </p:sp>
      <p:sp>
        <p:nvSpPr>
          <p:cNvPr id="16" name="Rounded Rectangle 15"/>
          <p:cNvSpPr/>
          <p:nvPr/>
        </p:nvSpPr>
        <p:spPr>
          <a:xfrm>
            <a:off x="7324344" y="1920240"/>
            <a:ext cx="1920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88936"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04 Check citations</a:t>
            </a:r>
          </a:p>
        </p:txBody>
      </p:sp>
      <p:sp>
        <p:nvSpPr>
          <p:cNvPr id="18" name="TextBox 17"/>
          <p:cNvSpPr txBox="1"/>
          <p:nvPr/>
        </p:nvSpPr>
        <p:spPr>
          <a:xfrm>
            <a:off x="7488936"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Every cited case or procedure must be one a tool returned.</a:t>
            </a:r>
          </a:p>
        </p:txBody>
      </p:sp>
      <p:sp>
        <p:nvSpPr>
          <p:cNvPr id="19" name="Rounded Rectangle 18"/>
          <p:cNvSpPr/>
          <p:nvPr/>
        </p:nvSpPr>
        <p:spPr>
          <a:xfrm>
            <a:off x="9582912" y="1920240"/>
            <a:ext cx="1920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747504" y="2103120"/>
            <a:ext cx="1645920" cy="64008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05 Operator approves</a:t>
            </a:r>
          </a:p>
        </p:txBody>
      </p:sp>
      <p:sp>
        <p:nvSpPr>
          <p:cNvPr id="21" name="TextBox 20"/>
          <p:cNvSpPr txBox="1"/>
          <p:nvPr/>
        </p:nvSpPr>
        <p:spPr>
          <a:xfrm>
            <a:off x="9747504" y="2834640"/>
            <a:ext cx="1645920" cy="1280160"/>
          </a:xfrm>
          <a:prstGeom prst="rect">
            <a:avLst/>
          </a:prstGeom>
          <a:noFill/>
        </p:spPr>
        <p:txBody>
          <a:bodyPr wrap="square" anchor="t" lIns="18288" rIns="18288" tIns="18288" bIns="18288">
            <a:spAutoFit/>
          </a:bodyPr>
          <a:lstStyle/>
          <a:p>
            <a:pPr algn="l">
              <a:spcAft>
                <a:spcPts val="0"/>
              </a:spcAft>
            </a:pPr>
            <a:r>
              <a:rPr sz="1150" b="0">
                <a:solidFill>
                  <a:srgbClr val="475467"/>
                </a:solidFill>
                <a:latin typeface="Inter"/>
              </a:rPr>
              <a:t>A person approves before assignment. Policy may approve safe cases only if a room enables it.</a:t>
            </a:r>
          </a:p>
        </p:txBody>
      </p:sp>
      <p:cxnSp>
        <p:nvCxnSpPr>
          <p:cNvPr id="22" name="Connector 21"/>
          <p:cNvCxnSpPr>
            <a:stCxn id="7" idx="3"/>
            <a:endCxn id="10" idx="1"/>
          </p:cNvCxnSpPr>
          <p:nvPr/>
        </p:nvCxnSpPr>
        <p:spPr>
          <a:xfrm flipV="1">
            <a:off x="2468880"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a:stCxn id="10" idx="3"/>
            <a:endCxn id="13" idx="1"/>
          </p:cNvCxnSpPr>
          <p:nvPr/>
        </p:nvCxnSpPr>
        <p:spPr>
          <a:xfrm flipV="1">
            <a:off x="4727448"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a:stCxn id="13" idx="3"/>
            <a:endCxn id="16" idx="1"/>
          </p:cNvCxnSpPr>
          <p:nvPr/>
        </p:nvCxnSpPr>
        <p:spPr>
          <a:xfrm flipV="1">
            <a:off x="6986016"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a:stCxn id="16" idx="3"/>
            <a:endCxn id="19" idx="1"/>
          </p:cNvCxnSpPr>
          <p:nvPr/>
        </p:nvCxnSpPr>
        <p:spPr>
          <a:xfrm flipV="1">
            <a:off x="9244584" y="3063240"/>
            <a:ext cx="338328" cy="0"/>
          </a:xfrm>
          <a:prstGeom prst="line">
            <a:avLst/>
          </a:prstGeom>
          <a:ln w="19050">
            <a:solidFill>
              <a:srgbClr val="66708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8640" y="4572000"/>
            <a:ext cx="11064240" cy="1143000"/>
          </a:xfrm>
          <a:prstGeom prst="roundRect">
            <a:avLst>
              <a:gd name="adj" fmla="val 6000"/>
            </a:avLst>
          </a:prstGeom>
          <a:solidFill>
            <a:srgbClr val="FFF7ED"/>
          </a:solidFill>
          <a:ln w="12700">
            <a:solidFill>
              <a:srgbClr val="D9770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ctr"/>
            <a:r>
              <a:rPr sz="1300" b="1">
                <a:solidFill>
                  <a:srgbClr val="92400E"/>
                </a:solidFill>
                <a:latin typeface="Inter"/>
              </a:rPr>
              <a:t>Live capture pending</a:t>
            </a:r>
          </a:p>
          <a:p>
            <a:r>
              <a:rPr sz="1200" b="0">
                <a:solidFill>
                  <a:srgbClr val="92400E"/>
                </a:solidFill>
                <a:latin typeface="Inter"/>
              </a:rPr>
              <a:t>The Nebius key is set on the deployment, and a live Nemotron call succeeded on 2026-10-26. Replace this box with a captured Investigator run before filing. Nothing here is a model output.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COMPASS INVESTIGATOR</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Untrusted text, checked in code</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A field report is data, not instructions. Code decides what reaches the model and checks what comes back.</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9</a:t>
            </a:r>
          </a:p>
        </p:txBody>
      </p:sp>
      <p:sp>
        <p:nvSpPr>
          <p:cNvPr id="7" name="Rounded Rectangle 6"/>
          <p:cNvSpPr/>
          <p:nvPr/>
        </p:nvSpPr>
        <p:spPr>
          <a:xfrm>
            <a:off x="548640"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7240"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Hazard policy in code</a:t>
            </a:r>
          </a:p>
        </p:txBody>
      </p:sp>
      <p:sp>
        <p:nvSpPr>
          <p:cNvPr id="9" name="TextBox 8"/>
          <p:cNvSpPr txBox="1"/>
          <p:nvPr/>
        </p:nvSpPr>
        <p:spPr>
          <a:xfrm>
            <a:off x="777240"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Safety-sensitive reports are classified before any model call. A bounded lexicon, not the model, makes this decision.</a:t>
            </a:r>
          </a:p>
        </p:txBody>
      </p:sp>
      <p:sp>
        <p:nvSpPr>
          <p:cNvPr id="10" name="Rounded Rectangle 9"/>
          <p:cNvSpPr/>
          <p:nvPr/>
        </p:nvSpPr>
        <p:spPr>
          <a:xfrm>
            <a:off x="3337560"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Report text is data</a:t>
            </a:r>
          </a:p>
        </p:txBody>
      </p:sp>
      <p:sp>
        <p:nvSpPr>
          <p:cNvPr id="12" name="TextBox 11"/>
          <p:cNvSpPr txBox="1"/>
          <p:nvPr/>
        </p:nvSpPr>
        <p:spPr>
          <a:xfrm>
            <a:off x="3566160"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The report is quoted to the model as data. The model is not asked to follow instructions written inside it.</a:t>
            </a:r>
          </a:p>
        </p:txBody>
      </p:sp>
      <p:sp>
        <p:nvSpPr>
          <p:cNvPr id="13" name="Rounded Rectangle 12"/>
          <p:cNvSpPr/>
          <p:nvPr/>
        </p:nvSpPr>
        <p:spPr>
          <a:xfrm>
            <a:off x="6126479"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79"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Citations checked</a:t>
            </a:r>
          </a:p>
        </p:txBody>
      </p:sp>
      <p:sp>
        <p:nvSpPr>
          <p:cNvPr id="15" name="TextBox 14"/>
          <p:cNvSpPr txBox="1"/>
          <p:nvPr/>
        </p:nvSpPr>
        <p:spPr>
          <a:xfrm>
            <a:off x="6355079"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 cited case or procedure must come from a tool result. Anything else is repaired or replaced by the deterministic path.</a:t>
            </a:r>
          </a:p>
        </p:txBody>
      </p:sp>
      <p:sp>
        <p:nvSpPr>
          <p:cNvPr id="16" name="Rounded Rectangle 15"/>
          <p:cNvSpPr/>
          <p:nvPr/>
        </p:nvSpPr>
        <p:spPr>
          <a:xfrm>
            <a:off x="8915399" y="1828800"/>
            <a:ext cx="2606040" cy="329184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3999" y="2057400"/>
            <a:ext cx="214884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A person approves</a:t>
            </a:r>
          </a:p>
        </p:txBody>
      </p:sp>
      <p:sp>
        <p:nvSpPr>
          <p:cNvPr id="18" name="TextBox 17"/>
          <p:cNvSpPr txBox="1"/>
          <p:nvPr/>
        </p:nvSpPr>
        <p:spPr>
          <a:xfrm>
            <a:off x="9143999" y="2880360"/>
            <a:ext cx="2194560" cy="210312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By default an operator approves. An audited policy may approve eligible safe cases only where a room enables it.</a:t>
            </a:r>
          </a:p>
        </p:txBody>
      </p:sp>
      <p:sp>
        <p:nvSpPr>
          <p:cNvPr id="19" name="TextBox 18"/>
          <p:cNvSpPr txBox="1"/>
          <p:nvPr/>
        </p:nvSpPr>
        <p:spPr>
          <a:xfrm>
            <a:off x="548640" y="5394960"/>
            <a:ext cx="11064240" cy="548640"/>
          </a:xfrm>
          <a:prstGeom prst="rect">
            <a:avLst/>
          </a:prstGeom>
          <a:noFill/>
        </p:spPr>
        <p:txBody>
          <a:bodyPr wrap="square" anchor="t" lIns="18288" rIns="18288" tIns="18288" bIns="18288">
            <a:spAutoFit/>
          </a:bodyPr>
          <a:lstStyle/>
          <a:p>
            <a:pPr algn="l">
              <a:spcAft>
                <a:spcPts val="0"/>
              </a:spcAft>
            </a:pPr>
            <a:r>
              <a:rPr sz="1300" b="0">
                <a:solidFill>
                  <a:srgbClr val="667085"/>
                </a:solidFill>
                <a:latin typeface="Inter"/>
              </a:rPr>
              <a:t>Scenario checks, run 3: hazard and input policy decided with no model call in 6 of 6 scenarios. Finite test set, not a coverage guarantee.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TRUST</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Honest by design</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10</a:t>
            </a:r>
          </a:p>
        </p:txBody>
      </p:sp>
      <p:sp>
        <p:nvSpPr>
          <p:cNvPr id="6" name="Rounded Rectangle 5"/>
          <p:cNvSpPr/>
          <p:nvPr/>
        </p:nvSpPr>
        <p:spPr>
          <a:xfrm>
            <a:off x="548640" y="160020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8308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Hidden truth</a:t>
            </a:r>
          </a:p>
        </p:txBody>
      </p:sp>
      <p:sp>
        <p:nvSpPr>
          <p:cNvPr id="8" name="TextBox 7"/>
          <p:cNvSpPr txBox="1"/>
          <p:nvPr/>
        </p:nvSpPr>
        <p:spPr>
          <a:xfrm>
            <a:off x="777240" y="246888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True skill and true fault cause stay hidden from every model, screen and chart.</a:t>
            </a:r>
          </a:p>
        </p:txBody>
      </p:sp>
      <p:sp>
        <p:nvSpPr>
          <p:cNvPr id="9" name="Rounded Rectangle 8"/>
          <p:cNvSpPr/>
          <p:nvPr/>
        </p:nvSpPr>
        <p:spPr>
          <a:xfrm>
            <a:off x="3383280" y="160020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11880" y="178308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Outcomes from truth</a:t>
            </a:r>
          </a:p>
        </p:txBody>
      </p:sp>
      <p:sp>
        <p:nvSpPr>
          <p:cNvPr id="11" name="TextBox 10"/>
          <p:cNvSpPr txBox="1"/>
          <p:nvPr/>
        </p:nvSpPr>
        <p:spPr>
          <a:xfrm>
            <a:off x="3611880" y="246888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Repairs succeed or fail from that hidden truth, not from what a model claims.</a:t>
            </a:r>
          </a:p>
        </p:txBody>
      </p:sp>
      <p:sp>
        <p:nvSpPr>
          <p:cNvPr id="12" name="Rounded Rectangle 11"/>
          <p:cNvSpPr/>
          <p:nvPr/>
        </p:nvSpPr>
        <p:spPr>
          <a:xfrm>
            <a:off x="548640" y="393192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11480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Baselines alongside</a:t>
            </a:r>
          </a:p>
        </p:txBody>
      </p:sp>
      <p:sp>
        <p:nvSpPr>
          <p:cNvPr id="14" name="TextBox 13"/>
          <p:cNvSpPr txBox="1"/>
          <p:nvPr/>
        </p:nvSpPr>
        <p:spPr>
          <a:xfrm>
            <a:off x="777240" y="480060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Nearest, naive score and most common fix run next to Compass; disagreements are recorded.</a:t>
            </a:r>
          </a:p>
        </p:txBody>
      </p:sp>
      <p:sp>
        <p:nvSpPr>
          <p:cNvPr id="15" name="Rounded Rectangle 14"/>
          <p:cNvSpPr/>
          <p:nvPr/>
        </p:nvSpPr>
        <p:spPr>
          <a:xfrm>
            <a:off x="3383280" y="3931920"/>
            <a:ext cx="2606040" cy="210312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611880" y="4114800"/>
            <a:ext cx="2194560" cy="73152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Fair analytics</a:t>
            </a:r>
          </a:p>
        </p:txBody>
      </p:sp>
      <p:sp>
        <p:nvSpPr>
          <p:cNvPr id="17" name="TextBox 16"/>
          <p:cNvSpPr txBox="1"/>
          <p:nvPr/>
        </p:nvSpPr>
        <p:spPr>
          <a:xfrm>
            <a:off x="3611880" y="4800600"/>
            <a:ext cx="2194560" cy="118872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Denominators shown, thin samples suppressed, no leaderboard. Pay, seniority and HR data are never inputs.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MEASURED ON NEBIUS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Valid rankings, thinking off where it helps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Dated 2026-10-19. Small samples: five runs or samples each. Validity only, not outcome accuracy.</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11</a:t>
            </a:r>
          </a:p>
        </p:txBody>
      </p:sp>
      <p:sp>
        <p:nvSpPr>
          <p:cNvPr id="7" name="TextBox 6"/>
          <p:cNvSpPr txBox="1"/>
          <p:nvPr/>
        </p:nvSpPr>
        <p:spPr>
          <a:xfrm>
            <a:off x="548640" y="1783080"/>
            <a:ext cx="6766560" cy="274320"/>
          </a:xfrm>
          <a:prstGeom prst="rect">
            <a:avLst/>
          </a:prstGeom>
          <a:noFill/>
        </p:spPr>
        <p:txBody>
          <a:bodyPr wrap="square" anchor="t" lIns="18288" rIns="18288" tIns="18288" bIns="18288">
            <a:spAutoFit/>
          </a:bodyPr>
          <a:lstStyle/>
          <a:p>
            <a:pPr algn="l">
              <a:spcAft>
                <a:spcPts val="0"/>
              </a:spcAft>
            </a:pPr>
            <a:r>
              <a:rPr sz="1200" b="1">
                <a:solidFill>
                  <a:srgbClr val="111827"/>
                </a:solidFill>
                <a:latin typeface="Inter"/>
              </a:rPr>
              <a:t>Generic ranking probe, both supplied ids</a:t>
            </a:r>
          </a:p>
        </p:txBody>
      </p:sp>
      <p:graphicFrame>
        <p:nvGraphicFramePr>
          <p:cNvPr id="8" name="Table 7"/>
          <p:cNvGraphicFramePr>
            <a:graphicFrameLocks noGrp="1"/>
          </p:cNvGraphicFramePr>
          <p:nvPr/>
        </p:nvGraphicFramePr>
        <p:xfrm>
          <a:off x="548640" y="2103120"/>
          <a:ext cx="6766560" cy="2057400"/>
        </p:xfrm>
        <a:graphic>
          <a:graphicData uri="http://schemas.openxmlformats.org/drawingml/2006/table">
            <a:tbl>
              <a:tblPr firstRow="1" bandRow="1">
                <a:tableStyleId>{5C22544A-7EE6-4342-B048-85BDC9FD1C3A}</a:tableStyleId>
              </a:tblPr>
              <a:tblGrid>
                <a:gridCol w="2286000"/>
                <a:gridCol w="2651760"/>
                <a:gridCol w="1828800"/>
              </a:tblGrid>
              <a:tr h="411480">
                <a:tc>
                  <a:txBody>
                    <a:bodyPr wrap="square"/>
                    <a:lstStyle/>
                    <a:p>
                      <a:r>
                        <a:rPr sz="1200" b="1">
                          <a:solidFill>
                            <a:srgbClr val="FFFFFF"/>
                          </a:solidFill>
                          <a:latin typeface="Inter"/>
                        </a:rPr>
                        <a:t>Model</a:t>
                      </a:r>
                    </a:p>
                  </a:txBody>
                  <a:tcPr marL="73152" marR="73152">
                    <a:solidFill>
                      <a:srgbClr val="1E1B4B"/>
                    </a:solidFill>
                  </a:tcPr>
                </a:tc>
                <a:tc>
                  <a:txBody>
                    <a:bodyPr wrap="square"/>
                    <a:lstStyle/>
                    <a:p>
                      <a:r>
                        <a:rPr sz="1200" b="1">
                          <a:solidFill>
                            <a:srgbClr val="FFFFFF"/>
                          </a:solidFill>
                          <a:latin typeface="Inter"/>
                        </a:rPr>
                        <a:t>Thinking on (default)</a:t>
                      </a:r>
                    </a:p>
                  </a:txBody>
                  <a:tcPr marL="73152" marR="73152">
                    <a:solidFill>
                      <a:srgbClr val="1E1B4B"/>
                    </a:solidFill>
                  </a:tcPr>
                </a:tc>
                <a:tc>
                  <a:txBody>
                    <a:bodyPr wrap="square"/>
                    <a:lstStyle/>
                    <a:p>
                      <a:r>
                        <a:rPr sz="1200" b="1">
                          <a:solidFill>
                            <a:srgbClr val="FFFFFF"/>
                          </a:solidFill>
                          <a:latin typeface="Inter"/>
                        </a:rPr>
                        <a:t>Thinking off</a:t>
                      </a:r>
                    </a:p>
                  </a:txBody>
                  <a:tcPr marL="73152" marR="73152">
                    <a:solidFill>
                      <a:srgbClr val="1E1B4B"/>
                    </a:solidFill>
                  </a:tcPr>
                </a:tc>
              </a:tr>
              <a:tr h="411480">
                <a:tc>
                  <a:txBody>
                    <a:bodyPr wrap="square"/>
                    <a:lstStyle/>
                    <a:p>
                      <a:r>
                        <a:rPr sz="1200" b="0">
                          <a:solidFill>
                            <a:srgbClr val="111827"/>
                          </a:solidFill>
                          <a:latin typeface="Inter"/>
                        </a:rPr>
                        <a:t>Nemotron 3 Ultra</a:t>
                      </a:r>
                    </a:p>
                  </a:txBody>
                  <a:tcPr marL="73152" marR="73152">
                    <a:solidFill>
                      <a:srgbClr val="FFFFFF"/>
                    </a:solidFill>
                  </a:tcPr>
                </a:tc>
                <a:tc>
                  <a:txBody>
                    <a:bodyPr wrap="square"/>
                    <a:lstStyle/>
                    <a:p>
                      <a:r>
                        <a:rPr sz="1200" b="0">
                          <a:solidFill>
                            <a:srgbClr val="111827"/>
                          </a:solidFill>
                          <a:latin typeface="Inter"/>
                        </a:rPr>
                        <a:t>5/5 · median 1.8 s</a:t>
                      </a:r>
                    </a:p>
                  </a:txBody>
                  <a:tcPr marL="73152" marR="73152">
                    <a:solidFill>
                      <a:srgbClr val="FFFFFF"/>
                    </a:solidFill>
                  </a:tcPr>
                </a:tc>
                <a:tc>
                  <a:txBody>
                    <a:bodyPr wrap="square"/>
                    <a:lstStyle/>
                    <a:p>
                      <a:r>
                        <a:rPr sz="1200" b="0">
                          <a:solidFill>
                            <a:srgbClr val="111827"/>
                          </a:solidFill>
                          <a:latin typeface="Inter"/>
                        </a:rPr>
                        <a:t>5/5 · 0.8 s</a:t>
                      </a:r>
                    </a:p>
                  </a:txBody>
                  <a:tcPr marL="73152" marR="73152">
                    <a:solidFill>
                      <a:srgbClr val="FFFFFF"/>
                    </a:solidFill>
                  </a:tcPr>
                </a:tc>
              </a:tr>
              <a:tr h="411480">
                <a:tc>
                  <a:txBody>
                    <a:bodyPr wrap="square"/>
                    <a:lstStyle/>
                    <a:p>
                      <a:r>
                        <a:rPr sz="1200" b="0">
                          <a:solidFill>
                            <a:srgbClr val="111827"/>
                          </a:solidFill>
                          <a:latin typeface="Inter"/>
                        </a:rPr>
                        <a:t>Nemotron 3 Super</a:t>
                      </a:r>
                    </a:p>
                  </a:txBody>
                  <a:tcPr marL="73152" marR="73152">
                    <a:solidFill>
                      <a:srgbClr val="EEF0FF"/>
                    </a:solidFill>
                  </a:tcPr>
                </a:tc>
                <a:tc>
                  <a:txBody>
                    <a:bodyPr wrap="square"/>
                    <a:lstStyle/>
                    <a:p>
                      <a:r>
                        <a:rPr sz="1200" b="0">
                          <a:solidFill>
                            <a:srgbClr val="111827"/>
                          </a:solidFill>
                          <a:latin typeface="Inter"/>
                        </a:rPr>
                        <a:t>5/5 · 3.1 s</a:t>
                      </a:r>
                    </a:p>
                  </a:txBody>
                  <a:tcPr marL="73152" marR="73152">
                    <a:solidFill>
                      <a:srgbClr val="EEF0FF"/>
                    </a:solidFill>
                  </a:tcPr>
                </a:tc>
                <a:tc>
                  <a:txBody>
                    <a:bodyPr wrap="square"/>
                    <a:lstStyle/>
                    <a:p>
                      <a:r>
                        <a:rPr sz="1200" b="0">
                          <a:solidFill>
                            <a:srgbClr val="111827"/>
                          </a:solidFill>
                          <a:latin typeface="Inter"/>
                        </a:rPr>
                        <a:t>5/5 · 0.9 s</a:t>
                      </a:r>
                    </a:p>
                  </a:txBody>
                  <a:tcPr marL="73152" marR="73152">
                    <a:solidFill>
                      <a:srgbClr val="EEF0FF"/>
                    </a:solidFill>
                  </a:tcPr>
                </a:tc>
              </a:tr>
              <a:tr h="411480">
                <a:tc>
                  <a:txBody>
                    <a:bodyPr wrap="square"/>
                    <a:lstStyle/>
                    <a:p>
                      <a:r>
                        <a:rPr sz="1200" b="0">
                          <a:solidFill>
                            <a:srgbClr val="111827"/>
                          </a:solidFill>
                          <a:latin typeface="Inter"/>
                        </a:rPr>
                        <a:t>Nemotron 3.5 Lightning</a:t>
                      </a:r>
                    </a:p>
                  </a:txBody>
                  <a:tcPr marL="73152" marR="73152">
                    <a:solidFill>
                      <a:srgbClr val="FFFFFF"/>
                    </a:solidFill>
                  </a:tcPr>
                </a:tc>
                <a:tc>
                  <a:txBody>
                    <a:bodyPr wrap="square"/>
                    <a:lstStyle/>
                    <a:p>
                      <a:r>
                        <a:rPr sz="1200" b="0">
                          <a:solidFill>
                            <a:srgbClr val="111827"/>
                          </a:solidFill>
                          <a:latin typeface="Inter"/>
                        </a:rPr>
                        <a:t>1/5 · truncated at 1,024 tokens</a:t>
                      </a:r>
                    </a:p>
                  </a:txBody>
                  <a:tcPr marL="73152" marR="73152">
                    <a:solidFill>
                      <a:srgbClr val="FFFFFF"/>
                    </a:solidFill>
                  </a:tcPr>
                </a:tc>
                <a:tc>
                  <a:txBody>
                    <a:bodyPr wrap="square"/>
                    <a:lstStyle/>
                    <a:p>
                      <a:r>
                        <a:rPr sz="1200" b="0">
                          <a:solidFill>
                            <a:srgbClr val="111827"/>
                          </a:solidFill>
                          <a:latin typeface="Inter"/>
                        </a:rPr>
                        <a:t>5/5 · 0.7 s</a:t>
                      </a:r>
                    </a:p>
                  </a:txBody>
                  <a:tcPr marL="73152" marR="73152">
                    <a:solidFill>
                      <a:srgbClr val="FFFFFF"/>
                    </a:solidFill>
                  </a:tcPr>
                </a:tc>
              </a:tr>
              <a:tr h="411480">
                <a:tc>
                  <a:txBody>
                    <a:bodyPr wrap="square"/>
                    <a:lstStyle/>
                    <a:p>
                      <a:r>
                        <a:rPr sz="1200" b="0">
                          <a:solidFill>
                            <a:srgbClr val="111827"/>
                          </a:solidFill>
                          <a:latin typeface="Inter"/>
                        </a:rPr>
                        <a:t>Nemotron 3 Nano</a:t>
                      </a:r>
                    </a:p>
                  </a:txBody>
                  <a:tcPr marL="73152" marR="73152">
                    <a:solidFill>
                      <a:srgbClr val="EEF0FF"/>
                    </a:solidFill>
                  </a:tcPr>
                </a:tc>
                <a:tc>
                  <a:txBody>
                    <a:bodyPr wrap="square"/>
                    <a:lstStyle/>
                    <a:p>
                      <a:r>
                        <a:rPr sz="1200" b="0">
                          <a:solidFill>
                            <a:srgbClr val="111827"/>
                          </a:solidFill>
                          <a:latin typeface="Inter"/>
                        </a:rPr>
                        <a:t>5/5 · 3.9 s</a:t>
                      </a:r>
                    </a:p>
                  </a:txBody>
                  <a:tcPr marL="73152" marR="73152">
                    <a:solidFill>
                      <a:srgbClr val="EEF0FF"/>
                    </a:solidFill>
                  </a:tcPr>
                </a:tc>
                <a:tc>
                  <a:txBody>
                    <a:bodyPr wrap="square"/>
                    <a:lstStyle/>
                    <a:p>
                      <a:r>
                        <a:rPr sz="1200" b="0">
                          <a:solidFill>
                            <a:srgbClr val="111827"/>
                          </a:solidFill>
                          <a:latin typeface="Inter"/>
                        </a:rPr>
                        <a:t>2/5 · omitted a candidate</a:t>
                      </a:r>
                    </a:p>
                  </a:txBody>
                  <a:tcPr marL="73152" marR="73152">
                    <a:solidFill>
                      <a:srgbClr val="EEF0FF"/>
                    </a:solidFill>
                  </a:tcPr>
                </a:tc>
              </a:tr>
            </a:tbl>
          </a:graphicData>
        </a:graphic>
      </p:graphicFrame>
      <p:sp>
        <p:nvSpPr>
          <p:cNvPr id="9" name="TextBox 8"/>
          <p:cNvSpPr txBox="1"/>
          <p:nvPr/>
        </p:nvSpPr>
        <p:spPr>
          <a:xfrm>
            <a:off x="548640" y="4572000"/>
            <a:ext cx="6766560" cy="274320"/>
          </a:xfrm>
          <a:prstGeom prst="rect">
            <a:avLst/>
          </a:prstGeom>
          <a:noFill/>
        </p:spPr>
        <p:txBody>
          <a:bodyPr wrap="square" anchor="t" lIns="18288" rIns="18288" tIns="18288" bIns="18288">
            <a:spAutoFit/>
          </a:bodyPr>
          <a:lstStyle/>
          <a:p>
            <a:pPr algn="l">
              <a:spcAft>
                <a:spcPts val="0"/>
              </a:spcAft>
            </a:pPr>
            <a:r>
              <a:rPr sz="1200" b="1">
                <a:solidFill>
                  <a:srgbClr val="111827"/>
                </a:solidFill>
                <a:latin typeface="Inter"/>
              </a:rPr>
              <a:t>Compass's own packets, thinking off</a:t>
            </a:r>
          </a:p>
        </p:txBody>
      </p:sp>
      <p:graphicFrame>
        <p:nvGraphicFramePr>
          <p:cNvPr id="10" name="Table 9"/>
          <p:cNvGraphicFramePr>
            <a:graphicFrameLocks noGrp="1"/>
          </p:cNvGraphicFramePr>
          <p:nvPr/>
        </p:nvGraphicFramePr>
        <p:xfrm>
          <a:off x="548640" y="4892040"/>
          <a:ext cx="6766560" cy="1152144"/>
        </p:xfrm>
        <a:graphic>
          <a:graphicData uri="http://schemas.openxmlformats.org/drawingml/2006/table">
            <a:tbl>
              <a:tblPr firstRow="1" bandRow="1">
                <a:tableStyleId>{5C22544A-7EE6-4342-B048-85BDC9FD1C3A}</a:tableStyleId>
              </a:tblPr>
              <a:tblGrid>
                <a:gridCol w="2926080"/>
                <a:gridCol w="2286000"/>
                <a:gridCol w="1554480"/>
              </a:tblGrid>
              <a:tr h="384048">
                <a:tc>
                  <a:txBody>
                    <a:bodyPr wrap="square"/>
                    <a:lstStyle/>
                    <a:p>
                      <a:r>
                        <a:rPr sz="1200" b="1">
                          <a:solidFill>
                            <a:srgbClr val="FFFFFF"/>
                          </a:solidFill>
                          <a:latin typeface="Inter"/>
                        </a:rPr>
                        <a:t>Role</a:t>
                      </a:r>
                    </a:p>
                  </a:txBody>
                  <a:tcPr marL="73152" marR="73152">
                    <a:solidFill>
                      <a:srgbClr val="1E1B4B"/>
                    </a:solidFill>
                  </a:tcPr>
                </a:tc>
                <a:tc>
                  <a:txBody>
                    <a:bodyPr wrap="square"/>
                    <a:lstStyle/>
                    <a:p>
                      <a:r>
                        <a:rPr sz="1200" b="1">
                          <a:solidFill>
                            <a:srgbClr val="FFFFFF"/>
                          </a:solidFill>
                          <a:latin typeface="Inter"/>
                        </a:rPr>
                        <a:t>Model</a:t>
                      </a:r>
                    </a:p>
                  </a:txBody>
                  <a:tcPr marL="73152" marR="73152">
                    <a:solidFill>
                      <a:srgbClr val="1E1B4B"/>
                    </a:solidFill>
                  </a:tcPr>
                </a:tc>
                <a:tc>
                  <a:txBody>
                    <a:bodyPr wrap="square"/>
                    <a:lstStyle/>
                    <a:p>
                      <a:r>
                        <a:rPr sz="1200" b="1">
                          <a:solidFill>
                            <a:srgbClr val="FFFFFF"/>
                          </a:solidFill>
                          <a:latin typeface="Inter"/>
                        </a:rPr>
                        <a:t>Valid, time</a:t>
                      </a:r>
                    </a:p>
                  </a:txBody>
                  <a:tcPr marL="73152" marR="73152">
                    <a:solidFill>
                      <a:srgbClr val="1E1B4B"/>
                    </a:solidFill>
                  </a:tcPr>
                </a:tc>
              </a:tr>
              <a:tr h="384048">
                <a:tc>
                  <a:txBody>
                    <a:bodyPr wrap="square"/>
                    <a:lstStyle/>
                    <a:p>
                      <a:r>
                        <a:rPr sz="1200" b="0">
                          <a:solidFill>
                            <a:srgbClr val="111827"/>
                          </a:solidFill>
                          <a:latin typeface="Inter"/>
                        </a:rPr>
                        <a:t>Responder, fix and staffing ranking</a:t>
                      </a:r>
                    </a:p>
                  </a:txBody>
                  <a:tcPr marL="73152" marR="73152">
                    <a:solidFill>
                      <a:srgbClr val="FFFFFF"/>
                    </a:solidFill>
                  </a:tcPr>
                </a:tc>
                <a:tc>
                  <a:txBody>
                    <a:bodyPr wrap="square"/>
                    <a:lstStyle/>
                    <a:p>
                      <a:r>
                        <a:rPr sz="1200" b="0">
                          <a:solidFill>
                            <a:srgbClr val="111827"/>
                          </a:solidFill>
                          <a:latin typeface="Inter"/>
                        </a:rPr>
                        <a:t>Nemotron 3 Super</a:t>
                      </a:r>
                    </a:p>
                  </a:txBody>
                  <a:tcPr marL="73152" marR="73152">
                    <a:solidFill>
                      <a:srgbClr val="FFFFFF"/>
                    </a:solidFill>
                  </a:tcPr>
                </a:tc>
                <a:tc>
                  <a:txBody>
                    <a:bodyPr wrap="square"/>
                    <a:lstStyle/>
                    <a:p>
                      <a:r>
                        <a:rPr sz="1200" b="0">
                          <a:solidFill>
                            <a:srgbClr val="111827"/>
                          </a:solidFill>
                          <a:latin typeface="Inter"/>
                        </a:rPr>
                        <a:t>5/5 · 3.2 s</a:t>
                      </a:r>
                    </a:p>
                  </a:txBody>
                  <a:tcPr marL="73152" marR="73152">
                    <a:solidFill>
                      <a:srgbClr val="FFFFFF"/>
                    </a:solidFill>
                  </a:tcPr>
                </a:tc>
              </a:tr>
              <a:tr h="384048">
                <a:tc>
                  <a:txBody>
                    <a:bodyPr wrap="square"/>
                    <a:lstStyle/>
                    <a:p>
                      <a:r>
                        <a:rPr sz="1200" b="0">
                          <a:solidFill>
                            <a:srgbClr val="111827"/>
                          </a:solidFill>
                          <a:latin typeface="Inter"/>
                        </a:rPr>
                        <a:t>Event planner</a:t>
                      </a:r>
                    </a:p>
                  </a:txBody>
                  <a:tcPr marL="73152" marR="73152">
                    <a:solidFill>
                      <a:srgbClr val="EEF0FF"/>
                    </a:solidFill>
                  </a:tcPr>
                </a:tc>
                <a:tc>
                  <a:txBody>
                    <a:bodyPr wrap="square"/>
                    <a:lstStyle/>
                    <a:p>
                      <a:r>
                        <a:rPr sz="1200" b="0">
                          <a:solidFill>
                            <a:srgbClr val="111827"/>
                          </a:solidFill>
                          <a:latin typeface="Inter"/>
                        </a:rPr>
                        <a:t>Nemotron 3.5 Lightning</a:t>
                      </a:r>
                    </a:p>
                  </a:txBody>
                  <a:tcPr marL="73152" marR="73152">
                    <a:solidFill>
                      <a:srgbClr val="EEF0FF"/>
                    </a:solidFill>
                  </a:tcPr>
                </a:tc>
                <a:tc>
                  <a:txBody>
                    <a:bodyPr wrap="square"/>
                    <a:lstStyle/>
                    <a:p>
                      <a:r>
                        <a:rPr sz="1200" b="0">
                          <a:solidFill>
                            <a:srgbClr val="111827"/>
                          </a:solidFill>
                          <a:latin typeface="Inter"/>
                        </a:rPr>
                        <a:t>5/5 · 1.3 s</a:t>
                      </a:r>
                    </a:p>
                  </a:txBody>
                  <a:tcPr marL="73152" marR="73152">
                    <a:solidFill>
                      <a:srgbClr val="EEF0FF"/>
                    </a:solidFill>
                  </a:tcPr>
                </a:tc>
              </a:tr>
            </a:tbl>
          </a:graphicData>
        </a:graphic>
      </p:graphicFrame>
      <p:sp>
        <p:nvSpPr>
          <p:cNvPr id="11" name="Rounded Rectangle 10"/>
          <p:cNvSpPr/>
          <p:nvPr/>
        </p:nvSpPr>
        <p:spPr>
          <a:xfrm>
            <a:off x="7772400" y="1828800"/>
            <a:ext cx="3840480" cy="237744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46720" y="2011680"/>
            <a:ext cx="3291840" cy="457200"/>
          </a:xfrm>
          <a:prstGeom prst="rect">
            <a:avLst/>
          </a:prstGeom>
          <a:noFill/>
        </p:spPr>
        <p:txBody>
          <a:bodyPr wrap="square" anchor="t" lIns="18288" rIns="18288" tIns="18288" bIns="18288">
            <a:spAutoFit/>
          </a:bodyPr>
          <a:lstStyle/>
          <a:p>
            <a:pPr algn="l">
              <a:spcAft>
                <a:spcPts val="0"/>
              </a:spcAft>
            </a:pPr>
            <a:r>
              <a:rPr sz="1600" b="1">
                <a:solidFill>
                  <a:srgbClr val="FFFFFF"/>
                </a:solidFill>
                <a:latin typeface="Inter"/>
              </a:rPr>
              <a:t>Thinking control</a:t>
            </a:r>
          </a:p>
        </p:txBody>
      </p:sp>
      <p:sp>
        <p:nvSpPr>
          <p:cNvPr id="13" name="TextBox 12"/>
          <p:cNvSpPr txBox="1"/>
          <p:nvPr/>
        </p:nvSpPr>
        <p:spPr>
          <a:xfrm>
            <a:off x="8046720" y="2514600"/>
            <a:ext cx="3291840" cy="164592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Each model maps to chat_template_kwargs.enable_thinking. Thinking is off for ranking by default; the Super packet with thinking on was slower and less consistent (4/5, 17.6 s).</a:t>
            </a:r>
          </a:p>
        </p:txBody>
      </p:sp>
      <p:sp>
        <p:nvSpPr>
          <p:cNvPr id="14" name="TextBox 13"/>
          <p:cNvSpPr txBox="1"/>
          <p:nvPr/>
        </p:nvSpPr>
        <p:spPr>
          <a:xfrm>
            <a:off x="7772400" y="4480560"/>
            <a:ext cx="3840480" cy="137160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Ranking is validated in code. Output that fails validation falls back to the deterministic order, so dispatch never stops.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MEASURED ON NEBIUS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First-fix replay, two live runs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60 held-out issues, the same responders, state and draws in every arm. Run B and a repeat, run C, on the same code.</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12</a:t>
            </a:r>
          </a:p>
        </p:txBody>
      </p:sp>
      <p:sp>
        <p:nvSpPr>
          <p:cNvPr id="7" name="Rounded Rectangle 6"/>
          <p:cNvSpPr/>
          <p:nvPr/>
        </p:nvSpPr>
        <p:spPr>
          <a:xfrm>
            <a:off x="548640" y="1828800"/>
            <a:ext cx="3474720" cy="173736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11680"/>
            <a:ext cx="2926079" cy="640080"/>
          </a:xfrm>
          <a:prstGeom prst="rect">
            <a:avLst/>
          </a:prstGeom>
          <a:noFill/>
        </p:spPr>
        <p:txBody>
          <a:bodyPr wrap="square" anchor="t" lIns="18288" rIns="18288" tIns="18288" bIns="18288">
            <a:spAutoFit/>
          </a:bodyPr>
          <a:lstStyle/>
          <a:p>
            <a:pPr algn="l">
              <a:spcAft>
                <a:spcPts val="0"/>
              </a:spcAft>
            </a:pPr>
            <a:r>
              <a:rPr sz="3400" b="1">
                <a:solidFill>
                  <a:srgbClr val="FFFFFF"/>
                </a:solidFill>
                <a:latin typeface="Inter"/>
              </a:rPr>
              <a:t>46 / 60</a:t>
            </a:r>
          </a:p>
        </p:txBody>
      </p:sp>
      <p:sp>
        <p:nvSpPr>
          <p:cNvPr id="9" name="TextBox 8"/>
          <p:cNvSpPr txBox="1"/>
          <p:nvPr/>
        </p:nvSpPr>
        <p:spPr>
          <a:xfrm>
            <a:off x="822959" y="2697480"/>
            <a:ext cx="2926079" cy="777239"/>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Investigator, run B (repeat run C: 45 / 60)</a:t>
            </a:r>
          </a:p>
        </p:txBody>
      </p:sp>
      <p:sp>
        <p:nvSpPr>
          <p:cNvPr id="10" name="Rounded Rectangle 9"/>
          <p:cNvSpPr/>
          <p:nvPr/>
        </p:nvSpPr>
        <p:spPr>
          <a:xfrm>
            <a:off x="4343400" y="1828800"/>
            <a:ext cx="3474720"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17720" y="2011680"/>
            <a:ext cx="2926079"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46 / 60</a:t>
            </a:r>
          </a:p>
        </p:txBody>
      </p:sp>
      <p:sp>
        <p:nvSpPr>
          <p:cNvPr id="12" name="TextBox 11"/>
          <p:cNvSpPr txBox="1"/>
          <p:nvPr/>
        </p:nvSpPr>
        <p:spPr>
          <a:xfrm>
            <a:off x="4617720" y="2697480"/>
            <a:ext cx="2926079"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Deterministic order, same issues in both runs</a:t>
            </a:r>
          </a:p>
        </p:txBody>
      </p:sp>
      <p:sp>
        <p:nvSpPr>
          <p:cNvPr id="13" name="Rounded Rectangle 12"/>
          <p:cNvSpPr/>
          <p:nvPr/>
        </p:nvSpPr>
        <p:spPr>
          <a:xfrm>
            <a:off x="8138160" y="1828800"/>
            <a:ext cx="3474720"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12480" y="2011680"/>
            <a:ext cx="2926079"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41 / 60</a:t>
            </a:r>
          </a:p>
        </p:txBody>
      </p:sp>
      <p:sp>
        <p:nvSpPr>
          <p:cNvPr id="15" name="TextBox 14"/>
          <p:cNvSpPr txBox="1"/>
          <p:nvPr/>
        </p:nvSpPr>
        <p:spPr>
          <a:xfrm>
            <a:off x="8412480" y="2697480"/>
            <a:ext cx="2926079"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Class-frequency baseline, same issues in both runs</a:t>
            </a:r>
          </a:p>
        </p:txBody>
      </p:sp>
      <p:sp>
        <p:nvSpPr>
          <p:cNvPr id="16" name="Rounded Rectangle 15"/>
          <p:cNvSpPr/>
          <p:nvPr/>
        </p:nvSpPr>
        <p:spPr>
          <a:xfrm>
            <a:off x="548640" y="3840480"/>
            <a:ext cx="1106424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023360"/>
            <a:ext cx="10515600" cy="36576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Fallbacks, discordant pairs and limits</a:t>
            </a:r>
          </a:p>
        </p:txBody>
      </p:sp>
      <p:sp>
        <p:nvSpPr>
          <p:cNvPr id="18" name="TextBox 17"/>
          <p:cNvSpPr txBox="1"/>
          <p:nvPr/>
        </p:nvSpPr>
        <p:spPr>
          <a:xfrm>
            <a:off x="822960" y="4480560"/>
            <a:ext cx="10515600" cy="1554480"/>
          </a:xfrm>
          <a:prstGeom prst="rect">
            <a:avLst/>
          </a:prstGeom>
          <a:noFill/>
        </p:spPr>
        <p:txBody>
          <a:bodyPr wrap="square" anchor="t" lIns="18288" rIns="18288" tIns="18288" bIns="18288">
            <a:spAutoFit/>
          </a:bodyPr>
          <a:lstStyle/>
          <a:p>
            <a:pPr algn="l">
              <a:spcAft>
                <a:spcPts val="600"/>
              </a:spcAft>
            </a:pPr>
            <a:r>
              <a:rPr sz="1300" b="0">
                <a:solidFill>
                  <a:srgbClr val="475467"/>
                </a:solidFill>
                <a:latin typeface="Inter"/>
              </a:rPr>
              <a:t>Run B: 7 of 60 first answers fell back; discordant pairs 7 Investigator-only vs 2 baseline-only, and 2 vs 2 against the deterministic order.</a:t>
            </a:r>
          </a:p>
          <a:p>
            <a:pPr algn="l">
              <a:spcAft>
                <a:spcPts val="600"/>
              </a:spcAft>
            </a:pPr>
            <a:r>
              <a:rPr sz="1300" b="0">
                <a:solidFill>
                  <a:srgbClr val="475467"/>
                </a:solidFill>
                <a:latin typeface="Inter"/>
              </a:rPr>
              <a:t>Run C, same code: 23 of 60 fell back; discordant pairs 6 vs 2 against the baseline, and 2 vs 3 against the deterministic order.</a:t>
            </a:r>
          </a:p>
          <a:p>
            <a:pPr algn="l">
              <a:spcAft>
                <a:spcPts val="600"/>
              </a:spcAft>
            </a:pPr>
            <a:r>
              <a:rPr sz="1300" b="0">
                <a:solidFill>
                  <a:srgbClr val="475467"/>
                </a:solidFill>
                <a:latin typeface="Inter"/>
              </a:rPr>
              <a:t>One window, 60 issues, one sample each. No significance claim, and no demonstrated gain over the deterministic order.</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MEASURED ON NEBIUS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Investigator checks, run 3</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Scenario evaluation on Token Factory after the security fixes. 2026-10-19; a small, finite scenario set.</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13</a:t>
            </a:r>
          </a:p>
        </p:txBody>
      </p:sp>
      <p:sp>
        <p:nvSpPr>
          <p:cNvPr id="7" name="Rounded Rectangle 6"/>
          <p:cNvSpPr/>
          <p:nvPr/>
        </p:nvSpPr>
        <p:spPr>
          <a:xfrm>
            <a:off x="548640" y="1828800"/>
            <a:ext cx="2606040" cy="201168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FFFFFF"/>
                </a:solidFill>
                <a:latin typeface="Inter"/>
              </a:rPr>
              <a:t>24 / 24</a:t>
            </a:r>
          </a:p>
        </p:txBody>
      </p:sp>
      <p:sp>
        <p:nvSpPr>
          <p:cNvPr id="9" name="TextBox 8"/>
          <p:cNvSpPr txBox="1"/>
          <p:nvPr/>
        </p:nvSpPr>
        <p:spPr>
          <a:xfrm>
            <a:off x="822959"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outcome class matches the expected class</a:t>
            </a:r>
          </a:p>
        </p:txBody>
      </p:sp>
      <p:sp>
        <p:nvSpPr>
          <p:cNvPr id="10" name="Rounded Rectangle 9"/>
          <p:cNvSpPr/>
          <p:nvPr/>
        </p:nvSpPr>
        <p:spPr>
          <a:xfrm>
            <a:off x="3383280" y="1828800"/>
            <a:ext cx="2606040" cy="20116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57600"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4F46E5"/>
                </a:solidFill>
                <a:latin typeface="Inter"/>
              </a:rPr>
              <a:t>60 / 60</a:t>
            </a:r>
          </a:p>
        </p:txBody>
      </p:sp>
      <p:sp>
        <p:nvSpPr>
          <p:cNvPr id="12" name="TextBox 11"/>
          <p:cNvSpPr txBox="1"/>
          <p:nvPr/>
        </p:nvSpPr>
        <p:spPr>
          <a:xfrm>
            <a:off x="3657600"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accepted citations were tool-returned references</a:t>
            </a:r>
          </a:p>
        </p:txBody>
      </p:sp>
      <p:sp>
        <p:nvSpPr>
          <p:cNvPr id="13" name="Rounded Rectangle 12"/>
          <p:cNvSpPr/>
          <p:nvPr/>
        </p:nvSpPr>
        <p:spPr>
          <a:xfrm>
            <a:off x="6217920" y="1828800"/>
            <a:ext cx="2606040" cy="20116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92240"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4F46E5"/>
                </a:solidFill>
                <a:latin typeface="Inter"/>
              </a:rPr>
              <a:t>8 / 8</a:t>
            </a:r>
          </a:p>
        </p:txBody>
      </p:sp>
      <p:sp>
        <p:nvSpPr>
          <p:cNvPr id="15" name="TextBox 14"/>
          <p:cNvSpPr txBox="1"/>
          <p:nvPr/>
        </p:nvSpPr>
        <p:spPr>
          <a:xfrm>
            <a:off x="6492240"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abstention precision; recall is also 8 / 8</a:t>
            </a:r>
          </a:p>
        </p:txBody>
      </p:sp>
      <p:sp>
        <p:nvSpPr>
          <p:cNvPr id="16" name="Rounded Rectangle 15"/>
          <p:cNvSpPr/>
          <p:nvPr/>
        </p:nvSpPr>
        <p:spPr>
          <a:xfrm>
            <a:off x="9052560" y="1828800"/>
            <a:ext cx="2606040" cy="20116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326880" y="2011680"/>
            <a:ext cx="2057400" cy="640080"/>
          </a:xfrm>
          <a:prstGeom prst="rect">
            <a:avLst/>
          </a:prstGeom>
          <a:noFill/>
        </p:spPr>
        <p:txBody>
          <a:bodyPr wrap="square" anchor="t" lIns="18288" rIns="18288" tIns="18288" bIns="18288">
            <a:spAutoFit/>
          </a:bodyPr>
          <a:lstStyle/>
          <a:p>
            <a:pPr algn="l">
              <a:spcAft>
                <a:spcPts val="0"/>
              </a:spcAft>
            </a:pPr>
            <a:r>
              <a:rPr sz="3000" b="1">
                <a:solidFill>
                  <a:srgbClr val="4F46E5"/>
                </a:solidFill>
                <a:latin typeface="Inter"/>
              </a:rPr>
              <a:t>6 / 6</a:t>
            </a:r>
          </a:p>
        </p:txBody>
      </p:sp>
      <p:sp>
        <p:nvSpPr>
          <p:cNvPr id="18" name="TextBox 17"/>
          <p:cNvSpPr txBox="1"/>
          <p:nvPr/>
        </p:nvSpPr>
        <p:spPr>
          <a:xfrm>
            <a:off x="9326880" y="2697480"/>
            <a:ext cx="2057400" cy="105156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hazard and input policy decided with no model call</a:t>
            </a:r>
          </a:p>
        </p:txBody>
      </p:sp>
      <p:sp>
        <p:nvSpPr>
          <p:cNvPr id="19" name="Rounded Rectangle 18"/>
          <p:cNvSpPr/>
          <p:nvPr/>
        </p:nvSpPr>
        <p:spPr>
          <a:xfrm>
            <a:off x="548640" y="4206240"/>
            <a:ext cx="11064240" cy="18288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 y="4389120"/>
            <a:ext cx="10515600" cy="36576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What the counts mean</a:t>
            </a:r>
          </a:p>
        </p:txBody>
      </p:sp>
      <p:sp>
        <p:nvSpPr>
          <p:cNvPr id="21" name="TextBox 20"/>
          <p:cNvSpPr txBox="1"/>
          <p:nvPr/>
        </p:nvSpPr>
        <p:spPr>
          <a:xfrm>
            <a:off x="822960" y="4800600"/>
            <a:ext cx="10515600" cy="1280160"/>
          </a:xfrm>
          <a:prstGeom prst="rect">
            <a:avLst/>
          </a:prstGeom>
          <a:noFill/>
        </p:spPr>
        <p:txBody>
          <a:bodyPr wrap="square" anchor="t" lIns="18288" rIns="18288" tIns="18288" bIns="18288">
            <a:spAutoFit/>
          </a:bodyPr>
          <a:lstStyle/>
          <a:p>
            <a:pPr algn="l">
              <a:spcAft>
                <a:spcPts val="600"/>
              </a:spcAft>
            </a:pPr>
            <a:r>
              <a:rPr sz="1300" b="0">
                <a:solidFill>
                  <a:srgbClr val="475467"/>
                </a:solidFill>
                <a:latin typeface="Inter"/>
              </a:rPr>
              <a:t>Outcomes by path, overlapping and not additive: accepted 12, repaired 2, deterministic 11, raw invalid 2. Fallbacks are counted, not hidden.</a:t>
            </a:r>
          </a:p>
          <a:p>
            <a:pPr algn="l">
              <a:spcAft>
                <a:spcPts val="600"/>
              </a:spcAft>
            </a:pPr>
            <a:r>
              <a:rPr sz="1300" b="0">
                <a:solidFill>
                  <a:srgbClr val="475467"/>
                </a:solidFill>
                <a:latin typeface="Inter"/>
              </a:rPr>
              <a:t>Investigation latency p50 10.5 s, p95 32.9 s (15 cases, including deterministic and injected-provider cases).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STAFFING</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Overtime, decided by people</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Operator approval by default. Unanswered recommendations expire.</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14</a:t>
            </a:r>
          </a:p>
        </p:txBody>
      </p:sp>
      <p:sp>
        <p:nvSpPr>
          <p:cNvPr id="7" name="Chevron 6"/>
          <p:cNvSpPr/>
          <p:nvPr/>
        </p:nvSpPr>
        <p:spPr>
          <a:xfrm>
            <a:off x="548640" y="1828800"/>
            <a:ext cx="2834640" cy="658368"/>
          </a:xfrm>
          <a:prstGeom prst="chevron">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11827"/>
                </a:solidFill>
                <a:latin typeface="Inter"/>
              </a:rPr>
              <a:t>Backlog review</a:t>
            </a:r>
          </a:p>
        </p:txBody>
      </p:sp>
      <p:sp>
        <p:nvSpPr>
          <p:cNvPr id="8" name="Chevron 7"/>
          <p:cNvSpPr/>
          <p:nvPr/>
        </p:nvSpPr>
        <p:spPr>
          <a:xfrm>
            <a:off x="3291840" y="1828800"/>
            <a:ext cx="2834640" cy="658368"/>
          </a:xfrm>
          <a:prstGeom prst="chevron">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11827"/>
                </a:solidFill>
                <a:latin typeface="Inter"/>
              </a:rPr>
              <a:t>Lawful options only</a:t>
            </a:r>
          </a:p>
        </p:txBody>
      </p:sp>
      <p:sp>
        <p:nvSpPr>
          <p:cNvPr id="9" name="Chevron 8"/>
          <p:cNvSpPr/>
          <p:nvPr/>
        </p:nvSpPr>
        <p:spPr>
          <a:xfrm>
            <a:off x="6035040" y="1828800"/>
            <a:ext cx="2834640" cy="658368"/>
          </a:xfrm>
          <a:prstGeom prst="chevron">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FFFFFF"/>
                </a:solidFill>
                <a:latin typeface="Inter"/>
              </a:rPr>
              <a:t>Nemotron 3 Super ranks</a:t>
            </a:r>
          </a:p>
        </p:txBody>
      </p:sp>
      <p:sp>
        <p:nvSpPr>
          <p:cNvPr id="10" name="Chevron 9"/>
          <p:cNvSpPr/>
          <p:nvPr/>
        </p:nvSpPr>
        <p:spPr>
          <a:xfrm>
            <a:off x="8778240" y="1828800"/>
            <a:ext cx="2834640" cy="658368"/>
          </a:xfrm>
          <a:prstGeom prst="chevron">
            <a:avLst/>
          </a:prstGeom>
          <a:solidFill>
            <a:srgbClr val="FFF7ED"/>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00" b="1">
                <a:solidFill>
                  <a:srgbClr val="111827"/>
                </a:solidFill>
                <a:latin typeface="Inter"/>
              </a:rPr>
              <a:t>Command approves</a:t>
            </a:r>
          </a:p>
        </p:txBody>
      </p:sp>
      <p:sp>
        <p:nvSpPr>
          <p:cNvPr id="11" name="Oval 10"/>
          <p:cNvSpPr/>
          <p:nvPr/>
        </p:nvSpPr>
        <p:spPr>
          <a:xfrm>
            <a:off x="548640" y="292608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12" name="TextBox 11"/>
          <p:cNvSpPr txBox="1"/>
          <p:nvPr/>
        </p:nvSpPr>
        <p:spPr>
          <a:xfrm>
            <a:off x="1207007" y="285292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Configured limits first</a:t>
            </a:r>
          </a:p>
        </p:txBody>
      </p:sp>
      <p:sp>
        <p:nvSpPr>
          <p:cNvPr id="13" name="TextBox 12"/>
          <p:cNvSpPr txBox="1"/>
          <p:nvPr/>
        </p:nvSpPr>
        <p:spPr>
          <a:xfrm>
            <a:off x="1207007" y="317296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16 h duty and 12 h rest limits, and the staffing cap, checked in code before ranking.</a:t>
            </a:r>
          </a:p>
        </p:txBody>
      </p:sp>
      <p:sp>
        <p:nvSpPr>
          <p:cNvPr id="14" name="Oval 13"/>
          <p:cNvSpPr/>
          <p:nvPr/>
        </p:nvSpPr>
        <p:spPr>
          <a:xfrm>
            <a:off x="548640" y="3977639"/>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5" name="TextBox 14"/>
          <p:cNvSpPr txBox="1"/>
          <p:nvPr/>
        </p:nvSpPr>
        <p:spPr>
          <a:xfrm>
            <a:off x="1207007" y="3904487"/>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Ranked by coverage</a:t>
            </a:r>
          </a:p>
        </p:txBody>
      </p:sp>
      <p:sp>
        <p:nvSpPr>
          <p:cNvPr id="16" name="TextBox 15"/>
          <p:cNvSpPr txBox="1"/>
          <p:nvPr/>
        </p:nvSpPr>
        <p:spPr>
          <a:xfrm>
            <a:off x="1207007" y="4224527"/>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Observed coverage of the backlog; first-eligible is the baseline.</a:t>
            </a:r>
          </a:p>
        </p:txBody>
      </p:sp>
      <p:sp>
        <p:nvSpPr>
          <p:cNvPr id="17" name="Oval 16"/>
          <p:cNvSpPr/>
          <p:nvPr/>
        </p:nvSpPr>
        <p:spPr>
          <a:xfrm>
            <a:off x="548640" y="50292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8" name="TextBox 17"/>
          <p:cNvSpPr txBox="1"/>
          <p:nvPr/>
        </p:nvSpPr>
        <p:spPr>
          <a:xfrm>
            <a:off x="1207007" y="4956048"/>
            <a:ext cx="47548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Audited decisions</a:t>
            </a:r>
          </a:p>
        </p:txBody>
      </p:sp>
      <p:sp>
        <p:nvSpPr>
          <p:cNvPr id="19" name="TextBox 18"/>
          <p:cNvSpPr txBox="1"/>
          <p:nvPr/>
        </p:nvSpPr>
        <p:spPr>
          <a:xfrm>
            <a:off x="1207007" y="5276088"/>
            <a:ext cx="47548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Every approval or rejection, and who made it, is recorded.</a:t>
            </a:r>
          </a:p>
        </p:txBody>
      </p:sp>
      <p:sp>
        <p:nvSpPr>
          <p:cNvPr id="20" name="Rounded Rectangle 19"/>
          <p:cNvSpPr/>
          <p:nvPr/>
        </p:nvSpPr>
        <p:spPr>
          <a:xfrm>
            <a:off x="6583680" y="2926080"/>
            <a:ext cx="5029200" cy="27432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108960"/>
            <a:ext cx="457200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Recommendation card</a:t>
            </a:r>
          </a:p>
        </p:txBody>
      </p:sp>
      <p:sp>
        <p:nvSpPr>
          <p:cNvPr id="22" name="TextBox 21"/>
          <p:cNvSpPr txBox="1"/>
          <p:nvPr/>
        </p:nvSpPr>
        <p:spPr>
          <a:xfrm>
            <a:off x="6858000" y="3566160"/>
            <a:ext cx="4480560" cy="2011680"/>
          </a:xfrm>
          <a:prstGeom prst="rect">
            <a:avLst/>
          </a:prstGeom>
          <a:noFill/>
        </p:spPr>
        <p:txBody>
          <a:bodyPr wrap="square" anchor="t" lIns="18288" rIns="18288" tIns="18288" bIns="18288">
            <a:spAutoFit/>
          </a:bodyPr>
          <a:lstStyle/>
          <a:p>
            <a:pPr algn="l">
              <a:spcAft>
                <a:spcPts val="800"/>
              </a:spcAft>
            </a:pPr>
            <a:r>
              <a:rPr sz="1300" b="0">
                <a:solidFill>
                  <a:srgbClr val="475467"/>
                </a:solidFill>
                <a:latin typeface="Inter"/>
              </a:rPr>
              <a:t>A ranked list of lawful overtime options, with the coverage each one adds.</a:t>
            </a:r>
          </a:p>
          <a:p>
            <a:pPr algn="l">
              <a:spcAft>
                <a:spcPts val="800"/>
              </a:spcAft>
            </a:pPr>
            <a:r>
              <a:rPr sz="1300" b="0">
                <a:solidFill>
                  <a:srgbClr val="475467"/>
                </a:solidFill>
                <a:latin typeface="Inter"/>
              </a:rPr>
              <a:t>Approve, reject or let it expire. Nothing changes on the simulated floor until it is approved, unless a room has enabled the audited auto-approve policy.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ISSUE PARETO</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Where the downtime comes from</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Issue class → observed symptom → applied fix, or floor → station</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15</a:t>
            </a:r>
          </a:p>
        </p:txBody>
      </p:sp>
      <p:sp>
        <p:nvSpPr>
          <p:cNvPr id="7" name="Rounded Rectangle 6"/>
          <p:cNvSpPr/>
          <p:nvPr/>
        </p:nvSpPr>
        <p:spPr>
          <a:xfrm>
            <a:off x="475488" y="1755648"/>
            <a:ext cx="7644383" cy="4363974"/>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screen-pareto.png"/>
          <p:cNvPicPr>
            <a:picLocks noChangeAspect="1"/>
          </p:cNvPicPr>
          <p:nvPr/>
        </p:nvPicPr>
        <p:blipFill>
          <a:blip r:embed="rId4"/>
          <a:stretch>
            <a:fillRect/>
          </a:stretch>
        </p:blipFill>
        <p:spPr>
          <a:xfrm>
            <a:off x="548640" y="1828800"/>
            <a:ext cx="7498079" cy="4217670"/>
          </a:xfrm>
          <a:prstGeom prst="rect">
            <a:avLst/>
          </a:prstGeom>
        </p:spPr>
      </p:pic>
      <p:sp>
        <p:nvSpPr>
          <p:cNvPr id="9" name="Rounded Rectangle 8"/>
          <p:cNvSpPr/>
          <p:nvPr/>
        </p:nvSpPr>
        <p:spPr>
          <a:xfrm>
            <a:off x="6629399" y="5680709"/>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Issue Pareto</a:t>
            </a:r>
          </a:p>
        </p:txBody>
      </p:sp>
      <p:sp>
        <p:nvSpPr>
          <p:cNvPr id="10" name="Rounded Rectangle 9"/>
          <p:cNvSpPr/>
          <p:nvPr/>
        </p:nvSpPr>
        <p:spPr>
          <a:xfrm>
            <a:off x="8321040" y="1828800"/>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49640" y="1956816"/>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Three measures</a:t>
            </a:r>
          </a:p>
        </p:txBody>
      </p:sp>
      <p:sp>
        <p:nvSpPr>
          <p:cNvPr id="12" name="TextBox 11"/>
          <p:cNvSpPr txBox="1"/>
          <p:nvPr/>
        </p:nvSpPr>
        <p:spPr>
          <a:xfrm>
            <a:off x="8549640" y="2249424"/>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Issues, downtime or failed attempts, by day, week or month.</a:t>
            </a:r>
          </a:p>
        </p:txBody>
      </p:sp>
      <p:sp>
        <p:nvSpPr>
          <p:cNvPr id="13" name="Rounded Rectangle 12"/>
          <p:cNvSpPr/>
          <p:nvPr/>
        </p:nvSpPr>
        <p:spPr>
          <a:xfrm>
            <a:off x="8321040" y="2907792"/>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549640" y="3035808"/>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The vital few</a:t>
            </a:r>
          </a:p>
        </p:txBody>
      </p:sp>
      <p:sp>
        <p:nvSpPr>
          <p:cNvPr id="15" name="TextBox 14"/>
          <p:cNvSpPr txBox="1"/>
          <p:nvPr/>
        </p:nvSpPr>
        <p:spPr>
          <a:xfrm>
            <a:off x="8549640" y="3328416"/>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Sorted bars, cumulative line and an 80% marker.</a:t>
            </a:r>
          </a:p>
        </p:txBody>
      </p:sp>
      <p:sp>
        <p:nvSpPr>
          <p:cNvPr id="16" name="Rounded Rectangle 15"/>
          <p:cNvSpPr/>
          <p:nvPr/>
        </p:nvSpPr>
        <p:spPr>
          <a:xfrm>
            <a:off x="8321040" y="3986784"/>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49640" y="4114800"/>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Drill down</a:t>
            </a:r>
          </a:p>
        </p:txBody>
      </p:sp>
      <p:sp>
        <p:nvSpPr>
          <p:cNvPr id="18" name="TextBox 17"/>
          <p:cNvSpPr txBox="1"/>
          <p:nvPr/>
        </p:nvSpPr>
        <p:spPr>
          <a:xfrm>
            <a:off x="8549640" y="4407408"/>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Class to symptom to the fix that was applied.</a:t>
            </a:r>
          </a:p>
        </p:txBody>
      </p:sp>
      <p:sp>
        <p:nvSpPr>
          <p:cNvPr id="19" name="Rounded Rectangle 18"/>
          <p:cNvSpPr/>
          <p:nvPr/>
        </p:nvSpPr>
        <p:spPr>
          <a:xfrm>
            <a:off x="8321040" y="5065776"/>
            <a:ext cx="3291840" cy="950976"/>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49640" y="5193792"/>
            <a:ext cx="2834640" cy="32004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Public records only</a:t>
            </a:r>
          </a:p>
        </p:txBody>
      </p:sp>
      <p:sp>
        <p:nvSpPr>
          <p:cNvPr id="21" name="TextBox 20"/>
          <p:cNvSpPr txBox="1"/>
          <p:nvPr/>
        </p:nvSpPr>
        <p:spPr>
          <a:xfrm>
            <a:off x="8549640" y="5486400"/>
            <a:ext cx="2834640" cy="548640"/>
          </a:xfrm>
          <a:prstGeom prst="rect">
            <a:avLst/>
          </a:prstGeom>
          <a:noFill/>
        </p:spPr>
        <p:txBody>
          <a:bodyPr wrap="square" anchor="t" lIns="18288" rIns="18288" tIns="18288" bIns="18288">
            <a:spAutoFit/>
          </a:bodyPr>
          <a:lstStyle/>
          <a:p>
            <a:pPr algn="l">
              <a:spcAft>
                <a:spcPts val="0"/>
              </a:spcAft>
            </a:pPr>
            <a:r>
              <a:rPr sz="1200" b="0">
                <a:solidFill>
                  <a:srgbClr val="475467"/>
                </a:solidFill>
                <a:latin typeface="Inter"/>
              </a:rPr>
              <a:t>Hidden causes are never used.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RESULTS</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A month of operations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Synthetic plant e8-aura-p1, simulated 1 September to 6 October 2026.</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16</a:t>
            </a:r>
          </a:p>
        </p:txBody>
      </p:sp>
      <p:sp>
        <p:nvSpPr>
          <p:cNvPr id="7" name="Rounded Rectangle 6"/>
          <p:cNvSpPr/>
          <p:nvPr/>
        </p:nvSpPr>
        <p:spPr>
          <a:xfrm>
            <a:off x="548640" y="1783080"/>
            <a:ext cx="3502152" cy="173736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965960"/>
            <a:ext cx="2953512" cy="640080"/>
          </a:xfrm>
          <a:prstGeom prst="rect">
            <a:avLst/>
          </a:prstGeom>
          <a:noFill/>
        </p:spPr>
        <p:txBody>
          <a:bodyPr wrap="square" anchor="t" lIns="18288" rIns="18288" tIns="18288" bIns="18288">
            <a:spAutoFit/>
          </a:bodyPr>
          <a:lstStyle/>
          <a:p>
            <a:pPr algn="l">
              <a:spcAft>
                <a:spcPts val="0"/>
              </a:spcAft>
            </a:pPr>
            <a:r>
              <a:rPr sz="3400" b="1">
                <a:solidFill>
                  <a:srgbClr val="FFFFFF"/>
                </a:solidFill>
                <a:latin typeface="Inter"/>
              </a:rPr>
              <a:t>3,004</a:t>
            </a:r>
          </a:p>
        </p:txBody>
      </p:sp>
      <p:sp>
        <p:nvSpPr>
          <p:cNvPr id="9" name="TextBox 8"/>
          <p:cNvSpPr txBox="1"/>
          <p:nvPr/>
        </p:nvSpPr>
        <p:spPr>
          <a:xfrm>
            <a:off x="822959" y="2651760"/>
            <a:ext cx="2953512" cy="777239"/>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issues in September, the three Pareto classes combined</a:t>
            </a:r>
          </a:p>
        </p:txBody>
      </p:sp>
      <p:sp>
        <p:nvSpPr>
          <p:cNvPr id="10" name="Rounded Rectangle 9"/>
          <p:cNvSpPr/>
          <p:nvPr/>
        </p:nvSpPr>
        <p:spPr>
          <a:xfrm>
            <a:off x="4334256" y="1783080"/>
            <a:ext cx="3502152"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08576" y="1965960"/>
            <a:ext cx="2953512"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25%</a:t>
            </a:r>
          </a:p>
        </p:txBody>
      </p:sp>
      <p:sp>
        <p:nvSpPr>
          <p:cNvPr id="12" name="TextBox 11"/>
          <p:cNvSpPr txBox="1"/>
          <p:nvPr/>
        </p:nvSpPr>
        <p:spPr>
          <a:xfrm>
            <a:off x="4608576" y="2651760"/>
            <a:ext cx="2953512"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of 4,682 repair attempts reopened, full history on the Analytics screen</a:t>
            </a:r>
          </a:p>
        </p:txBody>
      </p:sp>
      <p:sp>
        <p:nvSpPr>
          <p:cNvPr id="13" name="Rounded Rectangle 12"/>
          <p:cNvSpPr/>
          <p:nvPr/>
        </p:nvSpPr>
        <p:spPr>
          <a:xfrm>
            <a:off x="8110727" y="1783080"/>
            <a:ext cx="3502152" cy="17373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85048" y="1965960"/>
            <a:ext cx="2953512"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78%</a:t>
            </a:r>
          </a:p>
        </p:txBody>
      </p:sp>
      <p:sp>
        <p:nvSpPr>
          <p:cNvPr id="15" name="TextBox 14"/>
          <p:cNvSpPr txBox="1"/>
          <p:nvPr/>
        </p:nvSpPr>
        <p:spPr>
          <a:xfrm>
            <a:off x="8385048" y="2651760"/>
            <a:ext cx="2953512" cy="777239"/>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of September issues in the top two classes (2,339 of 3,004)</a:t>
            </a:r>
          </a:p>
        </p:txBody>
      </p:sp>
      <p:sp>
        <p:nvSpPr>
          <p:cNvPr id="16" name="Rounded Rectangle 15"/>
          <p:cNvSpPr/>
          <p:nvPr/>
        </p:nvSpPr>
        <p:spPr>
          <a:xfrm>
            <a:off x="548640" y="3749039"/>
            <a:ext cx="11064240" cy="22860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3931920"/>
            <a:ext cx="10515600" cy="36576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How it was made</a:t>
            </a:r>
          </a:p>
        </p:txBody>
      </p:sp>
      <p:sp>
        <p:nvSpPr>
          <p:cNvPr id="18" name="TextBox 17"/>
          <p:cNvSpPr txBox="1"/>
          <p:nvPr/>
        </p:nvSpPr>
        <p:spPr>
          <a:xfrm>
            <a:off x="822960" y="4389120"/>
            <a:ext cx="10515600" cy="1554480"/>
          </a:xfrm>
          <a:prstGeom prst="rect">
            <a:avLst/>
          </a:prstGeom>
          <a:noFill/>
        </p:spPr>
        <p:txBody>
          <a:bodyPr wrap="square" anchor="t" lIns="18288" rIns="18288" tIns="18288" bIns="18288">
            <a:spAutoFit/>
          </a:bodyPr>
          <a:lstStyle/>
          <a:p>
            <a:pPr algn="l">
              <a:spcAft>
                <a:spcPts val="600"/>
              </a:spcAft>
            </a:pPr>
            <a:r>
              <a:rPr sz="1300" b="0">
                <a:solidFill>
                  <a:srgbClr val="475467"/>
                </a:solidFill>
                <a:latin typeface="Inter"/>
              </a:rPr>
              <a:t>Generated offline with the app's own engine, with deterministic fallbacks. Every record is one the app would produce.</a:t>
            </a:r>
          </a:p>
          <a:p>
            <a:pPr algn="l">
              <a:spcAft>
                <a:spcPts val="600"/>
              </a:spcAft>
            </a:pPr>
            <a:r>
              <a:rPr sz="1300" b="0">
                <a:solidFill>
                  <a:srgbClr val="475467"/>
                </a:solidFill>
                <a:latin typeface="Inter"/>
              </a:rPr>
              <a:t>A simulation, not a benchmark of Nemotron against a baseline. The 80% line is crossed on the third class. Weeks start Monday 08:00 UTC.</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INFERENCE</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Built on Nebius Token Factory</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NVIDIA Nemotron models, one per role. Each role picks its own model in Settings. Prices as of 2026-10-19.</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17</a:t>
            </a:r>
          </a:p>
        </p:txBody>
      </p:sp>
      <p:graphicFrame>
        <p:nvGraphicFramePr>
          <p:cNvPr id="7" name="Table 6"/>
          <p:cNvGraphicFramePr>
            <a:graphicFrameLocks noGrp="1"/>
          </p:cNvGraphicFramePr>
          <p:nvPr/>
        </p:nvGraphicFramePr>
        <p:xfrm>
          <a:off x="548640" y="1828800"/>
          <a:ext cx="7315200" cy="2011680"/>
        </p:xfrm>
        <a:graphic>
          <a:graphicData uri="http://schemas.openxmlformats.org/drawingml/2006/table">
            <a:tbl>
              <a:tblPr firstRow="1" bandRow="1">
                <a:tableStyleId>{5C22544A-7EE6-4342-B048-85BDC9FD1C3A}</a:tableStyleId>
              </a:tblPr>
              <a:tblGrid>
                <a:gridCol w="2377440"/>
                <a:gridCol w="2468880"/>
                <a:gridCol w="1371600"/>
                <a:gridCol w="1097280"/>
              </a:tblGrid>
              <a:tr h="502920">
                <a:tc>
                  <a:txBody>
                    <a:bodyPr wrap="square"/>
                    <a:lstStyle/>
                    <a:p>
                      <a:r>
                        <a:rPr sz="1200" b="1">
                          <a:solidFill>
                            <a:srgbClr val="FFFFFF"/>
                          </a:solidFill>
                          <a:latin typeface="Inter"/>
                        </a:rPr>
                        <a:t>Role</a:t>
                      </a:r>
                    </a:p>
                  </a:txBody>
                  <a:tcPr marL="73152" marR="73152">
                    <a:solidFill>
                      <a:srgbClr val="1E1B4B"/>
                    </a:solidFill>
                  </a:tcPr>
                </a:tc>
                <a:tc>
                  <a:txBody>
                    <a:bodyPr wrap="square"/>
                    <a:lstStyle/>
                    <a:p>
                      <a:r>
                        <a:rPr sz="1200" b="1">
                          <a:solidFill>
                            <a:srgbClr val="FFFFFF"/>
                          </a:solidFill>
                          <a:latin typeface="Inter"/>
                        </a:rPr>
                        <a:t>Model</a:t>
                      </a:r>
                    </a:p>
                  </a:txBody>
                  <a:tcPr marL="73152" marR="73152">
                    <a:solidFill>
                      <a:srgbClr val="1E1B4B"/>
                    </a:solidFill>
                  </a:tcPr>
                </a:tc>
                <a:tc>
                  <a:txBody>
                    <a:bodyPr wrap="square"/>
                    <a:lstStyle/>
                    <a:p>
                      <a:r>
                        <a:rPr sz="1200" b="1">
                          <a:solidFill>
                            <a:srgbClr val="FFFFFF"/>
                          </a:solidFill>
                          <a:latin typeface="Inter"/>
                        </a:rPr>
                        <a:t>$ in / out per 1M</a:t>
                      </a:r>
                    </a:p>
                  </a:txBody>
                  <a:tcPr marL="73152" marR="73152">
                    <a:solidFill>
                      <a:srgbClr val="1E1B4B"/>
                    </a:solidFill>
                  </a:tcPr>
                </a:tc>
                <a:tc>
                  <a:txBody>
                    <a:bodyPr wrap="square"/>
                    <a:lstStyle/>
                    <a:p>
                      <a:r>
                        <a:rPr sz="1200" b="1">
                          <a:solidFill>
                            <a:srgbClr val="FFFFFF"/>
                          </a:solidFill>
                          <a:latin typeface="Inter"/>
                        </a:rPr>
                        <a:t>Context</a:t>
                      </a:r>
                    </a:p>
                  </a:txBody>
                  <a:tcPr marL="73152" marR="73152">
                    <a:solidFill>
                      <a:srgbClr val="1E1B4B"/>
                    </a:solidFill>
                  </a:tcPr>
                </a:tc>
              </a:tr>
              <a:tr h="502920">
                <a:tc>
                  <a:txBody>
                    <a:bodyPr wrap="square"/>
                    <a:lstStyle/>
                    <a:p>
                      <a:r>
                        <a:rPr sz="1200" b="0">
                          <a:solidFill>
                            <a:srgbClr val="111827"/>
                          </a:solidFill>
                          <a:latin typeface="Inter"/>
                        </a:rPr>
                        <a:t>Investigator (tool loop)</a:t>
                      </a:r>
                    </a:p>
                  </a:txBody>
                  <a:tcPr marL="73152" marR="73152">
                    <a:solidFill>
                      <a:srgbClr val="FFFFFF"/>
                    </a:solidFill>
                  </a:tcPr>
                </a:tc>
                <a:tc>
                  <a:txBody>
                    <a:bodyPr wrap="square"/>
                    <a:lstStyle/>
                    <a:p>
                      <a:r>
                        <a:rPr sz="1200" b="0">
                          <a:solidFill>
                            <a:srgbClr val="111827"/>
                          </a:solidFill>
                          <a:latin typeface="Inter"/>
                        </a:rPr>
                        <a:t>Nemotron 3 Ultra 550B-A55B</a:t>
                      </a:r>
                    </a:p>
                  </a:txBody>
                  <a:tcPr marL="73152" marR="73152">
                    <a:solidFill>
                      <a:srgbClr val="FFFFFF"/>
                    </a:solidFill>
                  </a:tcPr>
                </a:tc>
                <a:tc>
                  <a:txBody>
                    <a:bodyPr wrap="square"/>
                    <a:lstStyle/>
                    <a:p>
                      <a:r>
                        <a:rPr sz="1200" b="0">
                          <a:solidFill>
                            <a:srgbClr val="111827"/>
                          </a:solidFill>
                          <a:latin typeface="Inter"/>
                        </a:rPr>
                        <a:t>1.00 / 3.00</a:t>
                      </a:r>
                    </a:p>
                  </a:txBody>
                  <a:tcPr marL="73152" marR="73152">
                    <a:solidFill>
                      <a:srgbClr val="FFFFFF"/>
                    </a:solidFill>
                  </a:tcPr>
                </a:tc>
                <a:tc>
                  <a:txBody>
                    <a:bodyPr wrap="square"/>
                    <a:lstStyle/>
                    <a:p>
                      <a:r>
                        <a:rPr sz="1200" b="0">
                          <a:solidFill>
                            <a:srgbClr val="111827"/>
                          </a:solidFill>
                          <a:latin typeface="Inter"/>
                        </a:rPr>
                        <a:t>1,048,576</a:t>
                      </a:r>
                    </a:p>
                  </a:txBody>
                  <a:tcPr marL="73152" marR="73152">
                    <a:solidFill>
                      <a:srgbClr val="FFFFFF"/>
                    </a:solidFill>
                  </a:tcPr>
                </a:tc>
              </a:tr>
              <a:tr h="502920">
                <a:tc>
                  <a:txBody>
                    <a:bodyPr wrap="square"/>
                    <a:lstStyle/>
                    <a:p>
                      <a:r>
                        <a:rPr sz="1200" b="0">
                          <a:solidFill>
                            <a:srgbClr val="111827"/>
                          </a:solidFill>
                          <a:latin typeface="Inter"/>
                        </a:rPr>
                        <a:t>Ranking and Ask Compass</a:t>
                      </a:r>
                    </a:p>
                  </a:txBody>
                  <a:tcPr marL="73152" marR="73152">
                    <a:solidFill>
                      <a:srgbClr val="EEF0FF"/>
                    </a:solidFill>
                  </a:tcPr>
                </a:tc>
                <a:tc>
                  <a:txBody>
                    <a:bodyPr wrap="square"/>
                    <a:lstStyle/>
                    <a:p>
                      <a:r>
                        <a:rPr sz="1200" b="0">
                          <a:solidFill>
                            <a:srgbClr val="111827"/>
                          </a:solidFill>
                          <a:latin typeface="Inter"/>
                        </a:rPr>
                        <a:t>Nemotron 3 Super 120B-A12B</a:t>
                      </a:r>
                    </a:p>
                  </a:txBody>
                  <a:tcPr marL="73152" marR="73152">
                    <a:solidFill>
                      <a:srgbClr val="EEF0FF"/>
                    </a:solidFill>
                  </a:tcPr>
                </a:tc>
                <a:tc>
                  <a:txBody>
                    <a:bodyPr wrap="square"/>
                    <a:lstStyle/>
                    <a:p>
                      <a:r>
                        <a:rPr sz="1200" b="0">
                          <a:solidFill>
                            <a:srgbClr val="111827"/>
                          </a:solidFill>
                          <a:latin typeface="Inter"/>
                        </a:rPr>
                        <a:t>0.30 / 0.90</a:t>
                      </a:r>
                    </a:p>
                  </a:txBody>
                  <a:tcPr marL="73152" marR="73152">
                    <a:solidFill>
                      <a:srgbClr val="EEF0FF"/>
                    </a:solidFill>
                  </a:tcPr>
                </a:tc>
                <a:tc>
                  <a:txBody>
                    <a:bodyPr wrap="square"/>
                    <a:lstStyle/>
                    <a:p>
                      <a:r>
                        <a:rPr sz="1200" b="0">
                          <a:solidFill>
                            <a:srgbClr val="111827"/>
                          </a:solidFill>
                          <a:latin typeface="Inter"/>
                        </a:rPr>
                        <a:t>262,144</a:t>
                      </a:r>
                    </a:p>
                  </a:txBody>
                  <a:tcPr marL="73152" marR="73152">
                    <a:solidFill>
                      <a:srgbClr val="EEF0FF"/>
                    </a:solidFill>
                  </a:tcPr>
                </a:tc>
              </a:tr>
              <a:tr h="502920">
                <a:tc>
                  <a:txBody>
                    <a:bodyPr wrap="square"/>
                    <a:lstStyle/>
                    <a:p>
                      <a:r>
                        <a:rPr sz="1200" b="0">
                          <a:solidFill>
                            <a:srgbClr val="111827"/>
                          </a:solidFill>
                          <a:latin typeface="Inter"/>
                        </a:rPr>
                        <a:t>Event planner and narrator</a:t>
                      </a:r>
                    </a:p>
                  </a:txBody>
                  <a:tcPr marL="73152" marR="73152">
                    <a:solidFill>
                      <a:srgbClr val="FFFFFF"/>
                    </a:solidFill>
                  </a:tcPr>
                </a:tc>
                <a:tc>
                  <a:txBody>
                    <a:bodyPr wrap="square"/>
                    <a:lstStyle/>
                    <a:p>
                      <a:r>
                        <a:rPr sz="1200" b="0">
                          <a:solidFill>
                            <a:srgbClr val="111827"/>
                          </a:solidFill>
                          <a:latin typeface="Inter"/>
                        </a:rPr>
                        <a:t>Nemotron 3.5 Lightning</a:t>
                      </a:r>
                    </a:p>
                  </a:txBody>
                  <a:tcPr marL="73152" marR="73152">
                    <a:solidFill>
                      <a:srgbClr val="FFFFFF"/>
                    </a:solidFill>
                  </a:tcPr>
                </a:tc>
                <a:tc>
                  <a:txBody>
                    <a:bodyPr wrap="square"/>
                    <a:lstStyle/>
                    <a:p>
                      <a:r>
                        <a:rPr sz="1200" b="0">
                          <a:solidFill>
                            <a:srgbClr val="111827"/>
                          </a:solidFill>
                          <a:latin typeface="Inter"/>
                        </a:rPr>
                        <a:t>0.06 / 0.24</a:t>
                      </a:r>
                    </a:p>
                  </a:txBody>
                  <a:tcPr marL="73152" marR="73152">
                    <a:solidFill>
                      <a:srgbClr val="FFFFFF"/>
                    </a:solidFill>
                  </a:tcPr>
                </a:tc>
                <a:tc>
                  <a:txBody>
                    <a:bodyPr wrap="square"/>
                    <a:lstStyle/>
                    <a:p>
                      <a:r>
                        <a:rPr sz="1200" b="0">
                          <a:solidFill>
                            <a:srgbClr val="111827"/>
                          </a:solidFill>
                          <a:latin typeface="Inter"/>
                        </a:rPr>
                        <a:t>1,048,576</a:t>
                      </a:r>
                    </a:p>
                  </a:txBody>
                  <a:tcPr marL="73152" marR="73152">
                    <a:solidFill>
                      <a:srgbClr val="FFFFFF"/>
                    </a:solidFill>
                  </a:tcPr>
                </a:tc>
              </a:tr>
            </a:tbl>
          </a:graphicData>
        </a:graphic>
      </p:graphicFrame>
      <p:sp>
        <p:nvSpPr>
          <p:cNvPr id="8" name="Oval 7"/>
          <p:cNvSpPr/>
          <p:nvPr/>
        </p:nvSpPr>
        <p:spPr>
          <a:xfrm>
            <a:off x="548640" y="41148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9" name="TextBox 8"/>
          <p:cNvSpPr txBox="1"/>
          <p:nvPr/>
        </p:nvSpPr>
        <p:spPr>
          <a:xfrm>
            <a:off x="1207007" y="4041648"/>
            <a:ext cx="65836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Validators are the contract</a:t>
            </a:r>
          </a:p>
        </p:txBody>
      </p:sp>
      <p:sp>
        <p:nvSpPr>
          <p:cNvPr id="10" name="TextBox 9"/>
          <p:cNvSpPr txBox="1"/>
          <p:nvPr/>
        </p:nvSpPr>
        <p:spPr>
          <a:xfrm>
            <a:off x="1207007" y="4361688"/>
            <a:ext cx="65836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Structured JSON, checked by code before anything is used.</a:t>
            </a:r>
          </a:p>
        </p:txBody>
      </p:sp>
      <p:sp>
        <p:nvSpPr>
          <p:cNvPr id="11" name="Oval 10"/>
          <p:cNvSpPr/>
          <p:nvPr/>
        </p:nvSpPr>
        <p:spPr>
          <a:xfrm>
            <a:off x="548640" y="48006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2" name="TextBox 11"/>
          <p:cNvSpPr txBox="1"/>
          <p:nvPr/>
        </p:nvSpPr>
        <p:spPr>
          <a:xfrm>
            <a:off x="1207007" y="4727448"/>
            <a:ext cx="65836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Bounded failure</a:t>
            </a:r>
          </a:p>
        </p:txBody>
      </p:sp>
      <p:sp>
        <p:nvSpPr>
          <p:cNvPr id="13" name="TextBox 12"/>
          <p:cNvSpPr txBox="1"/>
          <p:nvPr/>
        </p:nvSpPr>
        <p:spPr>
          <a:xfrm>
            <a:off x="1207007" y="5047488"/>
            <a:ext cx="65836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Timeouts, bounded retries and a circuit breaker per provider.</a:t>
            </a:r>
          </a:p>
        </p:txBody>
      </p:sp>
      <p:sp>
        <p:nvSpPr>
          <p:cNvPr id="14" name="Oval 13"/>
          <p:cNvSpPr/>
          <p:nvPr/>
        </p:nvSpPr>
        <p:spPr>
          <a:xfrm>
            <a:off x="548640" y="54864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5" name="TextBox 14"/>
          <p:cNvSpPr txBox="1"/>
          <p:nvPr/>
        </p:nvSpPr>
        <p:spPr>
          <a:xfrm>
            <a:off x="1207007" y="5413248"/>
            <a:ext cx="658368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Never holds the clock</a:t>
            </a:r>
          </a:p>
        </p:txBody>
      </p:sp>
      <p:sp>
        <p:nvSpPr>
          <p:cNvPr id="16" name="TextBox 15"/>
          <p:cNvSpPr txBox="1"/>
          <p:nvPr/>
        </p:nvSpPr>
        <p:spPr>
          <a:xfrm>
            <a:off x="1207007" y="5733288"/>
            <a:ext cx="658368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Model calls run in a background lane, not the simulation clock.</a:t>
            </a:r>
          </a:p>
        </p:txBody>
      </p:sp>
      <p:sp>
        <p:nvSpPr>
          <p:cNvPr id="17" name="Rounded Rectangle 16"/>
          <p:cNvSpPr/>
          <p:nvPr/>
        </p:nvSpPr>
        <p:spPr>
          <a:xfrm>
            <a:off x="8229600" y="1828800"/>
            <a:ext cx="3383280" cy="237744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503920" y="2011680"/>
            <a:ext cx="2926080" cy="457200"/>
          </a:xfrm>
          <a:prstGeom prst="rect">
            <a:avLst/>
          </a:prstGeom>
          <a:noFill/>
        </p:spPr>
        <p:txBody>
          <a:bodyPr wrap="square" anchor="t" lIns="18288" rIns="18288" tIns="18288" bIns="18288">
            <a:spAutoFit/>
          </a:bodyPr>
          <a:lstStyle/>
          <a:p>
            <a:pPr algn="l">
              <a:spcAft>
                <a:spcPts val="0"/>
              </a:spcAft>
            </a:pPr>
            <a:r>
              <a:rPr sz="1600" b="1">
                <a:solidFill>
                  <a:srgbClr val="FFFFFF"/>
                </a:solidFill>
                <a:latin typeface="Inter"/>
              </a:rPr>
              <a:t>Fallback on every call</a:t>
            </a:r>
          </a:p>
        </p:txBody>
      </p:sp>
      <p:sp>
        <p:nvSpPr>
          <p:cNvPr id="19" name="TextBox 18"/>
          <p:cNvSpPr txBox="1"/>
          <p:nvPr/>
        </p:nvSpPr>
        <p:spPr>
          <a:xfrm>
            <a:off x="8503920" y="2514600"/>
            <a:ext cx="2926080" cy="164592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If a model is slow, rate-limited or invalid, a deterministic path answers. Dispatch never stops on a model call.</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TRY IT</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Guest workplaces</a:t>
            </a:r>
          </a:p>
        </p:txBody>
      </p:sp>
      <p:sp>
        <p:nvSpPr>
          <p:cNvPr id="5" name="TextBox 4"/>
          <p:cNvSpPr txBox="1"/>
          <p:nvPr/>
        </p:nvSpPr>
        <p:spPr>
          <a:xfrm>
            <a:off x="548640" y="1280160"/>
            <a:ext cx="11064240" cy="320040"/>
          </a:xfrm>
          <a:prstGeom prst="rect">
            <a:avLst/>
          </a:prstGeom>
          <a:noFill/>
        </p:spPr>
        <p:txBody>
          <a:bodyPr wrap="square" anchor="t" lIns="18288" rIns="18288" tIns="18288" bIns="18288">
            <a:spAutoFit/>
          </a:bodyPr>
          <a:lstStyle/>
          <a:p>
            <a:pPr algn="l">
              <a:spcAft>
                <a:spcPts val="0"/>
              </a:spcAft>
            </a:pPr>
            <a:r>
              <a:rPr sz="1400" b="0">
                <a:solidFill>
                  <a:srgbClr val="475467"/>
                </a:solidFill>
                <a:latin typeface="Inter"/>
              </a:rPr>
              <a:t>Sign in with a valid username and the shared guest password. Each username gets its own workplace.</a:t>
            </a:r>
          </a:p>
        </p:txBody>
      </p:sp>
      <p:sp>
        <p:nvSpPr>
          <p:cNvPr id="6" name="TextBox 5"/>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18</a:t>
            </a:r>
          </a:p>
        </p:txBody>
      </p:sp>
      <p:sp>
        <p:nvSpPr>
          <p:cNvPr id="7" name="Rounded Rectangle 6"/>
          <p:cNvSpPr/>
          <p:nvPr/>
        </p:nvSpPr>
        <p:spPr>
          <a:xfrm>
            <a:off x="548640" y="1828800"/>
            <a:ext cx="347472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2057400"/>
            <a:ext cx="2926080" cy="45720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Own workplace</a:t>
            </a:r>
          </a:p>
        </p:txBody>
      </p:sp>
      <p:sp>
        <p:nvSpPr>
          <p:cNvPr id="9" name="TextBox 8"/>
          <p:cNvSpPr txBox="1"/>
          <p:nvPr/>
        </p:nvSpPr>
        <p:spPr>
          <a:xfrm>
            <a:off x="822959" y="2606040"/>
            <a:ext cx="2926080" cy="13716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Each username starts from a full copy of the plant-1 history. Changes stay in that workplace.</a:t>
            </a:r>
          </a:p>
        </p:txBody>
      </p:sp>
      <p:sp>
        <p:nvSpPr>
          <p:cNvPr id="10" name="Rounded Rectangle 9"/>
          <p:cNvSpPr/>
          <p:nvPr/>
        </p:nvSpPr>
        <p:spPr>
          <a:xfrm>
            <a:off x="4297679" y="1828800"/>
            <a:ext cx="347472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1999" y="2057400"/>
            <a:ext cx="2926080" cy="45720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Ten registered usernames</a:t>
            </a:r>
          </a:p>
        </p:txBody>
      </p:sp>
      <p:sp>
        <p:nvSpPr>
          <p:cNvPr id="12" name="TextBox 11"/>
          <p:cNvSpPr txBox="1"/>
          <p:nvPr/>
        </p:nvSpPr>
        <p:spPr>
          <a:xfrm>
            <a:off x="4571999" y="2606040"/>
            <a:ext cx="2926080" cy="13716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New usernames close after ten workplaces, to limit bot sign-ups. Registered users still sign in.</a:t>
            </a:r>
          </a:p>
        </p:txBody>
      </p:sp>
      <p:sp>
        <p:nvSpPr>
          <p:cNvPr id="13" name="Rounded Rectangle 12"/>
          <p:cNvSpPr/>
          <p:nvPr/>
        </p:nvSpPr>
        <p:spPr>
          <a:xfrm>
            <a:off x="8046719" y="1828800"/>
            <a:ext cx="3474720" cy="219456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0" y="2057400"/>
            <a:ext cx="2926080" cy="457200"/>
          </a:xfrm>
          <a:prstGeom prst="rect">
            <a:avLst/>
          </a:prstGeom>
          <a:noFill/>
        </p:spPr>
        <p:txBody>
          <a:bodyPr wrap="square" anchor="t" lIns="18288" rIns="18288" tIns="18288" bIns="18288">
            <a:spAutoFit/>
          </a:bodyPr>
          <a:lstStyle/>
          <a:p>
            <a:pPr algn="l">
              <a:spcAft>
                <a:spcPts val="0"/>
              </a:spcAft>
            </a:pPr>
            <a:r>
              <a:rPr sz="1600" b="1">
                <a:solidFill>
                  <a:srgbClr val="111827"/>
                </a:solidFill>
                <a:latin typeface="Inter"/>
              </a:rPr>
              <a:t>Idle workplaces are swept</a:t>
            </a:r>
          </a:p>
        </p:txBody>
      </p:sp>
      <p:sp>
        <p:nvSpPr>
          <p:cNvPr id="15" name="TextBox 14"/>
          <p:cNvSpPr txBox="1"/>
          <p:nvPr/>
        </p:nvSpPr>
        <p:spPr>
          <a:xfrm>
            <a:off x="8321040" y="2606040"/>
            <a:ext cx="2926080" cy="13716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A workplace unused for seven days is removed and its slot is freed.</a:t>
            </a:r>
          </a:p>
        </p:txBody>
      </p:sp>
      <p:sp>
        <p:nvSpPr>
          <p:cNvPr id="16" name="Rounded Rectangle 15"/>
          <p:cNvSpPr/>
          <p:nvPr/>
        </p:nvSpPr>
        <p:spPr>
          <a:xfrm>
            <a:off x="548640" y="4343400"/>
            <a:ext cx="11064240" cy="109728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4526280"/>
            <a:ext cx="10515600" cy="365760"/>
          </a:xfrm>
          <a:prstGeom prst="rect">
            <a:avLst/>
          </a:prstGeom>
          <a:noFill/>
        </p:spPr>
        <p:txBody>
          <a:bodyPr wrap="square" anchor="t" lIns="18288" rIns="18288" tIns="18288" bIns="18288">
            <a:spAutoFit/>
          </a:bodyPr>
          <a:lstStyle/>
          <a:p>
            <a:pPr algn="l">
              <a:spcAft>
                <a:spcPts val="0"/>
              </a:spcAft>
            </a:pPr>
            <a:r>
              <a:rPr sz="1400" b="1">
                <a:solidFill>
                  <a:srgbClr val="111827"/>
                </a:solidFill>
                <a:latin typeface="Inter"/>
              </a:rPr>
              <a:t>The Investigator is open to judges</a:t>
            </a:r>
          </a:p>
        </p:txBody>
      </p:sp>
      <p:sp>
        <p:nvSpPr>
          <p:cNvPr id="18" name="TextBox 17"/>
          <p:cNvSpPr txBox="1"/>
          <p:nvPr/>
        </p:nvSpPr>
        <p:spPr>
          <a:xfrm>
            <a:off x="822960" y="4892040"/>
            <a:ext cx="10515600" cy="45720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Field reports and the Investigator run on guest workplaces with the sponsor's Nebius tokens. Ask Compass stays closed.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BUILT TO RUN</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Engineering quality</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19</a:t>
            </a:r>
          </a:p>
        </p:txBody>
      </p:sp>
      <p:sp>
        <p:nvSpPr>
          <p:cNvPr id="6" name="Rounded Rectangle 5"/>
          <p:cNvSpPr/>
          <p:nvPr/>
        </p:nvSpPr>
        <p:spPr>
          <a:xfrm>
            <a:off x="548640" y="1600200"/>
            <a:ext cx="2606040" cy="1600200"/>
          </a:xfrm>
          <a:prstGeom prst="roundRect">
            <a:avLst>
              <a:gd name="adj" fmla="val 6000"/>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59" y="1783080"/>
            <a:ext cx="2057400" cy="640080"/>
          </a:xfrm>
          <a:prstGeom prst="rect">
            <a:avLst/>
          </a:prstGeom>
          <a:noFill/>
        </p:spPr>
        <p:txBody>
          <a:bodyPr wrap="square" anchor="t" lIns="18288" rIns="18288" tIns="18288" bIns="18288">
            <a:spAutoFit/>
          </a:bodyPr>
          <a:lstStyle/>
          <a:p>
            <a:pPr algn="l">
              <a:spcAft>
                <a:spcPts val="0"/>
              </a:spcAft>
            </a:pPr>
            <a:r>
              <a:rPr sz="3400" b="1">
                <a:solidFill>
                  <a:srgbClr val="FFFFFF"/>
                </a:solidFill>
                <a:latin typeface="Inter"/>
              </a:rPr>
              <a:t>635</a:t>
            </a:r>
          </a:p>
        </p:txBody>
      </p:sp>
      <p:sp>
        <p:nvSpPr>
          <p:cNvPr id="8" name="TextBox 7"/>
          <p:cNvSpPr txBox="1"/>
          <p:nvPr/>
        </p:nvSpPr>
        <p:spPr>
          <a:xfrm>
            <a:off x="822959" y="2468880"/>
            <a:ext cx="2057400" cy="640080"/>
          </a:xfrm>
          <a:prstGeom prst="rect">
            <a:avLst/>
          </a:prstGeom>
          <a:noFill/>
        </p:spPr>
        <p:txBody>
          <a:bodyPr wrap="square" anchor="t" lIns="18288" rIns="18288" tIns="18288" bIns="18288">
            <a:spAutoFit/>
          </a:bodyPr>
          <a:lstStyle/>
          <a:p>
            <a:pPr algn="l">
              <a:spcAft>
                <a:spcPts val="0"/>
              </a:spcAft>
            </a:pPr>
            <a:r>
              <a:rPr sz="1300" b="0">
                <a:solidFill>
                  <a:srgbClr val="E0E7FF"/>
                </a:solidFill>
                <a:latin typeface="Inter"/>
              </a:rPr>
              <a:t>hermetic unit and integration tests, all passing</a:t>
            </a:r>
          </a:p>
        </p:txBody>
      </p:sp>
      <p:sp>
        <p:nvSpPr>
          <p:cNvPr id="9" name="Rounded Rectangle 8"/>
          <p:cNvSpPr/>
          <p:nvPr/>
        </p:nvSpPr>
        <p:spPr>
          <a:xfrm>
            <a:off x="3383280" y="1600200"/>
            <a:ext cx="2606040" cy="1600200"/>
          </a:xfrm>
          <a:prstGeom prst="roundRect">
            <a:avLst>
              <a:gd name="adj" fmla="val 6000"/>
            </a:avLst>
          </a:prstGeom>
          <a:solidFill>
            <a:srgbClr val="FFFFFF"/>
          </a:solidFill>
          <a:ln w="12700">
            <a:solidFill>
              <a:srgbClr val="D0D5D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0" y="1783080"/>
            <a:ext cx="2057400" cy="640080"/>
          </a:xfrm>
          <a:prstGeom prst="rect">
            <a:avLst/>
          </a:prstGeom>
          <a:noFill/>
        </p:spPr>
        <p:txBody>
          <a:bodyPr wrap="square" anchor="t" lIns="18288" rIns="18288" tIns="18288" bIns="18288">
            <a:spAutoFit/>
          </a:bodyPr>
          <a:lstStyle/>
          <a:p>
            <a:pPr algn="l">
              <a:spcAft>
                <a:spcPts val="0"/>
              </a:spcAft>
            </a:pPr>
            <a:r>
              <a:rPr sz="3400" b="1">
                <a:solidFill>
                  <a:srgbClr val="4F46E5"/>
                </a:solidFill>
                <a:latin typeface="Inter"/>
              </a:rPr>
              <a:t>208</a:t>
            </a:r>
          </a:p>
        </p:txBody>
      </p:sp>
      <p:sp>
        <p:nvSpPr>
          <p:cNvPr id="11" name="TextBox 10"/>
          <p:cNvSpPr txBox="1"/>
          <p:nvPr/>
        </p:nvSpPr>
        <p:spPr>
          <a:xfrm>
            <a:off x="3657600" y="2468880"/>
            <a:ext cx="2057400" cy="640080"/>
          </a:xfrm>
          <a:prstGeom prst="rect">
            <a:avLst/>
          </a:prstGeom>
          <a:noFill/>
        </p:spPr>
        <p:txBody>
          <a:bodyPr wrap="square" anchor="t" lIns="18288" rIns="18288" tIns="18288" bIns="18288">
            <a:spAutoFit/>
          </a:bodyPr>
          <a:lstStyle/>
          <a:p>
            <a:pPr algn="l">
              <a:spcAft>
                <a:spcPts val="0"/>
              </a:spcAft>
            </a:pPr>
            <a:r>
              <a:rPr sz="1300" b="0">
                <a:solidFill>
                  <a:srgbClr val="475467"/>
                </a:solidFill>
                <a:latin typeface="Inter"/>
              </a:rPr>
              <a:t>Chromium end-to-end tests, last recorded run</a:t>
            </a:r>
          </a:p>
        </p:txBody>
      </p:sp>
      <p:sp>
        <p:nvSpPr>
          <p:cNvPr id="12" name="Oval 11"/>
          <p:cNvSpPr/>
          <p:nvPr/>
        </p:nvSpPr>
        <p:spPr>
          <a:xfrm>
            <a:off x="548640" y="352044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13" name="TextBox 12"/>
          <p:cNvSpPr txBox="1"/>
          <p:nvPr/>
        </p:nvSpPr>
        <p:spPr>
          <a:xfrm>
            <a:off x="1207007" y="3447288"/>
            <a:ext cx="512064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One app, two modes</a:t>
            </a:r>
          </a:p>
        </p:txBody>
      </p:sp>
      <p:sp>
        <p:nvSpPr>
          <p:cNvPr id="14" name="TextBox 13"/>
          <p:cNvSpPr txBox="1"/>
          <p:nvPr/>
        </p:nvSpPr>
        <p:spPr>
          <a:xfrm>
            <a:off x="1207007" y="3767328"/>
            <a:ext cx="512064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Offline makes no API calls and is fully reproducible.</a:t>
            </a:r>
          </a:p>
        </p:txBody>
      </p:sp>
      <p:sp>
        <p:nvSpPr>
          <p:cNvPr id="15" name="Oval 14"/>
          <p:cNvSpPr/>
          <p:nvPr/>
        </p:nvSpPr>
        <p:spPr>
          <a:xfrm>
            <a:off x="548640" y="438912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6" name="TextBox 15"/>
          <p:cNvSpPr txBox="1"/>
          <p:nvPr/>
        </p:nvSpPr>
        <p:spPr>
          <a:xfrm>
            <a:off x="1207007" y="4315968"/>
            <a:ext cx="512064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Crash-safe state</a:t>
            </a:r>
          </a:p>
        </p:txBody>
      </p:sp>
      <p:sp>
        <p:nvSpPr>
          <p:cNvPr id="17" name="TextBox 16"/>
          <p:cNvSpPr txBox="1"/>
          <p:nvPr/>
        </p:nvSpPr>
        <p:spPr>
          <a:xfrm>
            <a:off x="1207007" y="4636008"/>
            <a:ext cx="512064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Checksummed journal and a restart-safe scheduler.</a:t>
            </a:r>
          </a:p>
        </p:txBody>
      </p:sp>
      <p:sp>
        <p:nvSpPr>
          <p:cNvPr id="18" name="Oval 17"/>
          <p:cNvSpPr/>
          <p:nvPr/>
        </p:nvSpPr>
        <p:spPr>
          <a:xfrm>
            <a:off x="548640" y="52578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9" name="TextBox 18"/>
          <p:cNvSpPr txBox="1"/>
          <p:nvPr/>
        </p:nvSpPr>
        <p:spPr>
          <a:xfrm>
            <a:off x="1207007" y="5184648"/>
            <a:ext cx="512064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Spend only when watched</a:t>
            </a:r>
          </a:p>
        </p:txBody>
      </p:sp>
      <p:sp>
        <p:nvSpPr>
          <p:cNvPr id="20" name="TextBox 19"/>
          <p:cNvSpPr txBox="1"/>
          <p:nvPr/>
        </p:nvSpPr>
        <p:spPr>
          <a:xfrm>
            <a:off x="1207007" y="5504688"/>
            <a:ext cx="512064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An unattended room pauses after 10 idle minutes by default; a usage ledger shows estimated spend.</a:t>
            </a:r>
          </a:p>
        </p:txBody>
      </p:sp>
      <p:sp>
        <p:nvSpPr>
          <p:cNvPr id="21" name="Rounded Rectangle 20"/>
          <p:cNvSpPr/>
          <p:nvPr/>
        </p:nvSpPr>
        <p:spPr>
          <a:xfrm>
            <a:off x="6419088" y="1755648"/>
            <a:ext cx="5266944" cy="3026664"/>
          </a:xfrm>
          <a:prstGeom prst="roundRect">
            <a:avLst>
              <a:gd name="adj" fmla="val 3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01-console.png"/>
          <p:cNvPicPr>
            <a:picLocks noChangeAspect="1"/>
          </p:cNvPicPr>
          <p:nvPr/>
        </p:nvPicPr>
        <p:blipFill>
          <a:blip r:embed="rId4"/>
          <a:stretch>
            <a:fillRect/>
          </a:stretch>
        </p:blipFill>
        <p:spPr>
          <a:xfrm>
            <a:off x="6492240" y="1828800"/>
            <a:ext cx="5120640" cy="2880360"/>
          </a:xfrm>
          <a:prstGeom prst="rect">
            <a:avLst/>
          </a:prstGeom>
        </p:spPr>
      </p:pic>
      <p:sp>
        <p:nvSpPr>
          <p:cNvPr id="23" name="Rounded Rectangle 22"/>
          <p:cNvSpPr/>
          <p:nvPr/>
        </p:nvSpPr>
        <p:spPr>
          <a:xfrm>
            <a:off x="10195559" y="4343400"/>
            <a:ext cx="1280160" cy="274320"/>
          </a:xfrm>
          <a:prstGeom prst="roundRect">
            <a:avLst>
              <a:gd name="adj" fmla="val 6000"/>
            </a:avLst>
          </a:prstGeom>
          <a:solidFill>
            <a:srgbClr val="1E1B4B"/>
          </a:solidFill>
          <a:ln w="12700">
            <a:solidFill>
              <a:srgbClr val="1E1B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000" b="1">
                <a:solidFill>
                  <a:srgbClr val="FFFFFF"/>
                </a:solidFill>
                <a:latin typeface="Inter"/>
              </a:rPr>
              <a:t>Operator console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lain.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384048"/>
            <a:ext cx="11064240" cy="274320"/>
          </a:xfrm>
          <a:prstGeom prst="rect">
            <a:avLst/>
          </a:prstGeom>
          <a:noFill/>
        </p:spPr>
        <p:txBody>
          <a:bodyPr wrap="square" anchor="t" lIns="18288" rIns="18288" tIns="18288" bIns="18288">
            <a:spAutoFit/>
          </a:bodyPr>
          <a:lstStyle/>
          <a:p>
            <a:pPr algn="l">
              <a:spcAft>
                <a:spcPts val="0"/>
              </a:spcAft>
            </a:pPr>
            <a:r>
              <a:rPr sz="1100" b="1">
                <a:solidFill>
                  <a:srgbClr val="4F46E5"/>
                </a:solidFill>
                <a:latin typeface="Inter"/>
              </a:rPr>
              <a:t>ROADMAP</a:t>
            </a:r>
          </a:p>
        </p:txBody>
      </p:sp>
      <p:sp>
        <p:nvSpPr>
          <p:cNvPr id="4" name="TextBox 3"/>
          <p:cNvSpPr txBox="1"/>
          <p:nvPr/>
        </p:nvSpPr>
        <p:spPr>
          <a:xfrm>
            <a:off x="548640" y="676656"/>
            <a:ext cx="11064240" cy="566928"/>
          </a:xfrm>
          <a:prstGeom prst="rect">
            <a:avLst/>
          </a:prstGeom>
          <a:noFill/>
        </p:spPr>
        <p:txBody>
          <a:bodyPr wrap="square" anchor="t" lIns="18288" rIns="18288" tIns="18288" bIns="18288">
            <a:spAutoFit/>
          </a:bodyPr>
          <a:lstStyle/>
          <a:p>
            <a:pPr algn="l">
              <a:spcAft>
                <a:spcPts val="0"/>
              </a:spcAft>
            </a:pPr>
            <a:r>
              <a:rPr sz="3200" b="1">
                <a:solidFill>
                  <a:srgbClr val="111827"/>
                </a:solidFill>
                <a:latin typeface="Inter"/>
              </a:rPr>
              <a:t>What's next</a:t>
            </a:r>
          </a:p>
        </p:txBody>
      </p:sp>
      <p:sp>
        <p:nvSpPr>
          <p:cNvPr id="5" name="TextBox 4"/>
          <p:cNvSpPr txBox="1"/>
          <p:nvPr/>
        </p:nvSpPr>
        <p:spPr>
          <a:xfrm>
            <a:off x="11155680" y="6400800"/>
            <a:ext cx="457200" cy="274320"/>
          </a:xfrm>
          <a:prstGeom prst="rect">
            <a:avLst/>
          </a:prstGeom>
          <a:noFill/>
        </p:spPr>
        <p:txBody>
          <a:bodyPr wrap="square" anchor="t" lIns="18288" rIns="18288" tIns="18288" bIns="18288">
            <a:spAutoFit/>
          </a:bodyPr>
          <a:lstStyle/>
          <a:p>
            <a:pPr algn="r">
              <a:spcAft>
                <a:spcPts val="0"/>
              </a:spcAft>
            </a:pPr>
            <a:r>
              <a:rPr sz="1000" b="0">
                <a:solidFill>
                  <a:srgbClr val="667085"/>
                </a:solidFill>
                <a:latin typeface="Inter"/>
              </a:rPr>
              <a:t>20</a:t>
            </a:r>
          </a:p>
        </p:txBody>
      </p:sp>
      <p:sp>
        <p:nvSpPr>
          <p:cNvPr id="6" name="Oval 5"/>
          <p:cNvSpPr/>
          <p:nvPr/>
        </p:nvSpPr>
        <p:spPr>
          <a:xfrm>
            <a:off x="548640" y="182880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01</a:t>
            </a:r>
          </a:p>
        </p:txBody>
      </p:sp>
      <p:sp>
        <p:nvSpPr>
          <p:cNvPr id="7" name="TextBox 6"/>
          <p:cNvSpPr txBox="1"/>
          <p:nvPr/>
        </p:nvSpPr>
        <p:spPr>
          <a:xfrm>
            <a:off x="1207007" y="1755648"/>
            <a:ext cx="493776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Real systems</a:t>
            </a:r>
          </a:p>
        </p:txBody>
      </p:sp>
      <p:sp>
        <p:nvSpPr>
          <p:cNvPr id="8" name="TextBox 7"/>
          <p:cNvSpPr txBox="1"/>
          <p:nvPr/>
        </p:nvSpPr>
        <p:spPr>
          <a:xfrm>
            <a:off x="1207007" y="2075688"/>
            <a:ext cx="493776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Maintenance, ticketing and rostering in place of the simulated floor.</a:t>
            </a:r>
          </a:p>
        </p:txBody>
      </p:sp>
      <p:sp>
        <p:nvSpPr>
          <p:cNvPr id="9" name="Oval 8"/>
          <p:cNvSpPr/>
          <p:nvPr/>
        </p:nvSpPr>
        <p:spPr>
          <a:xfrm>
            <a:off x="548640" y="288036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02</a:t>
            </a:r>
          </a:p>
        </p:txBody>
      </p:sp>
      <p:sp>
        <p:nvSpPr>
          <p:cNvPr id="10" name="TextBox 9"/>
          <p:cNvSpPr txBox="1"/>
          <p:nvPr/>
        </p:nvSpPr>
        <p:spPr>
          <a:xfrm>
            <a:off x="1207007" y="2807208"/>
            <a:ext cx="493776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Learn from approvals</a:t>
            </a:r>
          </a:p>
        </p:txBody>
      </p:sp>
      <p:sp>
        <p:nvSpPr>
          <p:cNvPr id="11" name="TextBox 10"/>
          <p:cNvSpPr txBox="1"/>
          <p:nvPr/>
        </p:nvSpPr>
        <p:spPr>
          <a:xfrm>
            <a:off x="1207007" y="3127248"/>
            <a:ext cx="493776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Feed operator decisions and outcomes back into the evidence.</a:t>
            </a:r>
          </a:p>
        </p:txBody>
      </p:sp>
      <p:sp>
        <p:nvSpPr>
          <p:cNvPr id="12" name="Oval 11"/>
          <p:cNvSpPr/>
          <p:nvPr/>
        </p:nvSpPr>
        <p:spPr>
          <a:xfrm>
            <a:off x="548640" y="3931920"/>
            <a:ext cx="457200" cy="457200"/>
          </a:xfrm>
          <a:prstGeom prst="ellipse">
            <a:avLst/>
          </a:prstGeom>
          <a:solidFill>
            <a:srgbClr val="4F46E5"/>
          </a:solidFill>
          <a:ln w="12700">
            <a:solidFill>
              <a:srgbClr val="4F46E5"/>
            </a:solidFill>
          </a:ln>
          <a:effectLst/>
        </p:spPr>
        <p:style>
          <a:lnRef idx="1">
            <a:schemeClr val="accent1"/>
          </a:lnRef>
          <a:fillRef idx="3">
            <a:schemeClr val="accent1"/>
          </a:fillRef>
          <a:effectRef idx="2">
            <a:schemeClr val="accent1"/>
          </a:effectRef>
          <a:fontRef idx="minor">
            <a:schemeClr val="lt1"/>
          </a:fontRef>
        </p:style>
        <p:txBody>
          <a:bodyPr rtlCol="0" anchor="ctr" wrap="none" lIns="0" rIns="0"/>
          <a:lstStyle/>
          <a:p>
            <a:pPr algn="ctr"/>
            <a:r>
              <a:rPr sz="1200" b="1">
                <a:solidFill>
                  <a:srgbClr val="FFFFFF"/>
                </a:solidFill>
                <a:latin typeface="Inter"/>
              </a:rPr>
              <a:t>03</a:t>
            </a:r>
          </a:p>
        </p:txBody>
      </p:sp>
      <p:sp>
        <p:nvSpPr>
          <p:cNvPr id="13" name="TextBox 12"/>
          <p:cNvSpPr txBox="1"/>
          <p:nvPr/>
        </p:nvSpPr>
        <p:spPr>
          <a:xfrm>
            <a:off x="1207007" y="3858768"/>
            <a:ext cx="4937760" cy="365760"/>
          </a:xfrm>
          <a:prstGeom prst="rect">
            <a:avLst/>
          </a:prstGeom>
          <a:noFill/>
        </p:spPr>
        <p:txBody>
          <a:bodyPr wrap="square" anchor="t" lIns="18288" rIns="18288" tIns="18288" bIns="18288">
            <a:spAutoFit/>
          </a:bodyPr>
          <a:lstStyle/>
          <a:p>
            <a:pPr algn="l">
              <a:spcAft>
                <a:spcPts val="0"/>
              </a:spcAft>
            </a:pPr>
            <a:r>
              <a:rPr sz="1500" b="1">
                <a:solidFill>
                  <a:srgbClr val="111827"/>
                </a:solidFill>
                <a:latin typeface="Inter"/>
              </a:rPr>
              <a:t>Longer live measurement</a:t>
            </a:r>
          </a:p>
        </p:txBody>
      </p:sp>
      <p:sp>
        <p:nvSpPr>
          <p:cNvPr id="14" name="TextBox 13"/>
          <p:cNvSpPr txBox="1"/>
          <p:nvPr/>
        </p:nvSpPr>
        <p:spPr>
          <a:xfrm>
            <a:off x="1207007" y="4178808"/>
            <a:ext cx="4937760" cy="548640"/>
          </a:xfrm>
          <a:prstGeom prst="rect">
            <a:avLst/>
          </a:prstGeom>
          <a:noFill/>
        </p:spPr>
        <p:txBody>
          <a:bodyPr wrap="square" anchor="t" lIns="18288" rIns="18288" tIns="18288" bIns="18288">
            <a:spAutoFit/>
          </a:bodyPr>
          <a:lstStyle/>
          <a:p>
            <a:pPr algn="l">
              <a:spcAft>
                <a:spcPts val="0"/>
              </a:spcAft>
            </a:pPr>
            <a:r>
              <a:rPr sz="1250" b="0">
                <a:solidFill>
                  <a:srgbClr val="475467"/>
                </a:solidFill>
                <a:latin typeface="Inter"/>
              </a:rPr>
              <a:t>The Investigator against its baselines on live Nemotron runs.</a:t>
            </a:r>
          </a:p>
        </p:txBody>
      </p:sp>
      <p:sp>
        <p:nvSpPr>
          <p:cNvPr id="15" name="Rounded Rectangle 14"/>
          <p:cNvSpPr/>
          <p:nvPr/>
        </p:nvSpPr>
        <p:spPr>
          <a:xfrm>
            <a:off x="6400800" y="1828800"/>
            <a:ext cx="5212080" cy="3931920"/>
          </a:xfrm>
          <a:prstGeom prst="roundRect">
            <a:avLst>
              <a:gd name="adj" fmla="val 6000"/>
            </a:avLst>
          </a:prstGeom>
          <a:solidFill>
            <a:srgbClr val="FFF7ED"/>
          </a:solidFill>
          <a:ln w="12700">
            <a:solidFill>
              <a:srgbClr val="D9770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675120" y="2011680"/>
            <a:ext cx="4663440" cy="365760"/>
          </a:xfrm>
          <a:prstGeom prst="rect">
            <a:avLst/>
          </a:prstGeom>
          <a:noFill/>
        </p:spPr>
        <p:txBody>
          <a:bodyPr wrap="square" anchor="t" lIns="18288" rIns="18288" tIns="18288" bIns="18288">
            <a:spAutoFit/>
          </a:bodyPr>
          <a:lstStyle/>
          <a:p>
            <a:pPr algn="l">
              <a:spcAft>
                <a:spcPts val="0"/>
              </a:spcAft>
            </a:pPr>
            <a:r>
              <a:rPr sz="1400" b="1">
                <a:solidFill>
                  <a:srgbClr val="92400E"/>
                </a:solidFill>
                <a:latin typeface="Inter"/>
              </a:rPr>
              <a:t>Open before submission (remove before filing)</a:t>
            </a:r>
          </a:p>
        </p:txBody>
      </p:sp>
      <p:sp>
        <p:nvSpPr>
          <p:cNvPr id="17" name="TextBox 16"/>
          <p:cNvSpPr txBox="1"/>
          <p:nvPr/>
        </p:nvSpPr>
        <p:spPr>
          <a:xfrm>
            <a:off x="6675120" y="2560320"/>
            <a:ext cx="4663440" cy="3108960"/>
          </a:xfrm>
          <a:prstGeom prst="rect">
            <a:avLst/>
          </a:prstGeom>
          <a:noFill/>
        </p:spPr>
        <p:txBody>
          <a:bodyPr wrap="square" anchor="t" lIns="18288" rIns="18288" tIns="18288" bIns="18288">
            <a:spAutoFit/>
          </a:bodyPr>
          <a:lstStyle/>
          <a:p>
            <a:pPr algn="l">
              <a:spcAft>
                <a:spcPts val="800"/>
              </a:spcAft>
            </a:pPr>
            <a:r>
              <a:rPr sz="1300" b="0">
                <a:solidFill>
                  <a:srgbClr val="92400E"/>
                </a:solidFill>
                <a:latin typeface="Inter"/>
              </a:rPr>
              <a:t>Captured Investigator run on the deployment, to replace the placeholder on slide 8.</a:t>
            </a:r>
          </a:p>
          <a:p>
            <a:pPr algn="l">
              <a:spcAft>
                <a:spcPts val="800"/>
              </a:spcAft>
            </a:pPr>
            <a:r>
              <a:rPr sz="1300" b="0">
                <a:solidFill>
                  <a:srgbClr val="92400E"/>
                </a:solidFill>
                <a:latin typeface="Inter"/>
              </a:rPr>
              <a:t>Owner decision: whether judges can use field reports and the Investigator, and for how long.</a:t>
            </a:r>
          </a:p>
          <a:p>
            <a:pPr algn="l">
              <a:spcAft>
                <a:spcPts val="800"/>
              </a:spcAft>
            </a:pPr>
            <a:r>
              <a:rPr sz="1300" b="0">
                <a:solidFill>
                  <a:srgbClr val="92400E"/>
                </a:solidFill>
                <a:latin typeface="Inter"/>
              </a:rPr>
              <a:t>Demo video, under three minutes, uploaded to YouTube and linked on the form.</a:t>
            </a:r>
          </a:p>
          <a:p>
            <a:pPr algn="l">
              <a:spcAft>
                <a:spcPts val="800"/>
              </a:spcAft>
            </a:pPr>
            <a:r>
              <a:rPr sz="1300" b="0">
                <a:solidFill>
                  <a:srgbClr val="92400E"/>
                </a:solidFill>
                <a:latin typeface="Inter"/>
              </a:rPr>
              <a:t>Public repository under Apache-2.0, with a sanitized history scan, and a working URL with test credentials.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art.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548640" y="2194560"/>
            <a:ext cx="6858000" cy="1280160"/>
          </a:xfrm>
          <a:prstGeom prst="rect">
            <a:avLst/>
          </a:prstGeom>
          <a:noFill/>
        </p:spPr>
        <p:txBody>
          <a:bodyPr wrap="square" anchor="t" lIns="18288" rIns="18288" tIns="18288" bIns="18288">
            <a:spAutoFit/>
          </a:bodyPr>
          <a:lstStyle/>
          <a:p>
            <a:pPr algn="l">
              <a:spcAft>
                <a:spcPts val="0"/>
              </a:spcAft>
            </a:pPr>
            <a:r>
              <a:rPr sz="4000" b="1">
                <a:solidFill>
                  <a:srgbClr val="4F46E5"/>
                </a:solidFill>
                <a:latin typeface="Inter"/>
              </a:rPr>
              <a:t>The right responder.</a:t>
            </a:r>
          </a:p>
          <a:p>
            <a:pPr algn="l">
              <a:spcAft>
                <a:spcPts val="0"/>
              </a:spcAft>
            </a:pPr>
            <a:r>
              <a:rPr sz="4000" b="1">
                <a:solidFill>
                  <a:srgbClr val="4F46E5"/>
                </a:solidFill>
                <a:latin typeface="Inter"/>
              </a:rPr>
              <a:t>The right fix.</a:t>
            </a:r>
          </a:p>
        </p:txBody>
      </p:sp>
      <p:sp>
        <p:nvSpPr>
          <p:cNvPr id="4" name="TextBox 3"/>
          <p:cNvSpPr txBox="1"/>
          <p:nvPr/>
        </p:nvSpPr>
        <p:spPr>
          <a:xfrm>
            <a:off x="548640" y="3566160"/>
            <a:ext cx="6400800" cy="914400"/>
          </a:xfrm>
          <a:prstGeom prst="rect">
            <a:avLst/>
          </a:prstGeom>
          <a:noFill/>
        </p:spPr>
        <p:txBody>
          <a:bodyPr wrap="square" anchor="t" lIns="18288" rIns="18288" tIns="18288" bIns="18288">
            <a:spAutoFit/>
          </a:bodyPr>
          <a:lstStyle/>
          <a:p>
            <a:pPr algn="l">
              <a:spcAft>
                <a:spcPts val="0"/>
              </a:spcAft>
            </a:pPr>
            <a:r>
              <a:rPr sz="2000" b="1">
                <a:solidFill>
                  <a:srgbClr val="111827"/>
                </a:solidFill>
                <a:latin typeface="Inter"/>
              </a:rPr>
              <a:t>Runs autonomously. Supervised by your control room.</a:t>
            </a:r>
          </a:p>
        </p:txBody>
      </p:sp>
      <p:sp>
        <p:nvSpPr>
          <p:cNvPr id="5" name="TextBox 4"/>
          <p:cNvSpPr txBox="1"/>
          <p:nvPr/>
        </p:nvSpPr>
        <p:spPr>
          <a:xfrm>
            <a:off x="548640" y="4297680"/>
            <a:ext cx="6858000" cy="1280160"/>
          </a:xfrm>
          <a:prstGeom prst="rect">
            <a:avLst/>
          </a:prstGeom>
          <a:noFill/>
        </p:spPr>
        <p:txBody>
          <a:bodyPr wrap="square" anchor="t" lIns="18288" rIns="18288" tIns="18288" bIns="18288">
            <a:spAutoFit/>
          </a:bodyPr>
          <a:lstStyle/>
          <a:p>
            <a:pPr algn="l">
              <a:spcAft>
                <a:spcPts val="400"/>
              </a:spcAft>
            </a:pPr>
            <a:r>
              <a:rPr sz="1400" b="0">
                <a:solidFill>
                  <a:srgbClr val="475467"/>
                </a:solidFill>
                <a:latin typeface="Inter"/>
              </a:rPr>
              <a:t>Built on Nebius Token Factory with NVIDIA Nemotron models.</a:t>
            </a:r>
          </a:p>
          <a:p>
            <a:pPr algn="l">
              <a:spcAft>
                <a:spcPts val="400"/>
              </a:spcAft>
            </a:pPr>
            <a:r>
              <a:rPr sz="1400" b="0">
                <a:solidFill>
                  <a:srgbClr val="475467"/>
                </a:solidFill>
                <a:latin typeface="Inter"/>
              </a:rPr>
              <a:t>Apache-2.0 · synthetic data only · repository and demo video links added at filing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