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uses the supplied Response Compass logo (codex handoff 3ce72bc).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makodev58/nebius-compass-claude/frontend/icons/Compass_application_logo_icon_20261025201828.jpg">    </p:cNvPr>
          <p:cNvPicPr>
            <a:picLocks noChangeAspect="1"/>
          </p:cNvPicPr>
          <p:nvPr/>
        </p:nvPicPr>
        <p:blipFill>
          <a:blip r:embed="rId1"/>
          <a:srcRect l="0" r="0" t="0" b="0"/>
          <a:stretch/>
        </p:blipFill>
        <p:spPr>
          <a:xfrm>
            <a:off x="548640" y="822960"/>
            <a:ext cx="5852160" cy="3291840"/>
          </a:xfrm>
          <a:prstGeom prst="rect">
            <a:avLst/>
          </a:prstGeom>
        </p:spPr>
      </p:pic>
      <p:sp>
        <p:nvSpPr>
          <p:cNvPr id="3" name="Text 0"/>
          <p:cNvSpPr/>
          <p:nvPr/>
        </p:nvSpPr>
        <p:spPr>
          <a:xfrm>
            <a:off x="6766560" y="2011680"/>
            <a:ext cx="4937760" cy="1463040"/>
          </a:xfrm>
          <a:prstGeom prst="rect">
            <a:avLst/>
          </a:prstGeom>
          <a:noFill/>
          <a:ln/>
        </p:spPr>
        <p:txBody>
          <a:bodyPr wrap="square" rtlCol="0" anchor="t"/>
          <a:lstStyle/>
          <a:p>
            <a:pPr indent="0" marL="0">
              <a:buNone/>
            </a:pPr>
            <a:r>
              <a:rPr lang="en-US" sz="2400" b="1" dirty="0">
                <a:solidFill>
                  <a:srgbClr val="0F2B43"/>
                </a:solidFill>
                <a:latin typeface="Arial" pitchFamily="34" charset="0"/>
                <a:ea typeface="Arial" pitchFamily="34" charset="-122"/>
                <a:cs typeface="Arial" pitchFamily="34" charset="-120"/>
              </a:rPr>
              <a:t>Context-aware responder dispatch for operations control rooms</a:t>
            </a:r>
            <a:endParaRPr lang="en-US" sz="2400" dirty="0"/>
          </a:p>
        </p:txBody>
      </p:sp>
      <p:sp>
        <p:nvSpPr>
          <p:cNvPr id="4" name="Text 1"/>
          <p:cNvSpPr/>
          <p:nvPr/>
        </p:nvSpPr>
        <p:spPr>
          <a:xfrm>
            <a:off x="6766560" y="3566160"/>
            <a:ext cx="4937760" cy="1097280"/>
          </a:xfrm>
          <a:prstGeom prst="rect">
            <a:avLst/>
          </a:prstGeom>
          <a:noFill/>
          <a:ln/>
        </p:spPr>
        <p:txBody>
          <a:bodyPr wrap="square" rtlCol="0" anchor="t"/>
          <a:lstStyle/>
          <a:p>
            <a:pPr indent="0" marL="0">
              <a:buNone/>
            </a:pPr>
            <a:r>
              <a:rPr lang="en-US" sz="1500" dirty="0">
                <a:solidFill>
                  <a:srgbClr val="5B6B7A"/>
                </a:solidFill>
                <a:latin typeface="Arial" pitchFamily="34" charset="0"/>
                <a:ea typeface="Arial" pitchFamily="34" charset="-122"/>
                <a:cs typeface="Arial" pitchFamily="34" charset="-120"/>
              </a:rPr>
              <a:t>An agent that recommends who to send and what to try first, cited from past repairs. People approve every dispatch.</a:t>
            </a:r>
            <a:endParaRPr lang="en-US" sz="1500" dirty="0"/>
          </a:p>
        </p:txBody>
      </p:sp>
      <p:sp>
        <p:nvSpPr>
          <p:cNvPr id="5" name="Text 2"/>
          <p:cNvSpPr/>
          <p:nvPr/>
        </p:nvSpPr>
        <p:spPr>
          <a:xfrm>
            <a:off x="548640" y="6035040"/>
            <a:ext cx="10972800" cy="365760"/>
          </a:xfrm>
          <a:prstGeom prst="rect">
            <a:avLst/>
          </a:prstGeom>
          <a:noFill/>
          <a:ln/>
        </p:spPr>
        <p:txBody>
          <a:bodyPr wrap="square" rtlCol="0" anchor="ctr"/>
          <a:lstStyle/>
          <a:p>
            <a:pPr indent="0" marL="0">
              <a:buNone/>
            </a:pPr>
            <a:r>
              <a:rPr lang="en-US" sz="1200" dirty="0">
                <a:solidFill>
                  <a:srgbClr val="5B6B7A"/>
                </a:solidFill>
                <a:latin typeface="Arial" pitchFamily="34" charset="0"/>
                <a:ea typeface="Arial" pitchFamily="34" charset="-122"/>
                <a:cs typeface="Arial" pitchFamily="34" charset="-120"/>
              </a:rPr>
              <a:t>Nebius x NVIDIA Global AI Hackathon · Best Apps and Agents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E1FE3C"/>
          </a:solidFill>
          <a:ln w="12700">
            <a:solidFill>
              <a:srgbClr val="E1FE3C"/>
            </a:solidFill>
            <a:prstDash val="solid"/>
          </a:ln>
        </p:spPr>
      </p:sp>
      <p:sp>
        <p:nvSpPr>
          <p:cNvPr id="3" name="Text 1"/>
          <p:cNvSpPr/>
          <p:nvPr/>
        </p:nvSpPr>
        <p:spPr>
          <a:xfrm>
            <a:off x="548640" y="320040"/>
            <a:ext cx="10972800" cy="274320"/>
          </a:xfrm>
          <a:prstGeom prst="rect">
            <a:avLst/>
          </a:prstGeom>
          <a:noFill/>
          <a:ln/>
        </p:spPr>
        <p:txBody>
          <a:bodyPr wrap="square" rtlCol="0" anchor="ctr"/>
          <a:lstStyle/>
          <a:p>
            <a:pPr indent="0" marL="0">
              <a:buNone/>
            </a:pPr>
            <a:r>
              <a:rPr lang="en-US" sz="1100" b="1" spc="100" kern="0" dirty="0">
                <a:solidFill>
                  <a:srgbClr val="5B6B7A"/>
                </a:solidFill>
                <a:latin typeface="Arial" pitchFamily="34" charset="0"/>
                <a:ea typeface="Arial" pitchFamily="34" charset="-122"/>
                <a:cs typeface="Arial" pitchFamily="34" charset="-120"/>
              </a:rPr>
              <a:t>THE PROBLEM</a:t>
            </a:r>
            <a:endParaRPr lang="en-US" sz="1100" dirty="0"/>
          </a:p>
        </p:txBody>
      </p:sp>
      <p:sp>
        <p:nvSpPr>
          <p:cNvPr id="4" name="Text 2"/>
          <p:cNvSpPr/>
          <p:nvPr/>
        </p:nvSpPr>
        <p:spPr>
          <a:xfrm>
            <a:off x="548640" y="566928"/>
            <a:ext cx="11064240" cy="822960"/>
          </a:xfrm>
          <a:prstGeom prst="rect">
            <a:avLst/>
          </a:prstGeom>
          <a:noFill/>
          <a:ln/>
        </p:spPr>
        <p:txBody>
          <a:bodyPr wrap="square" rtlCol="0" anchor="t"/>
          <a:lstStyle/>
          <a:p>
            <a:pPr indent="0" marL="0">
              <a:buNone/>
            </a:pPr>
            <a:r>
              <a:rPr lang="en-US" sz="2800" b="1" dirty="0">
                <a:solidFill>
                  <a:srgbClr val="0F2B43"/>
                </a:solidFill>
                <a:latin typeface="Arial" pitchFamily="34" charset="0"/>
                <a:ea typeface="Arial" pitchFamily="34" charset="-122"/>
                <a:cs typeface="Arial" pitchFamily="34" charset="-120"/>
              </a:rPr>
              <a:t>The closest technician is not always the best one to send</a:t>
            </a:r>
            <a:endParaRPr lang="en-US" sz="2800" dirty="0"/>
          </a:p>
        </p:txBody>
      </p:sp>
      <p:sp>
        <p:nvSpPr>
          <p:cNvPr id="5" name="Text 3"/>
          <p:cNvSpPr/>
          <p:nvPr/>
        </p:nvSpPr>
        <p:spPr>
          <a:xfrm>
            <a:off x="548640" y="6446520"/>
            <a:ext cx="5486400" cy="274320"/>
          </a:xfrm>
          <a:prstGeom prst="rect">
            <a:avLst/>
          </a:prstGeom>
          <a:noFill/>
          <a:ln/>
        </p:spPr>
        <p:txBody>
          <a:bodyPr wrap="square" rtlCol="0" anchor="ctr"/>
          <a:lstStyle/>
          <a:p>
            <a:pPr indent="0" marL="0">
              <a:buNone/>
            </a:pPr>
            <a:r>
              <a:rPr lang="en-US" sz="900" dirty="0">
                <a:solidFill>
                  <a:srgbClr val="5B6B7A"/>
                </a:solidFill>
                <a:latin typeface="Arial" pitchFamily="34" charset="0"/>
                <a:ea typeface="Arial" pitchFamily="34" charset="-122"/>
                <a:cs typeface="Arial" pitchFamily="34" charset="-120"/>
              </a:rPr>
              <a:t>ResponseCompass · draft for review</a:t>
            </a:r>
            <a:endParaRPr lang="en-US" sz="900" dirty="0"/>
          </a:p>
        </p:txBody>
      </p:sp>
      <p:sp>
        <p:nvSpPr>
          <p:cNvPr id="6" name="Text 4"/>
          <p:cNvSpPr/>
          <p:nvPr/>
        </p:nvSpPr>
        <p:spPr>
          <a:xfrm>
            <a:off x="548640" y="1554480"/>
            <a:ext cx="10972800" cy="4114800"/>
          </a:xfrm>
          <a:prstGeom prst="rect">
            <a:avLst/>
          </a:prstGeom>
          <a:noFill/>
          <a:ln/>
        </p:spPr>
        <p:txBody>
          <a:bodyPr wrap="square" rtlCol="0" anchor="t"/>
          <a:lstStyle/>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Equipment faults arrive as technician reports in plain language, not clean tickets.</a:t>
            </a:r>
            <a:endParaRPr lang="en-US" sz="1800" dirty="0"/>
          </a:p>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The nearest responder often has no record on this fault.</a:t>
            </a:r>
            <a:endParaRPr lang="en-US" sz="1800" dirty="0"/>
          </a:p>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The first fix tried is often a guess, and each failed attempt costs downtime.</a:t>
            </a:r>
            <a:endParaRPr lang="en-US" sz="1800" dirty="0"/>
          </a:p>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What works lives in old tickets and in people's heads, so it is hard to reuse.</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E1FE3C"/>
          </a:solidFill>
          <a:ln w="12700">
            <a:solidFill>
              <a:srgbClr val="E1FE3C"/>
            </a:solidFill>
            <a:prstDash val="solid"/>
          </a:ln>
        </p:spPr>
      </p:sp>
      <p:sp>
        <p:nvSpPr>
          <p:cNvPr id="3" name="Text 1"/>
          <p:cNvSpPr/>
          <p:nvPr/>
        </p:nvSpPr>
        <p:spPr>
          <a:xfrm>
            <a:off x="548640" y="320040"/>
            <a:ext cx="10972800" cy="274320"/>
          </a:xfrm>
          <a:prstGeom prst="rect">
            <a:avLst/>
          </a:prstGeom>
          <a:noFill/>
          <a:ln/>
        </p:spPr>
        <p:txBody>
          <a:bodyPr wrap="square" rtlCol="0" anchor="ctr"/>
          <a:lstStyle/>
          <a:p>
            <a:pPr indent="0" marL="0">
              <a:buNone/>
            </a:pPr>
            <a:r>
              <a:rPr lang="en-US" sz="1100" b="1" spc="100" kern="0" dirty="0">
                <a:solidFill>
                  <a:srgbClr val="5B6B7A"/>
                </a:solidFill>
                <a:latin typeface="Arial" pitchFamily="34" charset="0"/>
                <a:ea typeface="Arial" pitchFamily="34" charset="-122"/>
                <a:cs typeface="Arial" pitchFamily="34" charset="-120"/>
              </a:rPr>
              <a:t>THE DEMO STORY</a:t>
            </a:r>
            <a:endParaRPr lang="en-US" sz="1100" dirty="0"/>
          </a:p>
        </p:txBody>
      </p:sp>
      <p:sp>
        <p:nvSpPr>
          <p:cNvPr id="4" name="Text 2"/>
          <p:cNvSpPr/>
          <p:nvPr/>
        </p:nvSpPr>
        <p:spPr>
          <a:xfrm>
            <a:off x="548640" y="566928"/>
            <a:ext cx="11064240" cy="822960"/>
          </a:xfrm>
          <a:prstGeom prst="rect">
            <a:avLst/>
          </a:prstGeom>
          <a:noFill/>
          <a:ln/>
        </p:spPr>
        <p:txBody>
          <a:bodyPr wrap="square" rtlCol="0" anchor="t"/>
          <a:lstStyle/>
          <a:p>
            <a:pPr indent="0" marL="0">
              <a:buNone/>
            </a:pPr>
            <a:r>
              <a:rPr lang="en-US" sz="2800" b="1" dirty="0">
                <a:solidFill>
                  <a:srgbClr val="0F2B43"/>
                </a:solidFill>
                <a:latin typeface="Arial" pitchFamily="34" charset="0"/>
                <a:ea typeface="Arial" pitchFamily="34" charset="-122"/>
                <a:cs typeface="Arial" pitchFamily="34" charset="-120"/>
              </a:rPr>
              <a:t>One report, from words to an approved dispatch</a:t>
            </a:r>
            <a:endParaRPr lang="en-US" sz="2800" dirty="0"/>
          </a:p>
        </p:txBody>
      </p:sp>
      <p:sp>
        <p:nvSpPr>
          <p:cNvPr id="5" name="Text 3"/>
          <p:cNvSpPr/>
          <p:nvPr/>
        </p:nvSpPr>
        <p:spPr>
          <a:xfrm>
            <a:off x="548640" y="6446520"/>
            <a:ext cx="5486400" cy="274320"/>
          </a:xfrm>
          <a:prstGeom prst="rect">
            <a:avLst/>
          </a:prstGeom>
          <a:noFill/>
          <a:ln/>
        </p:spPr>
        <p:txBody>
          <a:bodyPr wrap="square" rtlCol="0" anchor="ctr"/>
          <a:lstStyle/>
          <a:p>
            <a:pPr indent="0" marL="0">
              <a:buNone/>
            </a:pPr>
            <a:r>
              <a:rPr lang="en-US" sz="900" dirty="0">
                <a:solidFill>
                  <a:srgbClr val="5B6B7A"/>
                </a:solidFill>
                <a:latin typeface="Arial" pitchFamily="34" charset="0"/>
                <a:ea typeface="Arial" pitchFamily="34" charset="-122"/>
                <a:cs typeface="Arial" pitchFamily="34" charset="-120"/>
              </a:rPr>
              <a:t>ResponseCompass · draft for review</a:t>
            </a:r>
            <a:endParaRPr lang="en-US" sz="900" dirty="0"/>
          </a:p>
        </p:txBody>
      </p:sp>
      <p:sp>
        <p:nvSpPr>
          <p:cNvPr id="6" name="Shape 4"/>
          <p:cNvSpPr/>
          <p:nvPr/>
        </p:nvSpPr>
        <p:spPr>
          <a:xfrm>
            <a:off x="548640" y="1737360"/>
            <a:ext cx="3474720" cy="1554480"/>
          </a:xfrm>
          <a:prstGeom prst="rect">
            <a:avLst/>
          </a:prstGeom>
          <a:solidFill>
            <a:srgbClr val="EEF2F7"/>
          </a:solidFill>
          <a:ln w="12700">
            <a:solidFill>
              <a:srgbClr val="C9D3DD"/>
            </a:solidFill>
            <a:prstDash val="solid"/>
          </a:ln>
        </p:spPr>
      </p:sp>
      <p:sp>
        <p:nvSpPr>
          <p:cNvPr id="7" name="Text 5"/>
          <p:cNvSpPr/>
          <p:nvPr/>
        </p:nvSpPr>
        <p:spPr>
          <a:xfrm>
            <a:off x="731520" y="1874520"/>
            <a:ext cx="548640" cy="457200"/>
          </a:xfrm>
          <a:prstGeom prst="rect">
            <a:avLst/>
          </a:prstGeom>
          <a:noFill/>
          <a:ln/>
        </p:spPr>
        <p:txBody>
          <a:bodyPr wrap="square" rtlCol="0" anchor="ctr"/>
          <a:lstStyle/>
          <a:p>
            <a:pPr indent="0" marL="0">
              <a:buNone/>
            </a:pPr>
            <a:r>
              <a:rPr lang="en-US" sz="2200" b="1" dirty="0">
                <a:solidFill>
                  <a:srgbClr val="0F2B43"/>
                </a:solidFill>
                <a:latin typeface="Arial" pitchFamily="34" charset="0"/>
                <a:ea typeface="Arial" pitchFamily="34" charset="-122"/>
                <a:cs typeface="Arial" pitchFamily="34" charset="-120"/>
              </a:rPr>
              <a:t>1</a:t>
            </a:r>
            <a:endParaRPr lang="en-US" sz="2200" dirty="0"/>
          </a:p>
        </p:txBody>
      </p:sp>
      <p:sp>
        <p:nvSpPr>
          <p:cNvPr id="8" name="Text 6"/>
          <p:cNvSpPr/>
          <p:nvPr/>
        </p:nvSpPr>
        <p:spPr>
          <a:xfrm>
            <a:off x="731520" y="2377440"/>
            <a:ext cx="3108960" cy="822960"/>
          </a:xfrm>
          <a:prstGeom prst="rect">
            <a:avLst/>
          </a:prstGeom>
          <a:noFill/>
          <a:ln/>
        </p:spPr>
        <p:txBody>
          <a:bodyPr wrap="square" rtlCol="0" anchor="t"/>
          <a:lstStyle/>
          <a:p>
            <a:pPr indent="0" marL="0">
              <a:buNone/>
            </a:pPr>
            <a:r>
              <a:rPr lang="en-US" sz="1600" dirty="0">
                <a:solidFill>
                  <a:srgbClr val="0F2B43"/>
                </a:solidFill>
                <a:latin typeface="Arial" pitchFamily="34" charset="0"/>
                <a:ea typeface="Arial" pitchFamily="34" charset="-122"/>
                <a:cs typeface="Arial" pitchFamily="34" charset="-120"/>
              </a:rPr>
              <a:t>Free-text field report arrives</a:t>
            </a:r>
            <a:endParaRPr lang="en-US" sz="1600" dirty="0"/>
          </a:p>
        </p:txBody>
      </p:sp>
      <p:sp>
        <p:nvSpPr>
          <p:cNvPr id="9" name="Shape 7"/>
          <p:cNvSpPr/>
          <p:nvPr/>
        </p:nvSpPr>
        <p:spPr>
          <a:xfrm>
            <a:off x="4297680" y="1737360"/>
            <a:ext cx="3474720" cy="1554480"/>
          </a:xfrm>
          <a:prstGeom prst="rect">
            <a:avLst/>
          </a:prstGeom>
          <a:solidFill>
            <a:srgbClr val="EEF2F7"/>
          </a:solidFill>
          <a:ln w="12700">
            <a:solidFill>
              <a:srgbClr val="C9D3DD"/>
            </a:solidFill>
            <a:prstDash val="solid"/>
          </a:ln>
        </p:spPr>
      </p:sp>
      <p:sp>
        <p:nvSpPr>
          <p:cNvPr id="10" name="Text 8"/>
          <p:cNvSpPr/>
          <p:nvPr/>
        </p:nvSpPr>
        <p:spPr>
          <a:xfrm>
            <a:off x="4480560" y="1874520"/>
            <a:ext cx="548640" cy="457200"/>
          </a:xfrm>
          <a:prstGeom prst="rect">
            <a:avLst/>
          </a:prstGeom>
          <a:noFill/>
          <a:ln/>
        </p:spPr>
        <p:txBody>
          <a:bodyPr wrap="square" rtlCol="0" anchor="ctr"/>
          <a:lstStyle/>
          <a:p>
            <a:pPr indent="0" marL="0">
              <a:buNone/>
            </a:pPr>
            <a:r>
              <a:rPr lang="en-US" sz="2200" b="1" dirty="0">
                <a:solidFill>
                  <a:srgbClr val="0F2B43"/>
                </a:solidFill>
                <a:latin typeface="Arial" pitchFamily="34" charset="0"/>
                <a:ea typeface="Arial" pitchFamily="34" charset="-122"/>
                <a:cs typeface="Arial" pitchFamily="34" charset="-120"/>
              </a:rPr>
              <a:t>2</a:t>
            </a:r>
            <a:endParaRPr lang="en-US" sz="2200" dirty="0"/>
          </a:p>
        </p:txBody>
      </p:sp>
      <p:sp>
        <p:nvSpPr>
          <p:cNvPr id="11" name="Text 9"/>
          <p:cNvSpPr/>
          <p:nvPr/>
        </p:nvSpPr>
        <p:spPr>
          <a:xfrm>
            <a:off x="4480560" y="2377440"/>
            <a:ext cx="3108960" cy="822960"/>
          </a:xfrm>
          <a:prstGeom prst="rect">
            <a:avLst/>
          </a:prstGeom>
          <a:noFill/>
          <a:ln/>
        </p:spPr>
        <p:txBody>
          <a:bodyPr wrap="square" rtlCol="0" anchor="t"/>
          <a:lstStyle/>
          <a:p>
            <a:pPr indent="0" marL="0">
              <a:buNone/>
            </a:pPr>
            <a:r>
              <a:rPr lang="en-US" sz="1600" dirty="0">
                <a:solidFill>
                  <a:srgbClr val="0F2B43"/>
                </a:solidFill>
                <a:latin typeface="Arial" pitchFamily="34" charset="0"/>
                <a:ea typeface="Arial" pitchFamily="34" charset="-122"/>
                <a:cs typeface="Arial" pitchFamily="34" charset="-120"/>
              </a:rPr>
              <a:t>Wall screens show the room</a:t>
            </a:r>
            <a:endParaRPr lang="en-US" sz="1600" dirty="0"/>
          </a:p>
        </p:txBody>
      </p:sp>
      <p:sp>
        <p:nvSpPr>
          <p:cNvPr id="12" name="Shape 10"/>
          <p:cNvSpPr/>
          <p:nvPr/>
        </p:nvSpPr>
        <p:spPr>
          <a:xfrm>
            <a:off x="8046720" y="1737360"/>
            <a:ext cx="3474720" cy="1554480"/>
          </a:xfrm>
          <a:prstGeom prst="rect">
            <a:avLst/>
          </a:prstGeom>
          <a:solidFill>
            <a:srgbClr val="EEF2F7"/>
          </a:solidFill>
          <a:ln w="12700">
            <a:solidFill>
              <a:srgbClr val="C9D3DD"/>
            </a:solidFill>
            <a:prstDash val="solid"/>
          </a:ln>
        </p:spPr>
      </p:sp>
      <p:sp>
        <p:nvSpPr>
          <p:cNvPr id="13" name="Text 11"/>
          <p:cNvSpPr/>
          <p:nvPr/>
        </p:nvSpPr>
        <p:spPr>
          <a:xfrm>
            <a:off x="8229600" y="1874520"/>
            <a:ext cx="548640" cy="457200"/>
          </a:xfrm>
          <a:prstGeom prst="rect">
            <a:avLst/>
          </a:prstGeom>
          <a:noFill/>
          <a:ln/>
        </p:spPr>
        <p:txBody>
          <a:bodyPr wrap="square" rtlCol="0" anchor="ctr"/>
          <a:lstStyle/>
          <a:p>
            <a:pPr indent="0" marL="0">
              <a:buNone/>
            </a:pPr>
            <a:r>
              <a:rPr lang="en-US" sz="2200" b="1" dirty="0">
                <a:solidFill>
                  <a:srgbClr val="0F2B43"/>
                </a:solidFill>
                <a:latin typeface="Arial" pitchFamily="34" charset="0"/>
                <a:ea typeface="Arial" pitchFamily="34" charset="-122"/>
                <a:cs typeface="Arial" pitchFamily="34" charset="-120"/>
              </a:rPr>
              <a:t>3</a:t>
            </a:r>
            <a:endParaRPr lang="en-US" sz="2200" dirty="0"/>
          </a:p>
        </p:txBody>
      </p:sp>
      <p:sp>
        <p:nvSpPr>
          <p:cNvPr id="14" name="Text 12"/>
          <p:cNvSpPr/>
          <p:nvPr/>
        </p:nvSpPr>
        <p:spPr>
          <a:xfrm>
            <a:off x="8229600" y="2377440"/>
            <a:ext cx="3108960" cy="822960"/>
          </a:xfrm>
          <a:prstGeom prst="rect">
            <a:avLst/>
          </a:prstGeom>
          <a:noFill/>
          <a:ln/>
        </p:spPr>
        <p:txBody>
          <a:bodyPr wrap="square" rtlCol="0" anchor="t"/>
          <a:lstStyle/>
          <a:p>
            <a:pPr indent="0" marL="0">
              <a:buNone/>
            </a:pPr>
            <a:r>
              <a:rPr lang="en-US" sz="1600" dirty="0">
                <a:solidFill>
                  <a:srgbClr val="0F2B43"/>
                </a:solidFill>
                <a:latin typeface="Arial" pitchFamily="34" charset="0"/>
                <a:ea typeface="Arial" pitchFamily="34" charset="-122"/>
                <a:cs typeface="Arial" pitchFamily="34" charset="-120"/>
              </a:rPr>
              <a:t>Code resolves equipment and options</a:t>
            </a:r>
            <a:endParaRPr lang="en-US" sz="1600" dirty="0"/>
          </a:p>
        </p:txBody>
      </p:sp>
      <p:sp>
        <p:nvSpPr>
          <p:cNvPr id="15" name="Shape 13"/>
          <p:cNvSpPr/>
          <p:nvPr/>
        </p:nvSpPr>
        <p:spPr>
          <a:xfrm>
            <a:off x="548640" y="3749040"/>
            <a:ext cx="3474720" cy="1554480"/>
          </a:xfrm>
          <a:prstGeom prst="rect">
            <a:avLst/>
          </a:prstGeom>
          <a:solidFill>
            <a:srgbClr val="EEF2F7"/>
          </a:solidFill>
          <a:ln w="12700">
            <a:solidFill>
              <a:srgbClr val="C9D3DD"/>
            </a:solidFill>
            <a:prstDash val="solid"/>
          </a:ln>
        </p:spPr>
      </p:sp>
      <p:sp>
        <p:nvSpPr>
          <p:cNvPr id="16" name="Text 14"/>
          <p:cNvSpPr/>
          <p:nvPr/>
        </p:nvSpPr>
        <p:spPr>
          <a:xfrm>
            <a:off x="731520" y="3886200"/>
            <a:ext cx="548640" cy="457200"/>
          </a:xfrm>
          <a:prstGeom prst="rect">
            <a:avLst/>
          </a:prstGeom>
          <a:noFill/>
          <a:ln/>
        </p:spPr>
        <p:txBody>
          <a:bodyPr wrap="square" rtlCol="0" anchor="ctr"/>
          <a:lstStyle/>
          <a:p>
            <a:pPr indent="0" marL="0">
              <a:buNone/>
            </a:pPr>
            <a:r>
              <a:rPr lang="en-US" sz="2200" b="1" dirty="0">
                <a:solidFill>
                  <a:srgbClr val="0F2B43"/>
                </a:solidFill>
                <a:latin typeface="Arial" pitchFamily="34" charset="0"/>
                <a:ea typeface="Arial" pitchFamily="34" charset="-122"/>
                <a:cs typeface="Arial" pitchFamily="34" charset="-120"/>
              </a:rPr>
              <a:t>4</a:t>
            </a:r>
            <a:endParaRPr lang="en-US" sz="2200" dirty="0"/>
          </a:p>
        </p:txBody>
      </p:sp>
      <p:sp>
        <p:nvSpPr>
          <p:cNvPr id="17" name="Text 15"/>
          <p:cNvSpPr/>
          <p:nvPr/>
        </p:nvSpPr>
        <p:spPr>
          <a:xfrm>
            <a:off x="731520" y="4389120"/>
            <a:ext cx="3108960" cy="822960"/>
          </a:xfrm>
          <a:prstGeom prst="rect">
            <a:avLst/>
          </a:prstGeom>
          <a:noFill/>
          <a:ln/>
        </p:spPr>
        <p:txBody>
          <a:bodyPr wrap="square" rtlCol="0" anchor="t"/>
          <a:lstStyle/>
          <a:p>
            <a:pPr indent="0" marL="0">
              <a:buNone/>
            </a:pPr>
            <a:r>
              <a:rPr lang="en-US" sz="1600" dirty="0">
                <a:solidFill>
                  <a:srgbClr val="0F2B43"/>
                </a:solidFill>
                <a:latin typeface="Arial" pitchFamily="34" charset="0"/>
                <a:ea typeface="Arial" pitchFamily="34" charset="-122"/>
                <a:cs typeface="Arial" pitchFamily="34" charset="-120"/>
              </a:rPr>
              <a:t>Nemotron investigates with cited cases</a:t>
            </a:r>
            <a:endParaRPr lang="en-US" sz="1600" dirty="0"/>
          </a:p>
        </p:txBody>
      </p:sp>
      <p:sp>
        <p:nvSpPr>
          <p:cNvPr id="18" name="Shape 16"/>
          <p:cNvSpPr/>
          <p:nvPr/>
        </p:nvSpPr>
        <p:spPr>
          <a:xfrm>
            <a:off x="4297680" y="3749040"/>
            <a:ext cx="3474720" cy="1554480"/>
          </a:xfrm>
          <a:prstGeom prst="rect">
            <a:avLst/>
          </a:prstGeom>
          <a:solidFill>
            <a:srgbClr val="EEF2F7"/>
          </a:solidFill>
          <a:ln w="12700">
            <a:solidFill>
              <a:srgbClr val="C9D3DD"/>
            </a:solidFill>
            <a:prstDash val="solid"/>
          </a:ln>
        </p:spPr>
      </p:sp>
      <p:sp>
        <p:nvSpPr>
          <p:cNvPr id="19" name="Text 17"/>
          <p:cNvSpPr/>
          <p:nvPr/>
        </p:nvSpPr>
        <p:spPr>
          <a:xfrm>
            <a:off x="4480560" y="3886200"/>
            <a:ext cx="548640" cy="457200"/>
          </a:xfrm>
          <a:prstGeom prst="rect">
            <a:avLst/>
          </a:prstGeom>
          <a:noFill/>
          <a:ln/>
        </p:spPr>
        <p:txBody>
          <a:bodyPr wrap="square" rtlCol="0" anchor="ctr"/>
          <a:lstStyle/>
          <a:p>
            <a:pPr indent="0" marL="0">
              <a:buNone/>
            </a:pPr>
            <a:r>
              <a:rPr lang="en-US" sz="2200" b="1" dirty="0">
                <a:solidFill>
                  <a:srgbClr val="0F2B43"/>
                </a:solidFill>
                <a:latin typeface="Arial" pitchFamily="34" charset="0"/>
                <a:ea typeface="Arial" pitchFamily="34" charset="-122"/>
                <a:cs typeface="Arial" pitchFamily="34" charset="-120"/>
              </a:rPr>
              <a:t>5</a:t>
            </a:r>
            <a:endParaRPr lang="en-US" sz="2200" dirty="0"/>
          </a:p>
        </p:txBody>
      </p:sp>
      <p:sp>
        <p:nvSpPr>
          <p:cNvPr id="20" name="Text 18"/>
          <p:cNvSpPr/>
          <p:nvPr/>
        </p:nvSpPr>
        <p:spPr>
          <a:xfrm>
            <a:off x="4480560" y="4389120"/>
            <a:ext cx="3108960" cy="822960"/>
          </a:xfrm>
          <a:prstGeom prst="rect">
            <a:avLst/>
          </a:prstGeom>
          <a:noFill/>
          <a:ln/>
        </p:spPr>
        <p:txBody>
          <a:bodyPr wrap="square" rtlCol="0" anchor="t"/>
          <a:lstStyle/>
          <a:p>
            <a:pPr indent="0" marL="0">
              <a:buNone/>
            </a:pPr>
            <a:r>
              <a:rPr lang="en-US" sz="1600" dirty="0">
                <a:solidFill>
                  <a:srgbClr val="0F2B43"/>
                </a:solidFill>
                <a:latin typeface="Arial" pitchFamily="34" charset="0"/>
                <a:ea typeface="Arial" pitchFamily="34" charset="-122"/>
                <a:cs typeface="Arial" pitchFamily="34" charset="-120"/>
              </a:rPr>
              <a:t>Operator confirms and approves</a:t>
            </a:r>
            <a:endParaRPr lang="en-US" sz="1600" dirty="0"/>
          </a:p>
        </p:txBody>
      </p:sp>
      <p:sp>
        <p:nvSpPr>
          <p:cNvPr id="21" name="Shape 19"/>
          <p:cNvSpPr/>
          <p:nvPr/>
        </p:nvSpPr>
        <p:spPr>
          <a:xfrm>
            <a:off x="8046720" y="3749040"/>
            <a:ext cx="3474720" cy="1554480"/>
          </a:xfrm>
          <a:prstGeom prst="rect">
            <a:avLst/>
          </a:prstGeom>
          <a:solidFill>
            <a:srgbClr val="EEF2F7"/>
          </a:solidFill>
          <a:ln w="12700">
            <a:solidFill>
              <a:srgbClr val="C9D3DD"/>
            </a:solidFill>
            <a:prstDash val="solid"/>
          </a:ln>
        </p:spPr>
      </p:sp>
      <p:sp>
        <p:nvSpPr>
          <p:cNvPr id="22" name="Text 20"/>
          <p:cNvSpPr/>
          <p:nvPr/>
        </p:nvSpPr>
        <p:spPr>
          <a:xfrm>
            <a:off x="8229600" y="3886200"/>
            <a:ext cx="548640" cy="457200"/>
          </a:xfrm>
          <a:prstGeom prst="rect">
            <a:avLst/>
          </a:prstGeom>
          <a:noFill/>
          <a:ln/>
        </p:spPr>
        <p:txBody>
          <a:bodyPr wrap="square" rtlCol="0" anchor="ctr"/>
          <a:lstStyle/>
          <a:p>
            <a:pPr indent="0" marL="0">
              <a:buNone/>
            </a:pPr>
            <a:r>
              <a:rPr lang="en-US" sz="2200" b="1" dirty="0">
                <a:solidFill>
                  <a:srgbClr val="0F2B43"/>
                </a:solidFill>
                <a:latin typeface="Arial" pitchFamily="34" charset="0"/>
                <a:ea typeface="Arial" pitchFamily="34" charset="-122"/>
                <a:cs typeface="Arial" pitchFamily="34" charset="-120"/>
              </a:rPr>
              <a:t>6</a:t>
            </a:r>
            <a:endParaRPr lang="en-US" sz="2200" dirty="0"/>
          </a:p>
        </p:txBody>
      </p:sp>
      <p:sp>
        <p:nvSpPr>
          <p:cNvPr id="23" name="Text 21"/>
          <p:cNvSpPr/>
          <p:nvPr/>
        </p:nvSpPr>
        <p:spPr>
          <a:xfrm>
            <a:off x="8229600" y="4389120"/>
            <a:ext cx="3108960" cy="822960"/>
          </a:xfrm>
          <a:prstGeom prst="rect">
            <a:avLst/>
          </a:prstGeom>
          <a:noFill/>
          <a:ln/>
        </p:spPr>
        <p:txBody>
          <a:bodyPr wrap="square" rtlCol="0" anchor="t"/>
          <a:lstStyle/>
          <a:p>
            <a:pPr indent="0" marL="0">
              <a:buNone/>
            </a:pPr>
            <a:r>
              <a:rPr lang="en-US" sz="1600" dirty="0">
                <a:solidFill>
                  <a:srgbClr val="0F2B43"/>
                </a:solidFill>
                <a:latin typeface="Arial" pitchFamily="34" charset="0"/>
                <a:ea typeface="Arial" pitchFamily="34" charset="-122"/>
                <a:cs typeface="Arial" pitchFamily="34" charset="-120"/>
              </a:rPr>
              <a:t>Outcome, history and analytics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E1FE3C"/>
          </a:solidFill>
          <a:ln w="12700">
            <a:solidFill>
              <a:srgbClr val="E1FE3C"/>
            </a:solidFill>
            <a:prstDash val="solid"/>
          </a:ln>
        </p:spPr>
      </p:sp>
      <p:sp>
        <p:nvSpPr>
          <p:cNvPr id="3" name="Text 1"/>
          <p:cNvSpPr/>
          <p:nvPr/>
        </p:nvSpPr>
        <p:spPr>
          <a:xfrm>
            <a:off x="548640" y="320040"/>
            <a:ext cx="10972800" cy="274320"/>
          </a:xfrm>
          <a:prstGeom prst="rect">
            <a:avLst/>
          </a:prstGeom>
          <a:noFill/>
          <a:ln/>
        </p:spPr>
        <p:txBody>
          <a:bodyPr wrap="square" rtlCol="0" anchor="ctr"/>
          <a:lstStyle/>
          <a:p>
            <a:pPr indent="0" marL="0">
              <a:buNone/>
            </a:pPr>
            <a:r>
              <a:rPr lang="en-US" sz="1100" b="1" spc="100" kern="0" dirty="0">
                <a:solidFill>
                  <a:srgbClr val="5B6B7A"/>
                </a:solidFill>
                <a:latin typeface="Arial" pitchFamily="34" charset="0"/>
                <a:ea typeface="Arial" pitchFamily="34" charset="-122"/>
                <a:cs typeface="Arial" pitchFamily="34" charset="-120"/>
              </a:rPr>
              <a:t>LIVE FLOOR</a:t>
            </a:r>
            <a:endParaRPr lang="en-US" sz="1100" dirty="0"/>
          </a:p>
        </p:txBody>
      </p:sp>
      <p:sp>
        <p:nvSpPr>
          <p:cNvPr id="4" name="Text 2"/>
          <p:cNvSpPr/>
          <p:nvPr/>
        </p:nvSpPr>
        <p:spPr>
          <a:xfrm>
            <a:off x="548640" y="566928"/>
            <a:ext cx="11064240" cy="822960"/>
          </a:xfrm>
          <a:prstGeom prst="rect">
            <a:avLst/>
          </a:prstGeom>
          <a:noFill/>
          <a:ln/>
        </p:spPr>
        <p:txBody>
          <a:bodyPr wrap="square" rtlCol="0" anchor="t"/>
          <a:lstStyle/>
          <a:p>
            <a:pPr indent="0" marL="0">
              <a:buNone/>
            </a:pPr>
            <a:r>
              <a:rPr lang="en-US" sz="2800" b="1" dirty="0">
                <a:solidFill>
                  <a:srgbClr val="0F2B43"/>
                </a:solidFill>
                <a:latin typeface="Arial" pitchFamily="34" charset="0"/>
                <a:ea typeface="Arial" pitchFamily="34" charset="-122"/>
                <a:cs typeface="Arial" pitchFamily="34" charset="-120"/>
              </a:rPr>
              <a:t>The control room watches the floor and keeps the controls</a:t>
            </a:r>
            <a:endParaRPr lang="en-US" sz="2800" dirty="0"/>
          </a:p>
        </p:txBody>
      </p:sp>
      <p:sp>
        <p:nvSpPr>
          <p:cNvPr id="5" name="Text 3"/>
          <p:cNvSpPr/>
          <p:nvPr/>
        </p:nvSpPr>
        <p:spPr>
          <a:xfrm>
            <a:off x="548640" y="6446520"/>
            <a:ext cx="5486400" cy="274320"/>
          </a:xfrm>
          <a:prstGeom prst="rect">
            <a:avLst/>
          </a:prstGeom>
          <a:noFill/>
          <a:ln/>
        </p:spPr>
        <p:txBody>
          <a:bodyPr wrap="square" rtlCol="0" anchor="ctr"/>
          <a:lstStyle/>
          <a:p>
            <a:pPr indent="0" marL="0">
              <a:buNone/>
            </a:pPr>
            <a:r>
              <a:rPr lang="en-US" sz="900" dirty="0">
                <a:solidFill>
                  <a:srgbClr val="5B6B7A"/>
                </a:solidFill>
                <a:latin typeface="Arial" pitchFamily="34" charset="0"/>
                <a:ea typeface="Arial" pitchFamily="34" charset="-122"/>
                <a:cs typeface="Arial" pitchFamily="34" charset="-120"/>
              </a:rPr>
              <a:t>ResponseCompass · draft for review</a:t>
            </a:r>
            <a:endParaRPr lang="en-US" sz="900" dirty="0"/>
          </a:p>
        </p:txBody>
      </p:sp>
      <p:pic>
        <p:nvPicPr>
          <p:cNvPr id="6" name="Image 0" descr="/tmp/claude-1000/-home-makodev58-nebius-compass-claude/299a6e2b-be32-452f-9746-ac624657cac5/scratchpad/console-1600.png">    </p:cNvPr>
          <p:cNvPicPr>
            <a:picLocks noChangeAspect="1"/>
          </p:cNvPicPr>
          <p:nvPr/>
        </p:nvPicPr>
        <p:blipFill>
          <a:blip r:embed="rId1"/>
          <a:stretch>
            <a:fillRect/>
          </a:stretch>
        </p:blipFill>
        <p:spPr>
          <a:xfrm>
            <a:off x="548640" y="1508760"/>
            <a:ext cx="7863840" cy="4425696"/>
          </a:xfrm>
          <a:prstGeom prst="rect">
            <a:avLst/>
          </a:prstGeom>
        </p:spPr>
      </p:pic>
      <p:sp>
        <p:nvSpPr>
          <p:cNvPr id="7" name="Text 4"/>
          <p:cNvSpPr/>
          <p:nvPr/>
        </p:nvSpPr>
        <p:spPr>
          <a:xfrm>
            <a:off x="8686800" y="1554480"/>
            <a:ext cx="3108960" cy="4389120"/>
          </a:xfrm>
          <a:prstGeom prst="rect">
            <a:avLst/>
          </a:prstGeom>
          <a:noFill/>
          <a:ln/>
        </p:spPr>
        <p:txBody>
          <a:bodyPr wrap="square" rtlCol="0" anchor="t"/>
          <a:lstStyle/>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Six wall screens, one panel per monitor: floor map, issues, dispatch, event feed, Issue Pareto, analytics.</a:t>
            </a:r>
            <a:endParaRPr lang="en-US" sz="1800" dirty="0"/>
          </a:p>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The operator console keeps override, pause and approval.</a:t>
            </a:r>
            <a:endParaRPr lang="en-US" sz="1800" dirty="0"/>
          </a:p>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Screenshot: live deployed app, synthetic plant data.</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E1FE3C"/>
          </a:solidFill>
          <a:ln w="12700">
            <a:solidFill>
              <a:srgbClr val="E1FE3C"/>
            </a:solidFill>
            <a:prstDash val="solid"/>
          </a:ln>
        </p:spPr>
      </p:sp>
      <p:sp>
        <p:nvSpPr>
          <p:cNvPr id="3" name="Text 1"/>
          <p:cNvSpPr/>
          <p:nvPr/>
        </p:nvSpPr>
        <p:spPr>
          <a:xfrm>
            <a:off x="548640" y="320040"/>
            <a:ext cx="10972800" cy="274320"/>
          </a:xfrm>
          <a:prstGeom prst="rect">
            <a:avLst/>
          </a:prstGeom>
          <a:noFill/>
          <a:ln/>
        </p:spPr>
        <p:txBody>
          <a:bodyPr wrap="square" rtlCol="0" anchor="ctr"/>
          <a:lstStyle/>
          <a:p>
            <a:pPr indent="0" marL="0">
              <a:buNone/>
            </a:pPr>
            <a:r>
              <a:rPr lang="en-US" sz="1100" b="1" spc="100" kern="0" dirty="0">
                <a:solidFill>
                  <a:srgbClr val="5B6B7A"/>
                </a:solidFill>
                <a:latin typeface="Arial" pitchFamily="34" charset="0"/>
                <a:ea typeface="Arial" pitchFamily="34" charset="-122"/>
                <a:cs typeface="Arial" pitchFamily="34" charset="-120"/>
              </a:rPr>
              <a:t>COMPASS INVESTIGATOR</a:t>
            </a:r>
            <a:endParaRPr lang="en-US" sz="1100" dirty="0"/>
          </a:p>
        </p:txBody>
      </p:sp>
      <p:sp>
        <p:nvSpPr>
          <p:cNvPr id="4" name="Text 2"/>
          <p:cNvSpPr/>
          <p:nvPr/>
        </p:nvSpPr>
        <p:spPr>
          <a:xfrm>
            <a:off x="548640" y="566928"/>
            <a:ext cx="11064240" cy="822960"/>
          </a:xfrm>
          <a:prstGeom prst="rect">
            <a:avLst/>
          </a:prstGeom>
          <a:noFill/>
          <a:ln/>
        </p:spPr>
        <p:txBody>
          <a:bodyPr wrap="square" rtlCol="0" anchor="t"/>
          <a:lstStyle/>
          <a:p>
            <a:pPr indent="0" marL="0">
              <a:buNone/>
            </a:pPr>
            <a:r>
              <a:rPr lang="en-US" sz="2800" b="1" dirty="0">
                <a:solidFill>
                  <a:srgbClr val="0F2B43"/>
                </a:solidFill>
                <a:latin typeface="Arial" pitchFamily="34" charset="0"/>
                <a:ea typeface="Arial" pitchFamily="34" charset="-122"/>
                <a:cs typeface="Arial" pitchFamily="34" charset="-120"/>
              </a:rPr>
              <a:t>A field report becomes a cited, approved recommendation</a:t>
            </a:r>
            <a:endParaRPr lang="en-US" sz="2800" dirty="0"/>
          </a:p>
        </p:txBody>
      </p:sp>
      <p:sp>
        <p:nvSpPr>
          <p:cNvPr id="5" name="Text 3"/>
          <p:cNvSpPr/>
          <p:nvPr/>
        </p:nvSpPr>
        <p:spPr>
          <a:xfrm>
            <a:off x="548640" y="6446520"/>
            <a:ext cx="5486400" cy="274320"/>
          </a:xfrm>
          <a:prstGeom prst="rect">
            <a:avLst/>
          </a:prstGeom>
          <a:noFill/>
          <a:ln/>
        </p:spPr>
        <p:txBody>
          <a:bodyPr wrap="square" rtlCol="0" anchor="ctr"/>
          <a:lstStyle/>
          <a:p>
            <a:pPr indent="0" marL="0">
              <a:buNone/>
            </a:pPr>
            <a:r>
              <a:rPr lang="en-US" sz="900" dirty="0">
                <a:solidFill>
                  <a:srgbClr val="5B6B7A"/>
                </a:solidFill>
                <a:latin typeface="Arial" pitchFamily="34" charset="0"/>
                <a:ea typeface="Arial" pitchFamily="34" charset="-122"/>
                <a:cs typeface="Arial" pitchFamily="34" charset="-120"/>
              </a:rPr>
              <a:t>ResponseCompass · draft for review</a:t>
            </a:r>
            <a:endParaRPr lang="en-US" sz="900" dirty="0"/>
          </a:p>
        </p:txBody>
      </p:sp>
      <p:sp>
        <p:nvSpPr>
          <p:cNvPr id="6" name="Shape 4"/>
          <p:cNvSpPr/>
          <p:nvPr/>
        </p:nvSpPr>
        <p:spPr>
          <a:xfrm>
            <a:off x="548640" y="1645920"/>
            <a:ext cx="2057400" cy="2377440"/>
          </a:xfrm>
          <a:prstGeom prst="rect">
            <a:avLst/>
          </a:prstGeom>
          <a:solidFill>
            <a:srgbClr val="EEF2F7"/>
          </a:solidFill>
          <a:ln w="12700">
            <a:solidFill>
              <a:srgbClr val="C9D3DD"/>
            </a:solidFill>
            <a:prstDash val="solid"/>
          </a:ln>
        </p:spPr>
      </p:sp>
      <p:sp>
        <p:nvSpPr>
          <p:cNvPr id="7" name="Text 5"/>
          <p:cNvSpPr/>
          <p:nvPr/>
        </p:nvSpPr>
        <p:spPr>
          <a:xfrm>
            <a:off x="685800" y="1783080"/>
            <a:ext cx="1828800" cy="457200"/>
          </a:xfrm>
          <a:prstGeom prst="rect">
            <a:avLst/>
          </a:prstGeom>
          <a:noFill/>
          <a:ln/>
        </p:spPr>
        <p:txBody>
          <a:bodyPr wrap="square" rtlCol="0" anchor="ctr"/>
          <a:lstStyle/>
          <a:p>
            <a:pPr indent="0" marL="0">
              <a:buNone/>
            </a:pPr>
            <a:r>
              <a:rPr lang="en-US" sz="1500" b="1" dirty="0">
                <a:solidFill>
                  <a:srgbClr val="0F2B43"/>
                </a:solidFill>
                <a:latin typeface="Arial" pitchFamily="34" charset="0"/>
                <a:ea typeface="Arial" pitchFamily="34" charset="-122"/>
                <a:cs typeface="Arial" pitchFamily="34" charset="-120"/>
              </a:rPr>
              <a:t>1 Report</a:t>
            </a:r>
            <a:endParaRPr lang="en-US" sz="1500" dirty="0"/>
          </a:p>
        </p:txBody>
      </p:sp>
      <p:sp>
        <p:nvSpPr>
          <p:cNvPr id="8" name="Text 6"/>
          <p:cNvSpPr/>
          <p:nvPr/>
        </p:nvSpPr>
        <p:spPr>
          <a:xfrm>
            <a:off x="685800" y="2286000"/>
            <a:ext cx="1783080" cy="1645920"/>
          </a:xfrm>
          <a:prstGeom prst="rect">
            <a:avLst/>
          </a:prstGeom>
          <a:noFill/>
          <a:ln/>
        </p:spPr>
        <p:txBody>
          <a:bodyPr wrap="square" rtlCol="0" anchor="t"/>
          <a:lstStyle/>
          <a:p>
            <a:pPr indent="0" marL="0">
              <a:buNone/>
            </a:pPr>
            <a:r>
              <a:rPr lang="en-US" sz="1200" dirty="0">
                <a:solidFill>
                  <a:srgbClr val="0F2B43"/>
                </a:solidFill>
                <a:latin typeface="Arial" pitchFamily="34" charset="0"/>
                <a:ea typeface="Arial" pitchFamily="34" charset="-122"/>
                <a:cs typeface="Arial" pitchFamily="34" charset="-120"/>
              </a:rPr>
              <a:t>Operator types what happened. Text is untrusted data.</a:t>
            </a:r>
            <a:endParaRPr lang="en-US" sz="1200" dirty="0"/>
          </a:p>
        </p:txBody>
      </p:sp>
      <p:sp>
        <p:nvSpPr>
          <p:cNvPr id="9" name="Shape 7"/>
          <p:cNvSpPr/>
          <p:nvPr/>
        </p:nvSpPr>
        <p:spPr>
          <a:xfrm>
            <a:off x="2788920" y="1645920"/>
            <a:ext cx="2057400" cy="2377440"/>
          </a:xfrm>
          <a:prstGeom prst="rect">
            <a:avLst/>
          </a:prstGeom>
          <a:solidFill>
            <a:srgbClr val="EEF2F7"/>
          </a:solidFill>
          <a:ln w="12700">
            <a:solidFill>
              <a:srgbClr val="C9D3DD"/>
            </a:solidFill>
            <a:prstDash val="solid"/>
          </a:ln>
        </p:spPr>
      </p:sp>
      <p:sp>
        <p:nvSpPr>
          <p:cNvPr id="10" name="Text 8"/>
          <p:cNvSpPr/>
          <p:nvPr/>
        </p:nvSpPr>
        <p:spPr>
          <a:xfrm>
            <a:off x="2926080" y="1783080"/>
            <a:ext cx="1828800" cy="457200"/>
          </a:xfrm>
          <a:prstGeom prst="rect">
            <a:avLst/>
          </a:prstGeom>
          <a:noFill/>
          <a:ln/>
        </p:spPr>
        <p:txBody>
          <a:bodyPr wrap="square" rtlCol="0" anchor="ctr"/>
          <a:lstStyle/>
          <a:p>
            <a:pPr indent="0" marL="0">
              <a:buNone/>
            </a:pPr>
            <a:r>
              <a:rPr lang="en-US" sz="1500" b="1" dirty="0">
                <a:solidFill>
                  <a:srgbClr val="0F2B43"/>
                </a:solidFill>
                <a:latin typeface="Arial" pitchFamily="34" charset="0"/>
                <a:ea typeface="Arial" pitchFamily="34" charset="-122"/>
                <a:cs typeface="Arial" pitchFamily="34" charset="-120"/>
              </a:rPr>
              <a:t>2 Options</a:t>
            </a:r>
            <a:endParaRPr lang="en-US" sz="1500" dirty="0"/>
          </a:p>
        </p:txBody>
      </p:sp>
      <p:sp>
        <p:nvSpPr>
          <p:cNvPr id="11" name="Text 9"/>
          <p:cNvSpPr/>
          <p:nvPr/>
        </p:nvSpPr>
        <p:spPr>
          <a:xfrm>
            <a:off x="2926080" y="2286000"/>
            <a:ext cx="1783080" cy="1645920"/>
          </a:xfrm>
          <a:prstGeom prst="rect">
            <a:avLst/>
          </a:prstGeom>
          <a:noFill/>
          <a:ln/>
        </p:spPr>
        <p:txBody>
          <a:bodyPr wrap="square" rtlCol="0" anchor="t"/>
          <a:lstStyle/>
          <a:p>
            <a:pPr indent="0" marL="0">
              <a:buNone/>
            </a:pPr>
            <a:r>
              <a:rPr lang="en-US" sz="1200" dirty="0">
                <a:solidFill>
                  <a:srgbClr val="0F2B43"/>
                </a:solidFill>
                <a:latin typeface="Arial" pitchFamily="34" charset="0"/>
                <a:ea typeface="Arial" pitchFamily="34" charset="-122"/>
                <a:cs typeface="Arial" pitchFamily="34" charset="-120"/>
              </a:rPr>
              <a:t>Code lists the possible equipment and symptom pairs (at most 12).</a:t>
            </a:r>
            <a:endParaRPr lang="en-US" sz="1200" dirty="0"/>
          </a:p>
        </p:txBody>
      </p:sp>
      <p:sp>
        <p:nvSpPr>
          <p:cNvPr id="12" name="Shape 10"/>
          <p:cNvSpPr/>
          <p:nvPr/>
        </p:nvSpPr>
        <p:spPr>
          <a:xfrm>
            <a:off x="5029200" y="1645920"/>
            <a:ext cx="2057400" cy="2377440"/>
          </a:xfrm>
          <a:prstGeom prst="rect">
            <a:avLst/>
          </a:prstGeom>
          <a:solidFill>
            <a:srgbClr val="E1FE3C"/>
          </a:solidFill>
          <a:ln w="12700">
            <a:solidFill>
              <a:srgbClr val="C9D3DD"/>
            </a:solidFill>
            <a:prstDash val="solid"/>
          </a:ln>
        </p:spPr>
      </p:sp>
      <p:sp>
        <p:nvSpPr>
          <p:cNvPr id="13" name="Text 11"/>
          <p:cNvSpPr/>
          <p:nvPr/>
        </p:nvSpPr>
        <p:spPr>
          <a:xfrm>
            <a:off x="5166360" y="1783080"/>
            <a:ext cx="1828800" cy="457200"/>
          </a:xfrm>
          <a:prstGeom prst="rect">
            <a:avLst/>
          </a:prstGeom>
          <a:noFill/>
          <a:ln/>
        </p:spPr>
        <p:txBody>
          <a:bodyPr wrap="square" rtlCol="0" anchor="ctr"/>
          <a:lstStyle/>
          <a:p>
            <a:pPr indent="0" marL="0">
              <a:buNone/>
            </a:pPr>
            <a:r>
              <a:rPr lang="en-US" sz="1500" b="1" dirty="0">
                <a:solidFill>
                  <a:srgbClr val="0F2B43"/>
                </a:solidFill>
                <a:latin typeface="Arial" pitchFamily="34" charset="0"/>
                <a:ea typeface="Arial" pitchFamily="34" charset="-122"/>
                <a:cs typeface="Arial" pitchFamily="34" charset="-120"/>
              </a:rPr>
              <a:t>3 Investigate</a:t>
            </a:r>
            <a:endParaRPr lang="en-US" sz="1500" dirty="0"/>
          </a:p>
        </p:txBody>
      </p:sp>
      <p:sp>
        <p:nvSpPr>
          <p:cNvPr id="14" name="Text 12"/>
          <p:cNvSpPr/>
          <p:nvPr/>
        </p:nvSpPr>
        <p:spPr>
          <a:xfrm>
            <a:off x="5166360" y="2286000"/>
            <a:ext cx="1783080" cy="1645920"/>
          </a:xfrm>
          <a:prstGeom prst="rect">
            <a:avLst/>
          </a:prstGeom>
          <a:noFill/>
          <a:ln/>
        </p:spPr>
        <p:txBody>
          <a:bodyPr wrap="square" rtlCol="0" anchor="t"/>
          <a:lstStyle/>
          <a:p>
            <a:pPr indent="0" marL="0">
              <a:buNone/>
            </a:pPr>
            <a:r>
              <a:rPr lang="en-US" sz="1200" dirty="0">
                <a:solidFill>
                  <a:srgbClr val="0F2B43"/>
                </a:solidFill>
                <a:latin typeface="Arial" pitchFamily="34" charset="0"/>
                <a:ea typeface="Arial" pitchFamily="34" charset="-122"/>
                <a:cs typeface="Arial" pitchFamily="34" charset="-120"/>
              </a:rPr>
              <a:t>Nemotron 3 Ultra reads past cases with read-only tools and cites them.</a:t>
            </a:r>
            <a:endParaRPr lang="en-US" sz="1200" dirty="0"/>
          </a:p>
        </p:txBody>
      </p:sp>
      <p:sp>
        <p:nvSpPr>
          <p:cNvPr id="15" name="Shape 13"/>
          <p:cNvSpPr/>
          <p:nvPr/>
        </p:nvSpPr>
        <p:spPr>
          <a:xfrm>
            <a:off x="7269480" y="1645920"/>
            <a:ext cx="2057400" cy="2377440"/>
          </a:xfrm>
          <a:prstGeom prst="rect">
            <a:avLst/>
          </a:prstGeom>
          <a:solidFill>
            <a:srgbClr val="EEF2F7"/>
          </a:solidFill>
          <a:ln w="12700">
            <a:solidFill>
              <a:srgbClr val="C9D3DD"/>
            </a:solidFill>
            <a:prstDash val="solid"/>
          </a:ln>
        </p:spPr>
      </p:sp>
      <p:sp>
        <p:nvSpPr>
          <p:cNvPr id="16" name="Text 14"/>
          <p:cNvSpPr/>
          <p:nvPr/>
        </p:nvSpPr>
        <p:spPr>
          <a:xfrm>
            <a:off x="7406640" y="1783080"/>
            <a:ext cx="1828800" cy="457200"/>
          </a:xfrm>
          <a:prstGeom prst="rect">
            <a:avLst/>
          </a:prstGeom>
          <a:noFill/>
          <a:ln/>
        </p:spPr>
        <p:txBody>
          <a:bodyPr wrap="square" rtlCol="0" anchor="ctr"/>
          <a:lstStyle/>
          <a:p>
            <a:pPr indent="0" marL="0">
              <a:buNone/>
            </a:pPr>
            <a:r>
              <a:rPr lang="en-US" sz="1500" b="1" dirty="0">
                <a:solidFill>
                  <a:srgbClr val="0F2B43"/>
                </a:solidFill>
                <a:latin typeface="Arial" pitchFamily="34" charset="0"/>
                <a:ea typeface="Arial" pitchFamily="34" charset="-122"/>
                <a:cs typeface="Arial" pitchFamily="34" charset="-120"/>
              </a:rPr>
              <a:t>4 Confirm</a:t>
            </a:r>
            <a:endParaRPr lang="en-US" sz="1500" dirty="0"/>
          </a:p>
        </p:txBody>
      </p:sp>
      <p:sp>
        <p:nvSpPr>
          <p:cNvPr id="17" name="Text 15"/>
          <p:cNvSpPr/>
          <p:nvPr/>
        </p:nvSpPr>
        <p:spPr>
          <a:xfrm>
            <a:off x="7406640" y="2286000"/>
            <a:ext cx="1783080" cy="1645920"/>
          </a:xfrm>
          <a:prstGeom prst="rect">
            <a:avLst/>
          </a:prstGeom>
          <a:noFill/>
          <a:ln/>
        </p:spPr>
        <p:txBody>
          <a:bodyPr wrap="square" rtlCol="0" anchor="t"/>
          <a:lstStyle/>
          <a:p>
            <a:pPr indent="0" marL="0">
              <a:buNone/>
            </a:pPr>
            <a:r>
              <a:rPr lang="en-US" sz="1200" dirty="0">
                <a:solidFill>
                  <a:srgbClr val="0F2B43"/>
                </a:solidFill>
                <a:latin typeface="Arial" pitchFamily="34" charset="0"/>
                <a:ea typeface="Arial" pitchFamily="34" charset="-122"/>
                <a:cs typeface="Arial" pitchFamily="34" charset="-120"/>
              </a:rPr>
              <a:t>Operator confirms symptom and ticks safety prerequisites.</a:t>
            </a:r>
            <a:endParaRPr lang="en-US" sz="1200" dirty="0"/>
          </a:p>
        </p:txBody>
      </p:sp>
      <p:sp>
        <p:nvSpPr>
          <p:cNvPr id="18" name="Shape 16"/>
          <p:cNvSpPr/>
          <p:nvPr/>
        </p:nvSpPr>
        <p:spPr>
          <a:xfrm>
            <a:off x="9509760" y="1645920"/>
            <a:ext cx="2057400" cy="2377440"/>
          </a:xfrm>
          <a:prstGeom prst="rect">
            <a:avLst/>
          </a:prstGeom>
          <a:solidFill>
            <a:srgbClr val="EEF2F7"/>
          </a:solidFill>
          <a:ln w="12700">
            <a:solidFill>
              <a:srgbClr val="C9D3DD"/>
            </a:solidFill>
            <a:prstDash val="solid"/>
          </a:ln>
        </p:spPr>
      </p:sp>
      <p:sp>
        <p:nvSpPr>
          <p:cNvPr id="19" name="Text 17"/>
          <p:cNvSpPr/>
          <p:nvPr/>
        </p:nvSpPr>
        <p:spPr>
          <a:xfrm>
            <a:off x="9646920" y="1783080"/>
            <a:ext cx="1828800" cy="457200"/>
          </a:xfrm>
          <a:prstGeom prst="rect">
            <a:avLst/>
          </a:prstGeom>
          <a:noFill/>
          <a:ln/>
        </p:spPr>
        <p:txBody>
          <a:bodyPr wrap="square" rtlCol="0" anchor="ctr"/>
          <a:lstStyle/>
          <a:p>
            <a:pPr indent="0" marL="0">
              <a:buNone/>
            </a:pPr>
            <a:r>
              <a:rPr lang="en-US" sz="1500" b="1" dirty="0">
                <a:solidFill>
                  <a:srgbClr val="0F2B43"/>
                </a:solidFill>
                <a:latin typeface="Arial" pitchFamily="34" charset="0"/>
                <a:ea typeface="Arial" pitchFamily="34" charset="-122"/>
                <a:cs typeface="Arial" pitchFamily="34" charset="-120"/>
              </a:rPr>
              <a:t>5 Approve</a:t>
            </a:r>
            <a:endParaRPr lang="en-US" sz="1500" dirty="0"/>
          </a:p>
        </p:txBody>
      </p:sp>
      <p:sp>
        <p:nvSpPr>
          <p:cNvPr id="20" name="Text 18"/>
          <p:cNvSpPr/>
          <p:nvPr/>
        </p:nvSpPr>
        <p:spPr>
          <a:xfrm>
            <a:off x="9646920" y="2286000"/>
            <a:ext cx="1783080" cy="1645920"/>
          </a:xfrm>
          <a:prstGeom prst="rect">
            <a:avLst/>
          </a:prstGeom>
          <a:noFill/>
          <a:ln/>
        </p:spPr>
        <p:txBody>
          <a:bodyPr wrap="square" rtlCol="0" anchor="t"/>
          <a:lstStyle/>
          <a:p>
            <a:pPr indent="0" marL="0">
              <a:buNone/>
            </a:pPr>
            <a:r>
              <a:rPr lang="en-US" sz="1200" dirty="0">
                <a:solidFill>
                  <a:srgbClr val="0F2B43"/>
                </a:solidFill>
                <a:latin typeface="Arial" pitchFamily="34" charset="0"/>
                <a:ea typeface="Arial" pitchFamily="34" charset="-122"/>
                <a:cs typeface="Arial" pitchFamily="34" charset="-120"/>
              </a:rPr>
              <a:t>Central command approves the responder and fix. Audit record written.</a:t>
            </a:r>
            <a:endParaRPr lang="en-US" sz="1200" dirty="0"/>
          </a:p>
        </p:txBody>
      </p:sp>
      <p:sp>
        <p:nvSpPr>
          <p:cNvPr id="21" name="Shape 19"/>
          <p:cNvSpPr/>
          <p:nvPr/>
        </p:nvSpPr>
        <p:spPr>
          <a:xfrm>
            <a:off x="548640" y="4480560"/>
            <a:ext cx="11064240" cy="1097280"/>
          </a:xfrm>
          <a:prstGeom prst="rect">
            <a:avLst/>
          </a:prstGeom>
          <a:solidFill>
            <a:srgbClr val="FFF7E6"/>
          </a:solidFill>
          <a:ln w="15875">
            <a:solidFill>
              <a:srgbClr val="B45309"/>
            </a:solidFill>
            <a:prstDash val="solid"/>
          </a:ln>
        </p:spPr>
      </p:sp>
      <p:sp>
        <p:nvSpPr>
          <p:cNvPr id="22" name="Text 20"/>
          <p:cNvSpPr/>
          <p:nvPr/>
        </p:nvSpPr>
        <p:spPr>
          <a:xfrm>
            <a:off x="548640" y="4480560"/>
            <a:ext cx="11064240" cy="1097280"/>
          </a:xfrm>
          <a:prstGeom prst="rect">
            <a:avLst/>
          </a:prstGeom>
          <a:noFill/>
          <a:ln/>
        </p:spPr>
        <p:txBody>
          <a:bodyPr wrap="square" lIns="127000" tIns="127000" rIns="127000" bIns="127000" rtlCol="0" anchor="ctr"/>
          <a:lstStyle/>
          <a:p>
            <a:pPr indent="0" marL="0">
              <a:buNone/>
            </a:pPr>
            <a:r>
              <a:rPr lang="en-US" sz="1300" dirty="0">
                <a:solidFill>
                  <a:srgbClr val="0F2B43"/>
                </a:solidFill>
                <a:latin typeface="Arial" pitchFamily="34" charset="0"/>
                <a:ea typeface="Arial" pitchFamily="34" charset="-122"/>
                <a:cs typeface="Arial" pitchFamily="34" charset="-120"/>
              </a:rPr>
              <a:t>PLACEHOLDER: Investigator screenshots are not in this draft. Guest workplaces currently block field reports ("This action is unavailable in demo workplaces"), and live Nemotron calls need the Nebius key on the server. Both are open decisions.</a:t>
            </a:r>
            <a:endParaRPr lang="en-US" sz="1300" dirty="0"/>
          </a:p>
        </p:txBody>
      </p:sp>
      <p:sp>
        <p:nvSpPr>
          <p:cNvPr id="23" name="Text 21"/>
          <p:cNvSpPr/>
          <p:nvPr/>
        </p:nvSpPr>
        <p:spPr>
          <a:xfrm>
            <a:off x="548640" y="5760720"/>
            <a:ext cx="10972800" cy="457200"/>
          </a:xfrm>
          <a:prstGeom prst="rect">
            <a:avLst/>
          </a:prstGeom>
          <a:noFill/>
          <a:ln/>
        </p:spPr>
        <p:txBody>
          <a:bodyPr wrap="square" rtlCol="0" anchor="ctr"/>
          <a:lstStyle/>
          <a:p>
            <a:pPr indent="0" marL="0">
              <a:buNone/>
            </a:pPr>
            <a:r>
              <a:rPr lang="en-US" sz="1500" b="1" dirty="0">
                <a:solidFill>
                  <a:srgbClr val="0F2B43"/>
                </a:solidFill>
                <a:latin typeface="Arial" pitchFamily="34" charset="0"/>
                <a:ea typeface="Arial" pitchFamily="34" charset="-122"/>
                <a:cs typeface="Arial" pitchFamily="34" charset="-120"/>
              </a:rPr>
              <a:t>Nothing is dispatched for a field report without an approval record.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E1FE3C"/>
          </a:solidFill>
          <a:ln w="12700">
            <a:solidFill>
              <a:srgbClr val="E1FE3C"/>
            </a:solidFill>
            <a:prstDash val="solid"/>
          </a:ln>
        </p:spPr>
      </p:sp>
      <p:sp>
        <p:nvSpPr>
          <p:cNvPr id="3" name="Text 1"/>
          <p:cNvSpPr/>
          <p:nvPr/>
        </p:nvSpPr>
        <p:spPr>
          <a:xfrm>
            <a:off x="548640" y="320040"/>
            <a:ext cx="10972800" cy="274320"/>
          </a:xfrm>
          <a:prstGeom prst="rect">
            <a:avLst/>
          </a:prstGeom>
          <a:noFill/>
          <a:ln/>
        </p:spPr>
        <p:txBody>
          <a:bodyPr wrap="square" rtlCol="0" anchor="ctr"/>
          <a:lstStyle/>
          <a:p>
            <a:pPr indent="0" marL="0">
              <a:buNone/>
            </a:pPr>
            <a:r>
              <a:rPr lang="en-US" sz="1100" b="1" spc="100" kern="0" dirty="0">
                <a:solidFill>
                  <a:srgbClr val="5B6B7A"/>
                </a:solidFill>
                <a:latin typeface="Arial" pitchFamily="34" charset="0"/>
                <a:ea typeface="Arial" pitchFamily="34" charset="-122"/>
                <a:cs typeface="Arial" pitchFamily="34" charset="-120"/>
              </a:rPr>
              <a:t>ANALYTICS</a:t>
            </a:r>
            <a:endParaRPr lang="en-US" sz="1100" dirty="0"/>
          </a:p>
        </p:txBody>
      </p:sp>
      <p:sp>
        <p:nvSpPr>
          <p:cNvPr id="4" name="Text 2"/>
          <p:cNvSpPr/>
          <p:nvPr/>
        </p:nvSpPr>
        <p:spPr>
          <a:xfrm>
            <a:off x="548640" y="566928"/>
            <a:ext cx="11064240" cy="822960"/>
          </a:xfrm>
          <a:prstGeom prst="rect">
            <a:avLst/>
          </a:prstGeom>
          <a:noFill/>
          <a:ln/>
        </p:spPr>
        <p:txBody>
          <a:bodyPr wrap="square" rtlCol="0" anchor="t"/>
          <a:lstStyle/>
          <a:p>
            <a:pPr indent="0" marL="0">
              <a:buNone/>
            </a:pPr>
            <a:r>
              <a:rPr lang="en-US" sz="2800" b="1" dirty="0">
                <a:solidFill>
                  <a:srgbClr val="0F2B43"/>
                </a:solidFill>
                <a:latin typeface="Arial" pitchFamily="34" charset="0"/>
                <a:ea typeface="Arial" pitchFamily="34" charset="-122"/>
                <a:cs typeface="Arial" pitchFamily="34" charset="-120"/>
              </a:rPr>
              <a:t>A month of recorded work shows where the time goes</a:t>
            </a:r>
            <a:endParaRPr lang="en-US" sz="2800" dirty="0"/>
          </a:p>
        </p:txBody>
      </p:sp>
      <p:sp>
        <p:nvSpPr>
          <p:cNvPr id="5" name="Text 3"/>
          <p:cNvSpPr/>
          <p:nvPr/>
        </p:nvSpPr>
        <p:spPr>
          <a:xfrm>
            <a:off x="548640" y="6446520"/>
            <a:ext cx="5486400" cy="274320"/>
          </a:xfrm>
          <a:prstGeom prst="rect">
            <a:avLst/>
          </a:prstGeom>
          <a:noFill/>
          <a:ln/>
        </p:spPr>
        <p:txBody>
          <a:bodyPr wrap="square" rtlCol="0" anchor="ctr"/>
          <a:lstStyle/>
          <a:p>
            <a:pPr indent="0" marL="0">
              <a:buNone/>
            </a:pPr>
            <a:r>
              <a:rPr lang="en-US" sz="900" dirty="0">
                <a:solidFill>
                  <a:srgbClr val="5B6B7A"/>
                </a:solidFill>
                <a:latin typeface="Arial" pitchFamily="34" charset="0"/>
                <a:ea typeface="Arial" pitchFamily="34" charset="-122"/>
                <a:cs typeface="Arial" pitchFamily="34" charset="-120"/>
              </a:rPr>
              <a:t>ResponseCompass · draft for review</a:t>
            </a:r>
            <a:endParaRPr lang="en-US" sz="900" dirty="0"/>
          </a:p>
        </p:txBody>
      </p:sp>
      <p:pic>
        <p:nvPicPr>
          <p:cNvPr id="6" name="Image 0" descr="/tmp/claude-1000/-home-makodev58-nebius-compass-claude/299a6e2b-be32-452f-9746-ac624657cac5/scratchpad/shots/analytics-tab.png">    </p:cNvPr>
          <p:cNvPicPr>
            <a:picLocks noChangeAspect="1"/>
          </p:cNvPicPr>
          <p:nvPr/>
        </p:nvPicPr>
        <p:blipFill>
          <a:blip r:embed="rId1"/>
          <a:stretch>
            <a:fillRect/>
          </a:stretch>
        </p:blipFill>
        <p:spPr>
          <a:xfrm>
            <a:off x="548640" y="1463040"/>
            <a:ext cx="7680960" cy="4315968"/>
          </a:xfrm>
          <a:prstGeom prst="rect">
            <a:avLst/>
          </a:prstGeom>
        </p:spPr>
      </p:pic>
      <p:sp>
        <p:nvSpPr>
          <p:cNvPr id="7" name="Text 4"/>
          <p:cNvSpPr/>
          <p:nvPr/>
        </p:nvSpPr>
        <p:spPr>
          <a:xfrm>
            <a:off x="8503920" y="1554480"/>
            <a:ext cx="3291840" cy="4389120"/>
          </a:xfrm>
          <a:prstGeom prst="rect">
            <a:avLst/>
          </a:prstGeom>
          <a:noFill/>
          <a:ln/>
        </p:spPr>
        <p:txBody>
          <a:bodyPr wrap="square" rtlCol="0" anchor="t"/>
          <a:lstStyle/>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September 2026: 3,004 issues in the synthetic plant.</a:t>
            </a:r>
            <a:endParaRPr lang="en-US" sz="1800" dirty="0"/>
          </a:p>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Reopen rate 25% of 4,683 observed attempts.</a:t>
            </a:r>
            <a:endParaRPr lang="en-US" sz="1800" dirty="0"/>
          </a:p>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The top two issue classes make 78% of September's issues; the 80% line is crossed on the third.</a:t>
            </a:r>
            <a:endParaRPr lang="en-US" sz="1800" dirty="0"/>
          </a:p>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Compass recommendations are compared with their baselines, and disagreements are recorded.</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E1FE3C"/>
          </a:solidFill>
          <a:ln w="12700">
            <a:solidFill>
              <a:srgbClr val="E1FE3C"/>
            </a:solidFill>
            <a:prstDash val="solid"/>
          </a:ln>
        </p:spPr>
      </p:sp>
      <p:sp>
        <p:nvSpPr>
          <p:cNvPr id="3" name="Text 1"/>
          <p:cNvSpPr/>
          <p:nvPr/>
        </p:nvSpPr>
        <p:spPr>
          <a:xfrm>
            <a:off x="548640" y="320040"/>
            <a:ext cx="10972800" cy="274320"/>
          </a:xfrm>
          <a:prstGeom prst="rect">
            <a:avLst/>
          </a:prstGeom>
          <a:noFill/>
          <a:ln/>
        </p:spPr>
        <p:txBody>
          <a:bodyPr wrap="square" rtlCol="0" anchor="ctr"/>
          <a:lstStyle/>
          <a:p>
            <a:pPr indent="0" marL="0">
              <a:buNone/>
            </a:pPr>
            <a:r>
              <a:rPr lang="en-US" sz="1100" b="1" spc="100" kern="0" dirty="0">
                <a:solidFill>
                  <a:srgbClr val="5B6B7A"/>
                </a:solidFill>
                <a:latin typeface="Arial" pitchFamily="34" charset="0"/>
                <a:ea typeface="Arial" pitchFamily="34" charset="-122"/>
                <a:cs typeface="Arial" pitchFamily="34" charset="-120"/>
              </a:rPr>
              <a:t>ISSUE PARETO</a:t>
            </a:r>
            <a:endParaRPr lang="en-US" sz="1100" dirty="0"/>
          </a:p>
        </p:txBody>
      </p:sp>
      <p:sp>
        <p:nvSpPr>
          <p:cNvPr id="4" name="Text 2"/>
          <p:cNvSpPr/>
          <p:nvPr/>
        </p:nvSpPr>
        <p:spPr>
          <a:xfrm>
            <a:off x="548640" y="566928"/>
            <a:ext cx="11064240" cy="822960"/>
          </a:xfrm>
          <a:prstGeom prst="rect">
            <a:avLst/>
          </a:prstGeom>
          <a:noFill/>
          <a:ln/>
        </p:spPr>
        <p:txBody>
          <a:bodyPr wrap="square" rtlCol="0" anchor="t"/>
          <a:lstStyle/>
          <a:p>
            <a:pPr indent="0" marL="0">
              <a:buNone/>
            </a:pPr>
            <a:r>
              <a:rPr lang="en-US" sz="2800" b="1" dirty="0">
                <a:solidFill>
                  <a:srgbClr val="0F2B43"/>
                </a:solidFill>
                <a:latin typeface="Arial" pitchFamily="34" charset="0"/>
                <a:ea typeface="Arial" pitchFamily="34" charset="-122"/>
                <a:cs typeface="Arial" pitchFamily="34" charset="-120"/>
              </a:rPr>
              <a:t>Where the downtime comes from</a:t>
            </a:r>
            <a:endParaRPr lang="en-US" sz="2800" dirty="0"/>
          </a:p>
        </p:txBody>
      </p:sp>
      <p:sp>
        <p:nvSpPr>
          <p:cNvPr id="5" name="Text 3"/>
          <p:cNvSpPr/>
          <p:nvPr/>
        </p:nvSpPr>
        <p:spPr>
          <a:xfrm>
            <a:off x="548640" y="6446520"/>
            <a:ext cx="5486400" cy="274320"/>
          </a:xfrm>
          <a:prstGeom prst="rect">
            <a:avLst/>
          </a:prstGeom>
          <a:noFill/>
          <a:ln/>
        </p:spPr>
        <p:txBody>
          <a:bodyPr wrap="square" rtlCol="0" anchor="ctr"/>
          <a:lstStyle/>
          <a:p>
            <a:pPr indent="0" marL="0">
              <a:buNone/>
            </a:pPr>
            <a:r>
              <a:rPr lang="en-US" sz="900" dirty="0">
                <a:solidFill>
                  <a:srgbClr val="5B6B7A"/>
                </a:solidFill>
                <a:latin typeface="Arial" pitchFamily="34" charset="0"/>
                <a:ea typeface="Arial" pitchFamily="34" charset="-122"/>
                <a:cs typeface="Arial" pitchFamily="34" charset="-120"/>
              </a:rPr>
              <a:t>ResponseCompass · draft for review</a:t>
            </a:r>
            <a:endParaRPr lang="en-US" sz="900" dirty="0"/>
          </a:p>
        </p:txBody>
      </p:sp>
      <p:pic>
        <p:nvPicPr>
          <p:cNvPr id="6" name="Image 0" descr="/tmp/claude-1000/-home-makodev58-nebius-compass-claude/299a6e2b-be32-452f-9746-ac624657cac5/scratchpad/shots/screen-pareto.png">    </p:cNvPr>
          <p:cNvPicPr>
            <a:picLocks noChangeAspect="1"/>
          </p:cNvPicPr>
          <p:nvPr/>
        </p:nvPicPr>
        <p:blipFill>
          <a:blip r:embed="rId1"/>
          <a:stretch>
            <a:fillRect/>
          </a:stretch>
        </p:blipFill>
        <p:spPr>
          <a:xfrm>
            <a:off x="548640" y="1463040"/>
            <a:ext cx="7680960" cy="4315968"/>
          </a:xfrm>
          <a:prstGeom prst="rect">
            <a:avLst/>
          </a:prstGeom>
        </p:spPr>
      </p:pic>
      <p:sp>
        <p:nvSpPr>
          <p:cNvPr id="7" name="Text 4"/>
          <p:cNvSpPr/>
          <p:nvPr/>
        </p:nvSpPr>
        <p:spPr>
          <a:xfrm>
            <a:off x="8503920" y="1554480"/>
            <a:ext cx="3291840" cy="4389120"/>
          </a:xfrm>
          <a:prstGeom prst="rect">
            <a:avLst/>
          </a:prstGeom>
          <a:noFill/>
          <a:ln/>
        </p:spPr>
        <p:txBody>
          <a:bodyPr wrap="square" rtlCol="0" anchor="t"/>
          <a:lstStyle/>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Bars, cumulative line and the 80% marker show which few classes cause most work.</a:t>
            </a:r>
            <a:endParaRPr lang="en-US" sz="1800" dirty="0"/>
          </a:p>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Drill down from class to symptom to the fix that was applied.</a:t>
            </a:r>
            <a:endParaRPr lang="en-US" sz="1800" dirty="0"/>
          </a:p>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The Pareto describes recorded work. It does not rank people or claim cause.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E1FE3C"/>
          </a:solidFill>
          <a:ln w="12700">
            <a:solidFill>
              <a:srgbClr val="E1FE3C"/>
            </a:solidFill>
            <a:prstDash val="solid"/>
          </a:ln>
        </p:spPr>
      </p:sp>
      <p:sp>
        <p:nvSpPr>
          <p:cNvPr id="3" name="Text 1"/>
          <p:cNvSpPr/>
          <p:nvPr/>
        </p:nvSpPr>
        <p:spPr>
          <a:xfrm>
            <a:off x="548640" y="320040"/>
            <a:ext cx="10972800" cy="274320"/>
          </a:xfrm>
          <a:prstGeom prst="rect">
            <a:avLst/>
          </a:prstGeom>
          <a:noFill/>
          <a:ln/>
        </p:spPr>
        <p:txBody>
          <a:bodyPr wrap="square" rtlCol="0" anchor="ctr"/>
          <a:lstStyle/>
          <a:p>
            <a:pPr indent="0" marL="0">
              <a:buNone/>
            </a:pPr>
            <a:r>
              <a:rPr lang="en-US" sz="1100" b="1" spc="100" kern="0" dirty="0">
                <a:solidFill>
                  <a:srgbClr val="5B6B7A"/>
                </a:solidFill>
                <a:latin typeface="Arial" pitchFamily="34" charset="0"/>
                <a:ea typeface="Arial" pitchFamily="34" charset="-122"/>
                <a:cs typeface="Arial" pitchFamily="34" charset="-120"/>
              </a:rPr>
              <a:t>HONEST BY DESIGN</a:t>
            </a:r>
            <a:endParaRPr lang="en-US" sz="1100" dirty="0"/>
          </a:p>
        </p:txBody>
      </p:sp>
      <p:sp>
        <p:nvSpPr>
          <p:cNvPr id="4" name="Text 2"/>
          <p:cNvSpPr/>
          <p:nvPr/>
        </p:nvSpPr>
        <p:spPr>
          <a:xfrm>
            <a:off x="548640" y="566928"/>
            <a:ext cx="11064240" cy="822960"/>
          </a:xfrm>
          <a:prstGeom prst="rect">
            <a:avLst/>
          </a:prstGeom>
          <a:noFill/>
          <a:ln/>
        </p:spPr>
        <p:txBody>
          <a:bodyPr wrap="square" rtlCol="0" anchor="t"/>
          <a:lstStyle/>
          <a:p>
            <a:pPr indent="0" marL="0">
              <a:buNone/>
            </a:pPr>
            <a:r>
              <a:rPr lang="en-US" sz="2800" b="1" dirty="0">
                <a:solidFill>
                  <a:srgbClr val="0F2B43"/>
                </a:solidFill>
                <a:latin typeface="Arial" pitchFamily="34" charset="0"/>
                <a:ea typeface="Arial" pitchFamily="34" charset="-122"/>
                <a:cs typeface="Arial" pitchFamily="34" charset="-120"/>
              </a:rPr>
              <a:t>Code owns the facts. Models only rank and explain.</a:t>
            </a:r>
            <a:endParaRPr lang="en-US" sz="2800" dirty="0"/>
          </a:p>
        </p:txBody>
      </p:sp>
      <p:sp>
        <p:nvSpPr>
          <p:cNvPr id="5" name="Text 3"/>
          <p:cNvSpPr/>
          <p:nvPr/>
        </p:nvSpPr>
        <p:spPr>
          <a:xfrm>
            <a:off x="548640" y="6446520"/>
            <a:ext cx="5486400" cy="274320"/>
          </a:xfrm>
          <a:prstGeom prst="rect">
            <a:avLst/>
          </a:prstGeom>
          <a:noFill/>
          <a:ln/>
        </p:spPr>
        <p:txBody>
          <a:bodyPr wrap="square" rtlCol="0" anchor="ctr"/>
          <a:lstStyle/>
          <a:p>
            <a:pPr indent="0" marL="0">
              <a:buNone/>
            </a:pPr>
            <a:r>
              <a:rPr lang="en-US" sz="900" dirty="0">
                <a:solidFill>
                  <a:srgbClr val="5B6B7A"/>
                </a:solidFill>
                <a:latin typeface="Arial" pitchFamily="34" charset="0"/>
                <a:ea typeface="Arial" pitchFamily="34" charset="-122"/>
                <a:cs typeface="Arial" pitchFamily="34" charset="-120"/>
              </a:rPr>
              <a:t>ResponseCompass · draft for review</a:t>
            </a:r>
            <a:endParaRPr lang="en-US" sz="900" dirty="0"/>
          </a:p>
        </p:txBody>
      </p:sp>
      <p:sp>
        <p:nvSpPr>
          <p:cNvPr id="6" name="Shape 4"/>
          <p:cNvSpPr/>
          <p:nvPr/>
        </p:nvSpPr>
        <p:spPr>
          <a:xfrm>
            <a:off x="548640" y="1554480"/>
            <a:ext cx="5394960" cy="4480560"/>
          </a:xfrm>
          <a:prstGeom prst="rect">
            <a:avLst/>
          </a:prstGeom>
          <a:solidFill>
            <a:srgbClr val="EEF2F7"/>
          </a:solidFill>
          <a:ln w="12700">
            <a:solidFill>
              <a:srgbClr val="C9D3DD"/>
            </a:solidFill>
            <a:prstDash val="solid"/>
          </a:ln>
        </p:spPr>
      </p:sp>
      <p:sp>
        <p:nvSpPr>
          <p:cNvPr id="7" name="Text 5"/>
          <p:cNvSpPr/>
          <p:nvPr/>
        </p:nvSpPr>
        <p:spPr>
          <a:xfrm>
            <a:off x="777240" y="1737360"/>
            <a:ext cx="4937760" cy="457200"/>
          </a:xfrm>
          <a:prstGeom prst="rect">
            <a:avLst/>
          </a:prstGeom>
          <a:noFill/>
          <a:ln/>
        </p:spPr>
        <p:txBody>
          <a:bodyPr wrap="square" rtlCol="0" anchor="ctr"/>
          <a:lstStyle/>
          <a:p>
            <a:pPr indent="0" marL="0">
              <a:buNone/>
            </a:pPr>
            <a:r>
              <a:rPr lang="en-US" sz="1800" b="1" dirty="0">
                <a:solidFill>
                  <a:srgbClr val="0F2B43"/>
                </a:solidFill>
                <a:latin typeface="Arial" pitchFamily="34" charset="0"/>
                <a:ea typeface="Arial" pitchFamily="34" charset="-122"/>
                <a:cs typeface="Arial" pitchFamily="34" charset="-120"/>
              </a:rPr>
              <a:t>Code decides</a:t>
            </a:r>
            <a:endParaRPr lang="en-US" sz="1800" dirty="0"/>
          </a:p>
        </p:txBody>
      </p:sp>
      <p:sp>
        <p:nvSpPr>
          <p:cNvPr id="8" name="Text 6"/>
          <p:cNvSpPr/>
          <p:nvPr/>
        </p:nvSpPr>
        <p:spPr>
          <a:xfrm>
            <a:off x="777240" y="2286000"/>
            <a:ext cx="4937760" cy="3474720"/>
          </a:xfrm>
          <a:prstGeom prst="rect">
            <a:avLst/>
          </a:prstGeom>
          <a:noFill/>
          <a:ln/>
        </p:spPr>
        <p:txBody>
          <a:bodyPr wrap="square" rtlCol="0" anchor="t"/>
          <a:lstStyle/>
          <a:p>
            <a:pPr marL="203200" indent="-203200">
              <a:spcAft>
                <a:spcPts val="800"/>
              </a:spcAft>
              <a:buSzPct val="100000"/>
              <a:buChar char="•"/>
            </a:pPr>
            <a:r>
              <a:rPr lang="en-US" sz="1500" dirty="0">
                <a:solidFill>
                  <a:srgbClr val="0F2B43"/>
                </a:solidFill>
                <a:latin typeface="Arial" pitchFamily="34" charset="0"/>
                <a:ea typeface="Arial" pitchFamily="34" charset="-122"/>
                <a:cs typeface="Arial" pitchFamily="34" charset="-120"/>
              </a:rPr>
              <a:t>Eligibility, travel time and observed history</a:t>
            </a:r>
            <a:endParaRPr lang="en-US" sz="1500" dirty="0"/>
          </a:p>
          <a:p>
            <a:pPr marL="203200" indent="-203200">
              <a:spcAft>
                <a:spcPts val="800"/>
              </a:spcAft>
              <a:buSzPct val="100000"/>
              <a:buChar char="•"/>
            </a:pPr>
            <a:r>
              <a:rPr lang="en-US" sz="1500" dirty="0">
                <a:solidFill>
                  <a:srgbClr val="0F2B43"/>
                </a:solidFill>
                <a:latin typeface="Arial" pitchFamily="34" charset="0"/>
                <a:ea typeface="Arial" pitchFamily="34" charset="-122"/>
                <a:cs typeface="Arial" pitchFamily="34" charset="-120"/>
              </a:rPr>
              <a:t>Safety prerequisites and certifications</a:t>
            </a:r>
            <a:endParaRPr lang="en-US" sz="1500" dirty="0"/>
          </a:p>
          <a:p>
            <a:pPr marL="203200" indent="-203200">
              <a:spcAft>
                <a:spcPts val="800"/>
              </a:spcAft>
              <a:buSzPct val="100000"/>
              <a:buChar char="•"/>
            </a:pPr>
            <a:r>
              <a:rPr lang="en-US" sz="1500" dirty="0">
                <a:solidFill>
                  <a:srgbClr val="0F2B43"/>
                </a:solidFill>
                <a:latin typeface="Arial" pitchFamily="34" charset="0"/>
                <a:ea typeface="Arial" pitchFamily="34" charset="-122"/>
                <a:cs typeface="Arial" pitchFamily="34" charset="-120"/>
              </a:rPr>
              <a:t>Dispatch gate: nothing moves without approval</a:t>
            </a:r>
            <a:endParaRPr lang="en-US" sz="1500" dirty="0"/>
          </a:p>
          <a:p>
            <a:pPr marL="203200" indent="-203200">
              <a:spcAft>
                <a:spcPts val="800"/>
              </a:spcAft>
              <a:buSzPct val="100000"/>
              <a:buChar char="•"/>
            </a:pPr>
            <a:r>
              <a:rPr lang="en-US" sz="1500" dirty="0">
                <a:solidFill>
                  <a:srgbClr val="0F2B43"/>
                </a:solidFill>
                <a:latin typeface="Arial" pitchFamily="34" charset="0"/>
                <a:ea typeface="Arial" pitchFamily="34" charset="-122"/>
                <a:cs typeface="Arial" pitchFamily="34" charset="-120"/>
              </a:rPr>
              <a:t>Validation of every model output and citation</a:t>
            </a:r>
            <a:endParaRPr lang="en-US" sz="1500" dirty="0"/>
          </a:p>
        </p:txBody>
      </p:sp>
      <p:sp>
        <p:nvSpPr>
          <p:cNvPr id="9" name="Shape 7"/>
          <p:cNvSpPr/>
          <p:nvPr/>
        </p:nvSpPr>
        <p:spPr>
          <a:xfrm>
            <a:off x="6217920" y="1554480"/>
            <a:ext cx="5394960" cy="4480560"/>
          </a:xfrm>
          <a:prstGeom prst="rect">
            <a:avLst/>
          </a:prstGeom>
          <a:solidFill>
            <a:srgbClr val="FFFFFF"/>
          </a:solidFill>
          <a:ln w="12700">
            <a:solidFill>
              <a:srgbClr val="C9D3DD"/>
            </a:solidFill>
            <a:prstDash val="solid"/>
          </a:ln>
        </p:spPr>
      </p:sp>
      <p:sp>
        <p:nvSpPr>
          <p:cNvPr id="10" name="Text 8"/>
          <p:cNvSpPr/>
          <p:nvPr/>
        </p:nvSpPr>
        <p:spPr>
          <a:xfrm>
            <a:off x="6446520" y="1737360"/>
            <a:ext cx="4937760" cy="457200"/>
          </a:xfrm>
          <a:prstGeom prst="rect">
            <a:avLst/>
          </a:prstGeom>
          <a:noFill/>
          <a:ln/>
        </p:spPr>
        <p:txBody>
          <a:bodyPr wrap="square" rtlCol="0" anchor="ctr"/>
          <a:lstStyle/>
          <a:p>
            <a:pPr indent="0" marL="0">
              <a:buNone/>
            </a:pPr>
            <a:r>
              <a:rPr lang="en-US" sz="1800" b="1" dirty="0">
                <a:solidFill>
                  <a:srgbClr val="0F2B43"/>
                </a:solidFill>
                <a:latin typeface="Arial" pitchFamily="34" charset="0"/>
                <a:ea typeface="Arial" pitchFamily="34" charset="-122"/>
                <a:cs typeface="Arial" pitchFamily="34" charset="-120"/>
              </a:rPr>
              <a:t>Models do</a:t>
            </a:r>
            <a:endParaRPr lang="en-US" sz="1800" dirty="0"/>
          </a:p>
        </p:txBody>
      </p:sp>
      <p:sp>
        <p:nvSpPr>
          <p:cNvPr id="11" name="Text 9"/>
          <p:cNvSpPr/>
          <p:nvPr/>
        </p:nvSpPr>
        <p:spPr>
          <a:xfrm>
            <a:off x="6446520" y="2286000"/>
            <a:ext cx="4937760" cy="3474720"/>
          </a:xfrm>
          <a:prstGeom prst="rect">
            <a:avLst/>
          </a:prstGeom>
          <a:noFill/>
          <a:ln/>
        </p:spPr>
        <p:txBody>
          <a:bodyPr wrap="square" rtlCol="0" anchor="t"/>
          <a:lstStyle/>
          <a:p>
            <a:pPr marL="203200" indent="-203200">
              <a:spcAft>
                <a:spcPts val="800"/>
              </a:spcAft>
              <a:buSzPct val="100000"/>
              <a:buChar char="•"/>
            </a:pPr>
            <a:r>
              <a:rPr lang="en-US" sz="1500" dirty="0">
                <a:solidFill>
                  <a:srgbClr val="0F2B43"/>
                </a:solidFill>
                <a:latin typeface="Arial" pitchFamily="34" charset="0"/>
                <a:ea typeface="Arial" pitchFamily="34" charset="-122"/>
                <a:cs typeface="Arial" pitchFamily="34" charset="-120"/>
              </a:rPr>
              <a:t>Rank the options code supplies</a:t>
            </a:r>
            <a:endParaRPr lang="en-US" sz="1500" dirty="0"/>
          </a:p>
          <a:p>
            <a:pPr marL="203200" indent="-203200">
              <a:spcAft>
                <a:spcPts val="800"/>
              </a:spcAft>
              <a:buSzPct val="100000"/>
              <a:buChar char="•"/>
            </a:pPr>
            <a:r>
              <a:rPr lang="en-US" sz="1500" dirty="0">
                <a:solidFill>
                  <a:srgbClr val="0F2B43"/>
                </a:solidFill>
                <a:latin typeface="Arial" pitchFamily="34" charset="0"/>
                <a:ea typeface="Arial" pitchFamily="34" charset="-122"/>
                <a:cs typeface="Arial" pitchFamily="34" charset="-120"/>
              </a:rPr>
              <a:t>Investigate with read-only, allowlisted tools</a:t>
            </a:r>
            <a:endParaRPr lang="en-US" sz="1500" dirty="0"/>
          </a:p>
          <a:p>
            <a:pPr marL="203200" indent="-203200">
              <a:spcAft>
                <a:spcPts val="800"/>
              </a:spcAft>
              <a:buSzPct val="100000"/>
              <a:buChar char="•"/>
            </a:pPr>
            <a:r>
              <a:rPr lang="en-US" sz="1500" dirty="0">
                <a:solidFill>
                  <a:srgbClr val="0F2B43"/>
                </a:solidFill>
                <a:latin typeface="Arial" pitchFamily="34" charset="0"/>
                <a:ea typeface="Arial" pitchFamily="34" charset="-122"/>
                <a:cs typeface="Arial" pitchFamily="34" charset="-120"/>
              </a:rPr>
              <a:t>Explain each ranking in bounded qualitative prose</a:t>
            </a:r>
            <a:endParaRPr lang="en-US" sz="1500" dirty="0"/>
          </a:p>
          <a:p>
            <a:pPr marL="203200" indent="-203200">
              <a:spcAft>
                <a:spcPts val="800"/>
              </a:spcAft>
              <a:buSzPct val="100000"/>
              <a:buChar char="•"/>
            </a:pPr>
            <a:r>
              <a:rPr lang="en-US" sz="1500" dirty="0">
                <a:solidFill>
                  <a:srgbClr val="0F2B43"/>
                </a:solidFill>
                <a:latin typeface="Arial" pitchFamily="34" charset="0"/>
                <a:ea typeface="Arial" pitchFamily="34" charset="-122"/>
                <a:cs typeface="Arial" pitchFamily="34" charset="-120"/>
              </a:rPr>
              <a:t>Never see the hidden responder skill or the true fault cause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E1FE3C"/>
          </a:solidFill>
          <a:ln w="12700">
            <a:solidFill>
              <a:srgbClr val="E1FE3C"/>
            </a:solidFill>
            <a:prstDash val="solid"/>
          </a:ln>
        </p:spPr>
      </p:sp>
      <p:sp>
        <p:nvSpPr>
          <p:cNvPr id="3" name="Text 1"/>
          <p:cNvSpPr/>
          <p:nvPr/>
        </p:nvSpPr>
        <p:spPr>
          <a:xfrm>
            <a:off x="548640" y="320040"/>
            <a:ext cx="10972800" cy="274320"/>
          </a:xfrm>
          <a:prstGeom prst="rect">
            <a:avLst/>
          </a:prstGeom>
          <a:noFill/>
          <a:ln/>
        </p:spPr>
        <p:txBody>
          <a:bodyPr wrap="square" rtlCol="0" anchor="ctr"/>
          <a:lstStyle/>
          <a:p>
            <a:pPr indent="0" marL="0">
              <a:buNone/>
            </a:pPr>
            <a:r>
              <a:rPr lang="en-US" sz="1100" b="1" spc="100" kern="0" dirty="0">
                <a:solidFill>
                  <a:srgbClr val="5B6B7A"/>
                </a:solidFill>
                <a:latin typeface="Arial" pitchFamily="34" charset="0"/>
                <a:ea typeface="Arial" pitchFamily="34" charset="-122"/>
                <a:cs typeface="Arial" pitchFamily="34" charset="-120"/>
              </a:rPr>
              <a:t>MODELS AND INFRASTRUCTURE</a:t>
            </a:r>
            <a:endParaRPr lang="en-US" sz="1100" dirty="0"/>
          </a:p>
        </p:txBody>
      </p:sp>
      <p:sp>
        <p:nvSpPr>
          <p:cNvPr id="4" name="Text 2"/>
          <p:cNvSpPr/>
          <p:nvPr/>
        </p:nvSpPr>
        <p:spPr>
          <a:xfrm>
            <a:off x="548640" y="566928"/>
            <a:ext cx="11064240" cy="822960"/>
          </a:xfrm>
          <a:prstGeom prst="rect">
            <a:avLst/>
          </a:prstGeom>
          <a:noFill/>
          <a:ln/>
        </p:spPr>
        <p:txBody>
          <a:bodyPr wrap="square" rtlCol="0" anchor="t"/>
          <a:lstStyle/>
          <a:p>
            <a:pPr indent="0" marL="0">
              <a:buNone/>
            </a:pPr>
            <a:r>
              <a:rPr lang="en-US" sz="2800" b="1" dirty="0">
                <a:solidFill>
                  <a:srgbClr val="0F2B43"/>
                </a:solidFill>
                <a:latin typeface="Arial" pitchFamily="34" charset="0"/>
                <a:ea typeface="Arial" pitchFamily="34" charset="-122"/>
                <a:cs typeface="Arial" pitchFamily="34" charset="-120"/>
              </a:rPr>
              <a:t>Built on NVIDIA Nemotron through Nebius Token Factory</a:t>
            </a:r>
            <a:endParaRPr lang="en-US" sz="2800" dirty="0"/>
          </a:p>
        </p:txBody>
      </p:sp>
      <p:sp>
        <p:nvSpPr>
          <p:cNvPr id="5" name="Text 3"/>
          <p:cNvSpPr/>
          <p:nvPr/>
        </p:nvSpPr>
        <p:spPr>
          <a:xfrm>
            <a:off x="548640" y="6446520"/>
            <a:ext cx="5486400" cy="274320"/>
          </a:xfrm>
          <a:prstGeom prst="rect">
            <a:avLst/>
          </a:prstGeom>
          <a:noFill/>
          <a:ln/>
        </p:spPr>
        <p:txBody>
          <a:bodyPr wrap="square" rtlCol="0" anchor="ctr"/>
          <a:lstStyle/>
          <a:p>
            <a:pPr indent="0" marL="0">
              <a:buNone/>
            </a:pPr>
            <a:r>
              <a:rPr lang="en-US" sz="900" dirty="0">
                <a:solidFill>
                  <a:srgbClr val="5B6B7A"/>
                </a:solidFill>
                <a:latin typeface="Arial" pitchFamily="34" charset="0"/>
                <a:ea typeface="Arial" pitchFamily="34" charset="-122"/>
                <a:cs typeface="Arial" pitchFamily="34" charset="-120"/>
              </a:rPr>
              <a:t>ResponseCompass · draft for review</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017520"/>
                <a:gridCol w="3383280"/>
                <a:gridCol w="4663440"/>
              </a:tblGrid>
              <a:tr h="502920">
                <a:tc>
                  <a:txBody>
                    <a:bodyPr/>
                    <a:lstStyle/>
                    <a:p>
                      <a:pPr indent="0" marL="0">
                        <a:buNone/>
                      </a:pPr>
                      <a:r>
                        <a:rPr lang="en-US" sz="1300" b="1" dirty="0">
                          <a:solidFill>
                            <a:srgbClr val="0F2B43"/>
                          </a:solidFill>
                          <a:latin typeface="Arial" pitchFamily="34" charset="0"/>
                          <a:ea typeface="Arial" pitchFamily="34" charset="-122"/>
                          <a:cs typeface="Arial" pitchFamily="34" charset="-120"/>
                        </a:rPr>
                        <a:t>Role</a:t>
                      </a:r>
                      <a:endParaRPr lang="en-US" sz="1300" dirty="0">
                        <a:latin typeface="Arial" charset="0"/>
                        <a:ea typeface="Arial" charset="0"/>
                        <a:cs typeface="Arial" charset="0"/>
                      </a:endParaRPr>
                    </a:p>
                  </a:txBody>
                  <a:tcPr marL="91440" marR="91440" marT="45720" marB="45720">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b="1" dirty="0">
                          <a:solidFill>
                            <a:srgbClr val="0F2B43"/>
                          </a:solidFill>
                          <a:latin typeface="Arial" pitchFamily="34" charset="0"/>
                          <a:ea typeface="Arial" pitchFamily="34" charset="-122"/>
                          <a:cs typeface="Arial" pitchFamily="34" charset="-120"/>
                        </a:rPr>
                        <a:t>Model (code default)</a:t>
                      </a:r>
                      <a:endParaRPr lang="en-US" sz="1300" dirty="0">
                        <a:latin typeface="Arial" charset="0"/>
                        <a:ea typeface="Arial" charset="0"/>
                        <a:cs typeface="Arial" charset="0"/>
                      </a:endParaRPr>
                    </a:p>
                  </a:txBody>
                  <a:tcPr marL="91440" marR="91440" marT="45720" marB="45720">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b="1" dirty="0">
                          <a:solidFill>
                            <a:srgbClr val="0F2B43"/>
                          </a:solidFill>
                          <a:latin typeface="Arial" pitchFamily="34" charset="0"/>
                          <a:ea typeface="Arial" pitchFamily="34" charset="-122"/>
                          <a:cs typeface="Arial" pitchFamily="34" charset="-120"/>
                        </a:rPr>
                        <a:t>What it does</a:t>
                      </a:r>
                      <a:endParaRPr lang="en-US" sz="1300" dirty="0">
                        <a:latin typeface="Arial" charset="0"/>
                        <a:ea typeface="Arial" charset="0"/>
                        <a:cs typeface="Arial" charset="0"/>
                      </a:endParaRPr>
                    </a:p>
                  </a:txBody>
                  <a:tcPr marL="91440" marR="91440" marT="45720" marB="45720">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502920">
                <a:tc>
                  <a:txBody>
                    <a:bodyPr/>
                    <a:lstStyle/>
                    <a:p>
                      <a:pPr indent="0" marL="0">
                        <a:buNone/>
                      </a:pPr>
                      <a:r>
                        <a:rPr lang="en-US" sz="1300" dirty="0">
                          <a:solidFill>
                            <a:srgbClr val="0F2B43"/>
                          </a:solidFill>
                          <a:latin typeface="Arial" pitchFamily="34" charset="0"/>
                          <a:ea typeface="Arial" pitchFamily="34" charset="-122"/>
                          <a:cs typeface="Arial" pitchFamily="34" charset="-120"/>
                        </a:rPr>
                        <a:t>Investigator</a:t>
                      </a:r>
                      <a:endParaRPr lang="en-US" sz="1300" dirty="0">
                        <a:latin typeface="Arial" charset="0"/>
                        <a:ea typeface="Arial" charset="0"/>
                        <a:cs typeface="Arial" charset="0"/>
                      </a:endParaRPr>
                    </a:p>
                  </a:txBody>
                  <a:tcPr marL="91440" marR="91440" marT="45720" marB="45720">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rgbClr val="0F2B43"/>
                          </a:solidFill>
                          <a:latin typeface="Arial" pitchFamily="34" charset="0"/>
                          <a:ea typeface="Arial" pitchFamily="34" charset="-122"/>
                          <a:cs typeface="Arial" pitchFamily="34" charset="-120"/>
                        </a:rPr>
                        <a:t>Nemotron 3 Ultra (550B-A55B)</a:t>
                      </a:r>
                      <a:endParaRPr lang="en-US" sz="1300" dirty="0">
                        <a:latin typeface="Arial" charset="0"/>
                        <a:ea typeface="Arial" charset="0"/>
                        <a:cs typeface="Arial" charset="0"/>
                      </a:endParaRPr>
                    </a:p>
                  </a:txBody>
                  <a:tcPr marL="91440" marR="91440" marT="45720" marB="45720">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rgbClr val="0F2B43"/>
                          </a:solidFill>
                          <a:latin typeface="Arial" pitchFamily="34" charset="0"/>
                          <a:ea typeface="Arial" pitchFamily="34" charset="-122"/>
                          <a:cs typeface="Arial" pitchFamily="34" charset="-120"/>
                        </a:rPr>
                        <a:t>Tool-using investigation of a field report, with cited cases</a:t>
                      </a:r>
                      <a:endParaRPr lang="en-US" sz="1300" dirty="0">
                        <a:latin typeface="Arial" charset="0"/>
                        <a:ea typeface="Arial" charset="0"/>
                        <a:cs typeface="Arial" charset="0"/>
                      </a:endParaRPr>
                    </a:p>
                  </a:txBody>
                  <a:tcPr marL="91440" marR="91440" marT="45720" marB="45720">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502920">
                <a:tc>
                  <a:txBody>
                    <a:bodyPr/>
                    <a:lstStyle/>
                    <a:p>
                      <a:pPr indent="0" marL="0">
                        <a:buNone/>
                      </a:pPr>
                      <a:r>
                        <a:rPr lang="en-US" sz="1300" dirty="0">
                          <a:solidFill>
                            <a:srgbClr val="0F2B43"/>
                          </a:solidFill>
                          <a:latin typeface="Arial" pitchFamily="34" charset="0"/>
                          <a:ea typeface="Arial" pitchFamily="34" charset="-122"/>
                          <a:cs typeface="Arial" pitchFamily="34" charset="-120"/>
                        </a:rPr>
                        <a:t>Responder, fix and overtime ranking</a:t>
                      </a:r>
                      <a:endParaRPr lang="en-US" sz="1300" dirty="0">
                        <a:latin typeface="Arial" charset="0"/>
                        <a:ea typeface="Arial" charset="0"/>
                        <a:cs typeface="Arial" charset="0"/>
                      </a:endParaRPr>
                    </a:p>
                  </a:txBody>
                  <a:tcPr marL="91440" marR="91440" marT="45720" marB="45720">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rgbClr val="0F2B43"/>
                          </a:solidFill>
                          <a:latin typeface="Arial" pitchFamily="34" charset="0"/>
                          <a:ea typeface="Arial" pitchFamily="34" charset="-122"/>
                          <a:cs typeface="Arial" pitchFamily="34" charset="-120"/>
                        </a:rPr>
                        <a:t>Nemotron 3 Super (120B-A12B)</a:t>
                      </a:r>
                      <a:endParaRPr lang="en-US" sz="1300" dirty="0">
                        <a:latin typeface="Arial" charset="0"/>
                        <a:ea typeface="Arial" charset="0"/>
                        <a:cs typeface="Arial" charset="0"/>
                      </a:endParaRPr>
                    </a:p>
                  </a:txBody>
                  <a:tcPr marL="91440" marR="91440" marT="45720" marB="45720">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rgbClr val="0F2B43"/>
                          </a:solidFill>
                          <a:latin typeface="Arial" pitchFamily="34" charset="0"/>
                          <a:ea typeface="Arial" pitchFamily="34" charset="-122"/>
                          <a:cs typeface="Arial" pitchFamily="34" charset="-120"/>
                        </a:rPr>
                        <a:t>Ranks code-supplied options with qualitative rationale</a:t>
                      </a:r>
                      <a:endParaRPr lang="en-US" sz="1300" dirty="0">
                        <a:latin typeface="Arial" charset="0"/>
                        <a:ea typeface="Arial" charset="0"/>
                        <a:cs typeface="Arial" charset="0"/>
                      </a:endParaRPr>
                    </a:p>
                  </a:txBody>
                  <a:tcPr marL="91440" marR="91440" marT="45720" marB="45720">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r h="502920">
                <a:tc>
                  <a:txBody>
                    <a:bodyPr/>
                    <a:lstStyle/>
                    <a:p>
                      <a:pPr indent="0" marL="0">
                        <a:buNone/>
                      </a:pPr>
                      <a:r>
                        <a:rPr lang="en-US" sz="1300" dirty="0">
                          <a:solidFill>
                            <a:srgbClr val="0F2B43"/>
                          </a:solidFill>
                          <a:latin typeface="Arial" pitchFamily="34" charset="0"/>
                          <a:ea typeface="Arial" pitchFamily="34" charset="-122"/>
                          <a:cs typeface="Arial" pitchFamily="34" charset="-120"/>
                        </a:rPr>
                        <a:t>Event planner and narrator</a:t>
                      </a:r>
                      <a:endParaRPr lang="en-US" sz="1300" dirty="0">
                        <a:latin typeface="Arial" charset="0"/>
                        <a:ea typeface="Arial" charset="0"/>
                        <a:cs typeface="Arial" charset="0"/>
                      </a:endParaRPr>
                    </a:p>
                  </a:txBody>
                  <a:tcPr marL="91440" marR="91440" marT="45720" marB="45720">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rgbClr val="0F2B43"/>
                          </a:solidFill>
                          <a:latin typeface="Arial" pitchFamily="34" charset="0"/>
                          <a:ea typeface="Arial" pitchFamily="34" charset="-122"/>
                          <a:cs typeface="Arial" pitchFamily="34" charset="-120"/>
                        </a:rPr>
                        <a:t>Nemotron 3.5 Lightning</a:t>
                      </a:r>
                      <a:endParaRPr lang="en-US" sz="1300" dirty="0">
                        <a:latin typeface="Arial" charset="0"/>
                        <a:ea typeface="Arial" charset="0"/>
                        <a:cs typeface="Arial" charset="0"/>
                      </a:endParaRPr>
                    </a:p>
                  </a:txBody>
                  <a:tcPr marL="91440" marR="91440" marT="45720" marB="45720">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c>
                  <a:txBody>
                    <a:bodyPr/>
                    <a:lstStyle/>
                    <a:p>
                      <a:pPr indent="0" marL="0">
                        <a:buNone/>
                      </a:pPr>
                      <a:r>
                        <a:rPr lang="en-US" sz="1300" dirty="0">
                          <a:solidFill>
                            <a:srgbClr val="0F2B43"/>
                          </a:solidFill>
                          <a:latin typeface="Arial" pitchFamily="34" charset="0"/>
                          <a:ea typeface="Arial" pitchFamily="34" charset="-122"/>
                          <a:cs typeface="Arial" pitchFamily="34" charset="-120"/>
                        </a:rPr>
                        <a:t>Plans simulated events and writes simulated narratives</a:t>
                      </a:r>
                      <a:endParaRPr lang="en-US" sz="1300" dirty="0">
                        <a:latin typeface="Arial" charset="0"/>
                        <a:ea typeface="Arial" charset="0"/>
                        <a:cs typeface="Arial" charset="0"/>
                      </a:endParaRPr>
                    </a:p>
                  </a:txBody>
                  <a:tcPr marL="91440" marR="91440" marT="45720" marB="45720">
                    <a:lnL w="9525" cap="flat" cmpd="sng" algn="ctr">
                      <a:solidFill>
                        <a:srgbClr val="C9D3DD"/>
                      </a:solidFill>
                      <a:prstDash val="solid"/>
                      <a:round/>
                      <a:headEnd type="none" w="med" len="med"/>
                      <a:tailEnd type="none" w="med" len="med"/>
                    </a:lnL>
                    <a:lnR w="9525" cap="flat" cmpd="sng" algn="ctr">
                      <a:solidFill>
                        <a:srgbClr val="C9D3DD"/>
                      </a:solidFill>
                      <a:prstDash val="solid"/>
                      <a:round/>
                      <a:headEnd type="none" w="med" len="med"/>
                      <a:tailEnd type="none" w="med" len="med"/>
                    </a:lnR>
                    <a:lnT w="9525" cap="flat" cmpd="sng" algn="ctr">
                      <a:solidFill>
                        <a:srgbClr val="C9D3DD"/>
                      </a:solidFill>
                      <a:prstDash val="solid"/>
                      <a:round/>
                      <a:headEnd type="none" w="med" len="med"/>
                      <a:tailEnd type="none" w="med" len="med"/>
                    </a:lnT>
                    <a:lnB w="9525" cap="flat" cmpd="sng" algn="ctr">
                      <a:solidFill>
                        <a:srgbClr val="C9D3DD"/>
                      </a:solidFill>
                      <a:prstDash val="solid"/>
                      <a:round/>
                      <a:headEnd type="none" w="med" len="med"/>
                      <a:tailEnd type="none" w="med" len="med"/>
                    </a:lnB>
                  </a:tcPr>
                </a:tc>
              </a:tr>
            </a:tbl>
          </a:graphicData>
        </a:graphic>
      </p:graphicFrame>
      <p:sp>
        <p:nvSpPr>
          <p:cNvPr id="7" name="Shape 4"/>
          <p:cNvSpPr/>
          <p:nvPr/>
        </p:nvSpPr>
        <p:spPr>
          <a:xfrm>
            <a:off x="548640" y="4206240"/>
            <a:ext cx="11064240" cy="1005840"/>
          </a:xfrm>
          <a:prstGeom prst="rect">
            <a:avLst/>
          </a:prstGeom>
          <a:solidFill>
            <a:srgbClr val="FFF7E6"/>
          </a:solidFill>
          <a:ln w="15875">
            <a:solidFill>
              <a:srgbClr val="B45309"/>
            </a:solidFill>
            <a:prstDash val="solid"/>
          </a:ln>
        </p:spPr>
      </p:sp>
      <p:sp>
        <p:nvSpPr>
          <p:cNvPr id="8" name="Text 5"/>
          <p:cNvSpPr/>
          <p:nvPr/>
        </p:nvSpPr>
        <p:spPr>
          <a:xfrm>
            <a:off x="548640" y="4206240"/>
            <a:ext cx="11064240" cy="1005840"/>
          </a:xfrm>
          <a:prstGeom prst="rect">
            <a:avLst/>
          </a:prstGeom>
          <a:noFill/>
          <a:ln/>
        </p:spPr>
        <p:txBody>
          <a:bodyPr wrap="square" lIns="127000" tIns="127000" rIns="127000" bIns="127000" rtlCol="0" anchor="ctr"/>
          <a:lstStyle/>
          <a:p>
            <a:pPr indent="0" marL="0">
              <a:buNone/>
            </a:pPr>
            <a:r>
              <a:rPr lang="en-US" sz="1300" dirty="0">
                <a:solidFill>
                  <a:srgbClr val="0F2B43"/>
                </a:solidFill>
                <a:latin typeface="Arial" pitchFamily="34" charset="0"/>
                <a:ea typeface="Arial" pitchFamily="34" charset="-122"/>
                <a:cs typeface="Arial" pitchFamily="34" charset="-120"/>
              </a:rPr>
              <a:t>Status: live Nebius calls are pending the Token Factory key on the deployed server. Until it is set, every ranking uses the deterministic fallback, and the screens say so. Re-shoot these slides after a live probe.</a:t>
            </a:r>
            <a:endParaRPr lang="en-US" sz="1300" dirty="0"/>
          </a:p>
        </p:txBody>
      </p:sp>
      <p:sp>
        <p:nvSpPr>
          <p:cNvPr id="9" name="Text 6"/>
          <p:cNvSpPr/>
          <p:nvPr/>
        </p:nvSpPr>
        <p:spPr>
          <a:xfrm>
            <a:off x="548640" y="5394960"/>
            <a:ext cx="10972800" cy="731520"/>
          </a:xfrm>
          <a:prstGeom prst="rect">
            <a:avLst/>
          </a:prstGeom>
          <a:noFill/>
          <a:ln/>
        </p:spPr>
        <p:txBody>
          <a:bodyPr wrap="square" rtlCol="0" anchor="t"/>
          <a:lstStyle/>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Provider controls: per-provider timeouts, bounded retries, rate limiting and a circuit breaker.</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E1FE3C"/>
          </a:solidFill>
          <a:ln w="12700">
            <a:solidFill>
              <a:srgbClr val="E1FE3C"/>
            </a:solidFill>
            <a:prstDash val="solid"/>
          </a:ln>
        </p:spPr>
      </p:sp>
      <p:sp>
        <p:nvSpPr>
          <p:cNvPr id="3" name="Text 1"/>
          <p:cNvSpPr/>
          <p:nvPr/>
        </p:nvSpPr>
        <p:spPr>
          <a:xfrm>
            <a:off x="548640" y="320040"/>
            <a:ext cx="10972800" cy="274320"/>
          </a:xfrm>
          <a:prstGeom prst="rect">
            <a:avLst/>
          </a:prstGeom>
          <a:noFill/>
          <a:ln/>
        </p:spPr>
        <p:txBody>
          <a:bodyPr wrap="square" rtlCol="0" anchor="ctr"/>
          <a:lstStyle/>
          <a:p>
            <a:pPr indent="0" marL="0">
              <a:buNone/>
            </a:pPr>
            <a:r>
              <a:rPr lang="en-US" sz="1100" b="1" spc="100" kern="0" dirty="0">
                <a:solidFill>
                  <a:srgbClr val="5B6B7A"/>
                </a:solidFill>
                <a:latin typeface="Arial" pitchFamily="34" charset="0"/>
                <a:ea typeface="Arial" pitchFamily="34" charset="-122"/>
                <a:cs typeface="Arial" pitchFamily="34" charset="-120"/>
              </a:rPr>
              <a:t>STATUS</a:t>
            </a:r>
            <a:endParaRPr lang="en-US" sz="1100" dirty="0"/>
          </a:p>
        </p:txBody>
      </p:sp>
      <p:sp>
        <p:nvSpPr>
          <p:cNvPr id="4" name="Text 2"/>
          <p:cNvSpPr/>
          <p:nvPr/>
        </p:nvSpPr>
        <p:spPr>
          <a:xfrm>
            <a:off x="548640" y="566928"/>
            <a:ext cx="11064240" cy="822960"/>
          </a:xfrm>
          <a:prstGeom prst="rect">
            <a:avLst/>
          </a:prstGeom>
          <a:noFill/>
          <a:ln/>
        </p:spPr>
        <p:txBody>
          <a:bodyPr wrap="square" rtlCol="0" anchor="t"/>
          <a:lstStyle/>
          <a:p>
            <a:pPr indent="0" marL="0">
              <a:buNone/>
            </a:pPr>
            <a:r>
              <a:rPr lang="en-US" sz="2800" b="1" dirty="0">
                <a:solidFill>
                  <a:srgbClr val="0F2B43"/>
                </a:solidFill>
                <a:latin typeface="Arial" pitchFamily="34" charset="0"/>
                <a:ea typeface="Arial" pitchFamily="34" charset="-122"/>
                <a:cs typeface="Arial" pitchFamily="34" charset="-120"/>
              </a:rPr>
              <a:t>Status and what is left before submission</a:t>
            </a:r>
            <a:endParaRPr lang="en-US" sz="2800" dirty="0"/>
          </a:p>
        </p:txBody>
      </p:sp>
      <p:sp>
        <p:nvSpPr>
          <p:cNvPr id="5" name="Text 3"/>
          <p:cNvSpPr/>
          <p:nvPr/>
        </p:nvSpPr>
        <p:spPr>
          <a:xfrm>
            <a:off x="548640" y="6446520"/>
            <a:ext cx="5486400" cy="274320"/>
          </a:xfrm>
          <a:prstGeom prst="rect">
            <a:avLst/>
          </a:prstGeom>
          <a:noFill/>
          <a:ln/>
        </p:spPr>
        <p:txBody>
          <a:bodyPr wrap="square" rtlCol="0" anchor="ctr"/>
          <a:lstStyle/>
          <a:p>
            <a:pPr indent="0" marL="0">
              <a:buNone/>
            </a:pPr>
            <a:r>
              <a:rPr lang="en-US" sz="900" dirty="0">
                <a:solidFill>
                  <a:srgbClr val="5B6B7A"/>
                </a:solidFill>
                <a:latin typeface="Arial" pitchFamily="34" charset="0"/>
                <a:ea typeface="Arial" pitchFamily="34" charset="-122"/>
                <a:cs typeface="Arial" pitchFamily="34" charset="-120"/>
              </a:rPr>
              <a:t>ResponseCompass · draft for review</a:t>
            </a:r>
            <a:endParaRPr lang="en-US" sz="900" dirty="0"/>
          </a:p>
        </p:txBody>
      </p:sp>
      <p:sp>
        <p:nvSpPr>
          <p:cNvPr id="6" name="Text 4"/>
          <p:cNvSpPr/>
          <p:nvPr/>
        </p:nvSpPr>
        <p:spPr>
          <a:xfrm>
            <a:off x="548640" y="1554480"/>
            <a:ext cx="5303520" cy="457200"/>
          </a:xfrm>
          <a:prstGeom prst="rect">
            <a:avLst/>
          </a:prstGeom>
          <a:noFill/>
          <a:ln/>
        </p:spPr>
        <p:txBody>
          <a:bodyPr wrap="square" rtlCol="0" anchor="ctr"/>
          <a:lstStyle/>
          <a:p>
            <a:pPr indent="0" marL="0">
              <a:buNone/>
            </a:pPr>
            <a:r>
              <a:rPr lang="en-US" sz="1800" b="1" dirty="0">
                <a:solidFill>
                  <a:srgbClr val="0F2B43"/>
                </a:solidFill>
                <a:latin typeface="Arial" pitchFamily="34" charset="0"/>
                <a:ea typeface="Arial" pitchFamily="34" charset="-122"/>
                <a:cs typeface="Arial" pitchFamily="34" charset="-120"/>
              </a:rPr>
              <a:t>Built and tested</a:t>
            </a:r>
            <a:endParaRPr lang="en-US" sz="1800" dirty="0"/>
          </a:p>
        </p:txBody>
      </p:sp>
      <p:sp>
        <p:nvSpPr>
          <p:cNvPr id="7" name="Text 5"/>
          <p:cNvSpPr/>
          <p:nvPr/>
        </p:nvSpPr>
        <p:spPr>
          <a:xfrm>
            <a:off x="548640" y="2011680"/>
            <a:ext cx="5303520" cy="3657600"/>
          </a:xfrm>
          <a:prstGeom prst="rect">
            <a:avLst/>
          </a:prstGeom>
          <a:noFill/>
          <a:ln/>
        </p:spPr>
        <p:txBody>
          <a:bodyPr wrap="square" rtlCol="0" anchor="t"/>
          <a:lstStyle/>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Control room wall screens and operator console</a:t>
            </a:r>
            <a:endParaRPr lang="en-US" sz="1800" dirty="0"/>
          </a:p>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Guest workplaces with a shared password and a cap of 10 registered users</a:t>
            </a:r>
            <a:endParaRPr lang="en-US" sz="1800" dirty="0"/>
          </a:p>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Dispatch gate, approval routes and audit trail</a:t>
            </a:r>
            <a:endParaRPr lang="en-US" sz="1800" dirty="0"/>
          </a:p>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635 hermetic tests and 208 Chromium end-to-end tests on master</a:t>
            </a:r>
            <a:endParaRPr lang="en-US" sz="1800" dirty="0"/>
          </a:p>
        </p:txBody>
      </p:sp>
      <p:sp>
        <p:nvSpPr>
          <p:cNvPr id="8" name="Text 6"/>
          <p:cNvSpPr/>
          <p:nvPr/>
        </p:nvSpPr>
        <p:spPr>
          <a:xfrm>
            <a:off x="6309360" y="1554480"/>
            <a:ext cx="5303520" cy="457200"/>
          </a:xfrm>
          <a:prstGeom prst="rect">
            <a:avLst/>
          </a:prstGeom>
          <a:noFill/>
          <a:ln/>
        </p:spPr>
        <p:txBody>
          <a:bodyPr wrap="square" rtlCol="0" anchor="ctr"/>
          <a:lstStyle/>
          <a:p>
            <a:pPr indent="0" marL="0">
              <a:buNone/>
            </a:pPr>
            <a:r>
              <a:rPr lang="en-US" sz="1800" b="1" dirty="0">
                <a:solidFill>
                  <a:srgbClr val="B45309"/>
                </a:solidFill>
                <a:latin typeface="Arial" pitchFamily="34" charset="0"/>
                <a:ea typeface="Arial" pitchFamily="34" charset="-122"/>
                <a:cs typeface="Arial" pitchFamily="34" charset="-120"/>
              </a:rPr>
              <a:t>Open before submission</a:t>
            </a:r>
            <a:endParaRPr lang="en-US" sz="1800" dirty="0"/>
          </a:p>
        </p:txBody>
      </p:sp>
      <p:sp>
        <p:nvSpPr>
          <p:cNvPr id="9" name="Text 7"/>
          <p:cNvSpPr/>
          <p:nvPr/>
        </p:nvSpPr>
        <p:spPr>
          <a:xfrm>
            <a:off x="6309360" y="2011680"/>
            <a:ext cx="5303520" cy="3657600"/>
          </a:xfrm>
          <a:prstGeom prst="rect">
            <a:avLst/>
          </a:prstGeom>
          <a:noFill/>
          <a:ln/>
        </p:spPr>
        <p:txBody>
          <a:bodyPr wrap="square" rtlCol="0" anchor="t"/>
          <a:lstStyle/>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Nebius Token Factory key on the server, then a live Nemotron probe</a:t>
            </a:r>
            <a:endParaRPr lang="en-US" sz="1800" dirty="0"/>
          </a:p>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Decide whether judges can use field reports (Investigator) on guest workplaces</a:t>
            </a:r>
            <a:endParaRPr lang="en-US" sz="1800" dirty="0"/>
          </a:p>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Re-record the three-minute video with live Nemotron calls</a:t>
            </a:r>
            <a:endParaRPr lang="en-US" sz="1800" dirty="0"/>
          </a:p>
          <a:p>
            <a:pPr marL="228600" indent="-228600">
              <a:spcAft>
                <a:spcPts val="1000"/>
              </a:spcAft>
              <a:buSzPct val="100000"/>
              <a:buChar char="•"/>
            </a:pPr>
            <a:r>
              <a:rPr lang="en-US" sz="1800" dirty="0">
                <a:solidFill>
                  <a:srgbClr val="0F2B43"/>
                </a:solidFill>
                <a:latin typeface="Arial" pitchFamily="34" charset="0"/>
                <a:ea typeface="Arial" pitchFamily="34" charset="-122"/>
                <a:cs typeface="Arial" pitchFamily="34" charset="-120"/>
              </a:rPr>
              <a:t>Upload the video to YouTube and publish the Apache-2.0 repository</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ResponseCompass — Nebius x NVIDIA draft deck</dc:title>
  <dc:subject>PptxGenJS Presentation</dc:subject>
  <dc:creator>PptxGenJS</dc:creator>
  <cp:lastModifiedBy>PptxGenJS</cp:lastModifiedBy>
  <cp:revision>1</cp:revision>
  <dcterms:created xsi:type="dcterms:W3CDTF">2026-10-26T09:37:35Z</dcterms:created>
  <dcterms:modified xsi:type="dcterms:W3CDTF">2026-10-26T09:37:35Z</dcterms:modified>
</cp:coreProperties>
</file>