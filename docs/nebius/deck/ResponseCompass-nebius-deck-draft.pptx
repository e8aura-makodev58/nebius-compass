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mpass_application_logo_icon_20261025201828.jpg"/>
          <p:cNvPicPr>
            <a:picLocks noChangeAspect="1"/>
          </p:cNvPicPr>
          <p:nvPr/>
        </p:nvPicPr>
        <p:blipFill>
          <a:blip r:embed="rId2"/>
          <a:stretch>
            <a:fillRect/>
          </a:stretch>
        </p:blipFill>
        <p:spPr>
          <a:xfrm>
            <a:off x="548640" y="822960"/>
            <a:ext cx="5852160" cy="3266322"/>
          </a:xfrm>
          <a:prstGeom prst="rect">
            <a:avLst/>
          </a:prstGeom>
        </p:spPr>
      </p:pic>
      <p:sp>
        <p:nvSpPr>
          <p:cNvPr id="3" name="TextBox 2"/>
          <p:cNvSpPr txBox="1"/>
          <p:nvPr/>
        </p:nvSpPr>
        <p:spPr>
          <a:xfrm>
            <a:off x="6766560" y="2011680"/>
            <a:ext cx="4937760" cy="1463040"/>
          </a:xfrm>
          <a:prstGeom prst="rect">
            <a:avLst/>
          </a:prstGeom>
          <a:noFill/>
        </p:spPr>
        <p:txBody>
          <a:bodyPr wrap="square" anchor="t" lIns="45720" rIns="45720">
            <a:spAutoFit/>
          </a:bodyPr>
          <a:lstStyle/>
          <a:p>
            <a:pPr algn="l">
              <a:spcAft>
                <a:spcPts val="800"/>
              </a:spcAft>
            </a:pPr>
            <a:r>
              <a:rPr sz="2400" b="1">
                <a:solidFill>
                  <a:srgbClr val="0F2B43"/>
                </a:solidFill>
                <a:latin typeface="Arial"/>
              </a:rPr>
              <a:t>Context-aware responder dispatch for operations control rooms</a:t>
            </a:r>
          </a:p>
        </p:txBody>
      </p:sp>
      <p:sp>
        <p:nvSpPr>
          <p:cNvPr id="4" name="TextBox 3"/>
          <p:cNvSpPr txBox="1"/>
          <p:nvPr/>
        </p:nvSpPr>
        <p:spPr>
          <a:xfrm>
            <a:off x="6766560" y="3566160"/>
            <a:ext cx="4937760" cy="1097280"/>
          </a:xfrm>
          <a:prstGeom prst="rect">
            <a:avLst/>
          </a:prstGeom>
          <a:noFill/>
        </p:spPr>
        <p:txBody>
          <a:bodyPr wrap="square" anchor="t" lIns="45720" rIns="45720">
            <a:spAutoFit/>
          </a:bodyPr>
          <a:lstStyle/>
          <a:p>
            <a:pPr algn="l">
              <a:spcAft>
                <a:spcPts val="800"/>
              </a:spcAft>
            </a:pPr>
            <a:r>
              <a:rPr sz="1500" b="0">
                <a:solidFill>
                  <a:srgbClr val="5B6B7A"/>
                </a:solidFill>
                <a:latin typeface="Arial"/>
              </a:rPr>
              <a:t>An agent that recommends who to send and what to try first, cited from past repairs. People approve every dispatch.</a:t>
            </a:r>
          </a:p>
        </p:txBody>
      </p:sp>
      <p:sp>
        <p:nvSpPr>
          <p:cNvPr id="5" name="TextBox 4"/>
          <p:cNvSpPr txBox="1"/>
          <p:nvPr/>
        </p:nvSpPr>
        <p:spPr>
          <a:xfrm>
            <a:off x="548640" y="6035040"/>
            <a:ext cx="10972800" cy="365760"/>
          </a:xfrm>
          <a:prstGeom prst="rect">
            <a:avLst/>
          </a:prstGeom>
          <a:noFill/>
        </p:spPr>
        <p:txBody>
          <a:bodyPr wrap="square" anchor="t" lIns="45720" rIns="45720">
            <a:spAutoFit/>
          </a:bodyPr>
          <a:lstStyle/>
          <a:p>
            <a:pPr algn="l">
              <a:spcAft>
                <a:spcPts val="800"/>
              </a:spcAft>
            </a:pPr>
            <a:r>
              <a:rPr sz="1200" b="0">
                <a:solidFill>
                  <a:srgbClr val="5B6B7A"/>
                </a:solidFill>
                <a:latin typeface="Arial"/>
              </a:rPr>
              <a:t>Nebius x NVIDIA Global AI Hackathon · Best Apps and Agents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E1F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anchor="t" lIns="45720" rIns="45720">
            <a:spAutoFit/>
          </a:bodyPr>
          <a:lstStyle/>
          <a:p>
            <a:pPr algn="l">
              <a:spcAft>
                <a:spcPts val="800"/>
              </a:spcAft>
            </a:pPr>
            <a:r>
              <a:rPr sz="1100" b="1">
                <a:solidFill>
                  <a:srgbClr val="5B6B7A"/>
                </a:solidFill>
                <a:latin typeface="Arial"/>
              </a:rPr>
              <a:t>THE PROBLEM</a:t>
            </a:r>
          </a:p>
        </p:txBody>
      </p:sp>
      <p:sp>
        <p:nvSpPr>
          <p:cNvPr id="4" name="TextBox 3"/>
          <p:cNvSpPr txBox="1"/>
          <p:nvPr/>
        </p:nvSpPr>
        <p:spPr>
          <a:xfrm>
            <a:off x="548640" y="566928"/>
            <a:ext cx="11064240" cy="822960"/>
          </a:xfrm>
          <a:prstGeom prst="rect">
            <a:avLst/>
          </a:prstGeom>
          <a:noFill/>
        </p:spPr>
        <p:txBody>
          <a:bodyPr wrap="square" anchor="t" lIns="45720" rIns="45720">
            <a:spAutoFit/>
          </a:bodyPr>
          <a:lstStyle/>
          <a:p>
            <a:pPr algn="l">
              <a:spcAft>
                <a:spcPts val="800"/>
              </a:spcAft>
            </a:pPr>
            <a:r>
              <a:rPr sz="2800" b="1">
                <a:solidFill>
                  <a:srgbClr val="0F2B43"/>
                </a:solidFill>
                <a:latin typeface="Arial"/>
              </a:rPr>
              <a:t>The closest technician is not always the best one to send</a:t>
            </a:r>
          </a:p>
        </p:txBody>
      </p:sp>
      <p:sp>
        <p:nvSpPr>
          <p:cNvPr id="5" name="TextBox 4"/>
          <p:cNvSpPr txBox="1"/>
          <p:nvPr/>
        </p:nvSpPr>
        <p:spPr>
          <a:xfrm>
            <a:off x="548640" y="6446520"/>
            <a:ext cx="5486400" cy="274320"/>
          </a:xfrm>
          <a:prstGeom prst="rect">
            <a:avLst/>
          </a:prstGeom>
          <a:noFill/>
        </p:spPr>
        <p:txBody>
          <a:bodyPr wrap="square" anchor="t" lIns="45720" rIns="45720">
            <a:spAutoFit/>
          </a:bodyPr>
          <a:lstStyle/>
          <a:p>
            <a:pPr algn="l">
              <a:spcAft>
                <a:spcPts val="800"/>
              </a:spcAft>
            </a:pPr>
            <a:r>
              <a:rPr sz="900" b="0">
                <a:solidFill>
                  <a:srgbClr val="5B6B7A"/>
                </a:solidFill>
                <a:latin typeface="Arial"/>
              </a:rPr>
              <a:t>ResponseCompass · draft for review</a:t>
            </a:r>
          </a:p>
        </p:txBody>
      </p:sp>
      <p:sp>
        <p:nvSpPr>
          <p:cNvPr id="6" name="TextBox 5"/>
          <p:cNvSpPr txBox="1"/>
          <p:nvPr/>
        </p:nvSpPr>
        <p:spPr>
          <a:xfrm>
            <a:off x="548640" y="1554480"/>
            <a:ext cx="10972800" cy="4114800"/>
          </a:xfrm>
          <a:prstGeom prst="rect">
            <a:avLst/>
          </a:prstGeom>
          <a:noFill/>
        </p:spPr>
        <p:txBody>
          <a:bodyPr wrap="square" anchor="t" lIns="45720" rIns="45720">
            <a:spAutoFit/>
          </a:bodyPr>
          <a:lstStyle/>
          <a:p>
            <a:pPr algn="l" marL="256032" indent="-256032">
              <a:spcAft>
                <a:spcPts val="1400"/>
              </a:spcAft>
              <a:buChar char="•"/>
            </a:pPr>
            <a:r>
              <a:rPr sz="2000" b="0">
                <a:solidFill>
                  <a:srgbClr val="0F2B43"/>
                </a:solidFill>
                <a:latin typeface="Arial"/>
              </a:rPr>
              <a:t>Equipment faults arrive as technician reports in plain language, not clean tickets.</a:t>
            </a:r>
          </a:p>
          <a:p>
            <a:pPr algn="l" marL="256032" indent="-256032">
              <a:spcAft>
                <a:spcPts val="1400"/>
              </a:spcAft>
              <a:buChar char="•"/>
            </a:pPr>
            <a:r>
              <a:rPr sz="2000" b="0">
                <a:solidFill>
                  <a:srgbClr val="0F2B43"/>
                </a:solidFill>
                <a:latin typeface="Arial"/>
              </a:rPr>
              <a:t>The nearest responder often has no record on this fault.</a:t>
            </a:r>
          </a:p>
          <a:p>
            <a:pPr algn="l" marL="256032" indent="-256032">
              <a:spcAft>
                <a:spcPts val="1400"/>
              </a:spcAft>
              <a:buChar char="•"/>
            </a:pPr>
            <a:r>
              <a:rPr sz="2000" b="0">
                <a:solidFill>
                  <a:srgbClr val="0F2B43"/>
                </a:solidFill>
                <a:latin typeface="Arial"/>
              </a:rPr>
              <a:t>The first fix tried is often a guess, and each failed attempt costs downtime.</a:t>
            </a:r>
          </a:p>
          <a:p>
            <a:pPr algn="l" marL="256032" indent="-256032">
              <a:spcAft>
                <a:spcPts val="1400"/>
              </a:spcAft>
              <a:buChar char="•"/>
            </a:pPr>
            <a:r>
              <a:rPr sz="2000" b="0">
                <a:solidFill>
                  <a:srgbClr val="0F2B43"/>
                </a:solidFill>
                <a:latin typeface="Arial"/>
              </a:rPr>
              <a:t>What works lives in old tickets and in people's heads, so it is hard to reuse.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E1F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anchor="t" lIns="45720" rIns="45720">
            <a:spAutoFit/>
          </a:bodyPr>
          <a:lstStyle/>
          <a:p>
            <a:pPr algn="l">
              <a:spcAft>
                <a:spcPts val="800"/>
              </a:spcAft>
            </a:pPr>
            <a:r>
              <a:rPr sz="1100" b="1">
                <a:solidFill>
                  <a:srgbClr val="5B6B7A"/>
                </a:solidFill>
                <a:latin typeface="Arial"/>
              </a:rPr>
              <a:t>THE DEMO STORY</a:t>
            </a:r>
          </a:p>
        </p:txBody>
      </p:sp>
      <p:sp>
        <p:nvSpPr>
          <p:cNvPr id="4" name="TextBox 3"/>
          <p:cNvSpPr txBox="1"/>
          <p:nvPr/>
        </p:nvSpPr>
        <p:spPr>
          <a:xfrm>
            <a:off x="548640" y="566928"/>
            <a:ext cx="11064240" cy="822960"/>
          </a:xfrm>
          <a:prstGeom prst="rect">
            <a:avLst/>
          </a:prstGeom>
          <a:noFill/>
        </p:spPr>
        <p:txBody>
          <a:bodyPr wrap="square" anchor="t" lIns="45720" rIns="45720">
            <a:spAutoFit/>
          </a:bodyPr>
          <a:lstStyle/>
          <a:p>
            <a:pPr algn="l">
              <a:spcAft>
                <a:spcPts val="800"/>
              </a:spcAft>
            </a:pPr>
            <a:r>
              <a:rPr sz="2800" b="1">
                <a:solidFill>
                  <a:srgbClr val="0F2B43"/>
                </a:solidFill>
                <a:latin typeface="Arial"/>
              </a:rPr>
              <a:t>One report, from words to an approved dispatch</a:t>
            </a:r>
          </a:p>
        </p:txBody>
      </p:sp>
      <p:sp>
        <p:nvSpPr>
          <p:cNvPr id="5" name="TextBox 4"/>
          <p:cNvSpPr txBox="1"/>
          <p:nvPr/>
        </p:nvSpPr>
        <p:spPr>
          <a:xfrm>
            <a:off x="548640" y="6446520"/>
            <a:ext cx="5486400" cy="274320"/>
          </a:xfrm>
          <a:prstGeom prst="rect">
            <a:avLst/>
          </a:prstGeom>
          <a:noFill/>
        </p:spPr>
        <p:txBody>
          <a:bodyPr wrap="square" anchor="t" lIns="45720" rIns="45720">
            <a:spAutoFit/>
          </a:bodyPr>
          <a:lstStyle/>
          <a:p>
            <a:pPr algn="l">
              <a:spcAft>
                <a:spcPts val="800"/>
              </a:spcAft>
            </a:pPr>
            <a:r>
              <a:rPr sz="900" b="0">
                <a:solidFill>
                  <a:srgbClr val="5B6B7A"/>
                </a:solidFill>
                <a:latin typeface="Arial"/>
              </a:rPr>
              <a:t>ResponseCompass · draft for review</a:t>
            </a:r>
          </a:p>
        </p:txBody>
      </p:sp>
      <p:sp>
        <p:nvSpPr>
          <p:cNvPr id="6" name="Rectangle 5"/>
          <p:cNvSpPr/>
          <p:nvPr/>
        </p:nvSpPr>
        <p:spPr>
          <a:xfrm>
            <a:off x="548640" y="2194560"/>
            <a:ext cx="1645920" cy="1737360"/>
          </a:xfrm>
          <a:prstGeom prst="rect">
            <a:avLst/>
          </a:prstGeom>
          <a:solidFill>
            <a:srgbClr val="EEF2F7"/>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spcAft>
                <a:spcPts val="400"/>
              </a:spcAft>
            </a:pPr>
            <a:r>
              <a:rPr sz="1300" b="0">
                <a:solidFill>
                  <a:srgbClr val="0F2B43"/>
                </a:solidFill>
                <a:latin typeface="Arial"/>
              </a:rPr>
              <a:t>1  Free-text field report arrives</a:t>
            </a:r>
          </a:p>
        </p:txBody>
      </p:sp>
      <p:sp>
        <p:nvSpPr>
          <p:cNvPr id="7" name="Rectangle 6"/>
          <p:cNvSpPr/>
          <p:nvPr/>
        </p:nvSpPr>
        <p:spPr>
          <a:xfrm>
            <a:off x="2432304" y="2194560"/>
            <a:ext cx="1645920" cy="1737360"/>
          </a:xfrm>
          <a:prstGeom prst="rect">
            <a:avLst/>
          </a:prstGeom>
          <a:solidFill>
            <a:srgbClr val="EEF2F7"/>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spcAft>
                <a:spcPts val="400"/>
              </a:spcAft>
            </a:pPr>
            <a:r>
              <a:rPr sz="1300" b="0">
                <a:solidFill>
                  <a:srgbClr val="0F2B43"/>
                </a:solidFill>
                <a:latin typeface="Arial"/>
              </a:rPr>
              <a:t>2  Wall screens show the room</a:t>
            </a:r>
          </a:p>
        </p:txBody>
      </p:sp>
      <p:sp>
        <p:nvSpPr>
          <p:cNvPr id="8" name="Rectangle 7"/>
          <p:cNvSpPr/>
          <p:nvPr/>
        </p:nvSpPr>
        <p:spPr>
          <a:xfrm>
            <a:off x="4315968" y="2194560"/>
            <a:ext cx="1645920" cy="1737360"/>
          </a:xfrm>
          <a:prstGeom prst="rect">
            <a:avLst/>
          </a:prstGeom>
          <a:solidFill>
            <a:srgbClr val="EEF2F7"/>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spcAft>
                <a:spcPts val="400"/>
              </a:spcAft>
            </a:pPr>
            <a:r>
              <a:rPr sz="1300" b="0">
                <a:solidFill>
                  <a:srgbClr val="0F2B43"/>
                </a:solidFill>
                <a:latin typeface="Arial"/>
              </a:rPr>
              <a:t>3  Code resolves equipment and options</a:t>
            </a:r>
          </a:p>
        </p:txBody>
      </p:sp>
      <p:sp>
        <p:nvSpPr>
          <p:cNvPr id="9" name="Rectangle 8"/>
          <p:cNvSpPr/>
          <p:nvPr/>
        </p:nvSpPr>
        <p:spPr>
          <a:xfrm>
            <a:off x="6199631" y="2194560"/>
            <a:ext cx="1645920" cy="1737360"/>
          </a:xfrm>
          <a:prstGeom prst="rect">
            <a:avLst/>
          </a:prstGeom>
          <a:solidFill>
            <a:srgbClr val="E1FE3C"/>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spcAft>
                <a:spcPts val="400"/>
              </a:spcAft>
            </a:pPr>
            <a:r>
              <a:rPr sz="1300" b="0">
                <a:solidFill>
                  <a:srgbClr val="0F2B43"/>
                </a:solidFill>
                <a:latin typeface="Arial"/>
              </a:rPr>
              <a:t>4  Nemotron investigates with cited cases</a:t>
            </a:r>
          </a:p>
        </p:txBody>
      </p:sp>
      <p:sp>
        <p:nvSpPr>
          <p:cNvPr id="10" name="Rectangle 9"/>
          <p:cNvSpPr/>
          <p:nvPr/>
        </p:nvSpPr>
        <p:spPr>
          <a:xfrm>
            <a:off x="8083296" y="2194560"/>
            <a:ext cx="1645920" cy="1737360"/>
          </a:xfrm>
          <a:prstGeom prst="rect">
            <a:avLst/>
          </a:prstGeom>
          <a:solidFill>
            <a:srgbClr val="EEF2F7"/>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spcAft>
                <a:spcPts val="400"/>
              </a:spcAft>
            </a:pPr>
            <a:r>
              <a:rPr sz="1300" b="0">
                <a:solidFill>
                  <a:srgbClr val="0F2B43"/>
                </a:solidFill>
                <a:latin typeface="Arial"/>
              </a:rPr>
              <a:t>5  Operator confirms and approves</a:t>
            </a:r>
          </a:p>
        </p:txBody>
      </p:sp>
      <p:sp>
        <p:nvSpPr>
          <p:cNvPr id="11" name="Rectangle 10"/>
          <p:cNvSpPr/>
          <p:nvPr/>
        </p:nvSpPr>
        <p:spPr>
          <a:xfrm>
            <a:off x="9966960" y="2194560"/>
            <a:ext cx="1645920" cy="1737360"/>
          </a:xfrm>
          <a:prstGeom prst="rect">
            <a:avLst/>
          </a:prstGeom>
          <a:solidFill>
            <a:srgbClr val="EEF2F7"/>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spcAft>
                <a:spcPts val="400"/>
              </a:spcAft>
            </a:pPr>
            <a:r>
              <a:rPr sz="1300" b="0">
                <a:solidFill>
                  <a:srgbClr val="0F2B43"/>
                </a:solidFill>
                <a:latin typeface="Arial"/>
              </a:rPr>
              <a:t>6  Outcome, history and analytics</a:t>
            </a:r>
          </a:p>
        </p:txBody>
      </p:sp>
      <p:cxnSp>
        <p:nvCxnSpPr>
          <p:cNvPr id="12" name="Connector 11"/>
          <p:cNvCxnSpPr>
            <a:stCxn id="6" idx="3"/>
            <a:endCxn id="7" idx="1"/>
          </p:cNvCxnSpPr>
          <p:nvPr/>
        </p:nvCxnSpPr>
        <p:spPr>
          <a:xfrm flipV="1">
            <a:off x="2194560" y="3063240"/>
            <a:ext cx="237744" cy="0"/>
          </a:xfrm>
          <a:prstGeom prst="line">
            <a:avLst/>
          </a:prstGeom>
          <a:ln w="22225">
            <a:solidFill>
              <a:srgbClr val="0F2B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a:stCxn id="7" idx="3"/>
            <a:endCxn id="8" idx="1"/>
          </p:cNvCxnSpPr>
          <p:nvPr/>
        </p:nvCxnSpPr>
        <p:spPr>
          <a:xfrm flipV="1">
            <a:off x="4078224" y="3063240"/>
            <a:ext cx="237744" cy="0"/>
          </a:xfrm>
          <a:prstGeom prst="line">
            <a:avLst/>
          </a:prstGeom>
          <a:ln w="22225">
            <a:solidFill>
              <a:srgbClr val="0F2B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a:stCxn id="8" idx="3"/>
            <a:endCxn id="9" idx="1"/>
          </p:cNvCxnSpPr>
          <p:nvPr/>
        </p:nvCxnSpPr>
        <p:spPr>
          <a:xfrm flipV="1">
            <a:off x="5961888" y="3063240"/>
            <a:ext cx="237743" cy="0"/>
          </a:xfrm>
          <a:prstGeom prst="line">
            <a:avLst/>
          </a:prstGeom>
          <a:ln w="22225">
            <a:solidFill>
              <a:srgbClr val="0F2B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a:stCxn id="9" idx="3"/>
            <a:endCxn id="10" idx="1"/>
          </p:cNvCxnSpPr>
          <p:nvPr/>
        </p:nvCxnSpPr>
        <p:spPr>
          <a:xfrm flipV="1">
            <a:off x="7845551" y="3063240"/>
            <a:ext cx="237745" cy="0"/>
          </a:xfrm>
          <a:prstGeom prst="line">
            <a:avLst/>
          </a:prstGeom>
          <a:ln w="22225">
            <a:solidFill>
              <a:srgbClr val="0F2B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a:stCxn id="10" idx="3"/>
            <a:endCxn id="11" idx="1"/>
          </p:cNvCxnSpPr>
          <p:nvPr/>
        </p:nvCxnSpPr>
        <p:spPr>
          <a:xfrm flipV="1">
            <a:off x="9729216" y="3063240"/>
            <a:ext cx="237744" cy="0"/>
          </a:xfrm>
          <a:prstGeom prst="line">
            <a:avLst/>
          </a:prstGeom>
          <a:ln w="22225">
            <a:solidFill>
              <a:srgbClr val="0F2B4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480560"/>
            <a:ext cx="10972800" cy="548640"/>
          </a:xfrm>
          <a:prstGeom prst="rect">
            <a:avLst/>
          </a:prstGeom>
          <a:noFill/>
        </p:spPr>
        <p:txBody>
          <a:bodyPr wrap="square" anchor="t" lIns="45720" rIns="45720">
            <a:spAutoFit/>
          </a:bodyPr>
          <a:lstStyle/>
          <a:p>
            <a:pPr algn="l">
              <a:spcAft>
                <a:spcPts val="800"/>
              </a:spcAft>
            </a:pPr>
            <a:r>
              <a:rPr sz="1600" b="1">
                <a:solidFill>
                  <a:srgbClr val="0F2B43"/>
                </a:solidFill>
                <a:latin typeface="Arial"/>
              </a:rPr>
              <a:t>Nothing is dispatched for a field report without an approval record.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E1F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anchor="t" lIns="45720" rIns="45720">
            <a:spAutoFit/>
          </a:bodyPr>
          <a:lstStyle/>
          <a:p>
            <a:pPr algn="l">
              <a:spcAft>
                <a:spcPts val="800"/>
              </a:spcAft>
            </a:pPr>
            <a:r>
              <a:rPr sz="1100" b="1">
                <a:solidFill>
                  <a:srgbClr val="5B6B7A"/>
                </a:solidFill>
                <a:latin typeface="Arial"/>
              </a:rPr>
              <a:t>LIVE FLOOR</a:t>
            </a:r>
          </a:p>
        </p:txBody>
      </p:sp>
      <p:sp>
        <p:nvSpPr>
          <p:cNvPr id="4" name="TextBox 3"/>
          <p:cNvSpPr txBox="1"/>
          <p:nvPr/>
        </p:nvSpPr>
        <p:spPr>
          <a:xfrm>
            <a:off x="548640" y="566928"/>
            <a:ext cx="11064240" cy="822960"/>
          </a:xfrm>
          <a:prstGeom prst="rect">
            <a:avLst/>
          </a:prstGeom>
          <a:noFill/>
        </p:spPr>
        <p:txBody>
          <a:bodyPr wrap="square" anchor="t" lIns="45720" rIns="45720">
            <a:spAutoFit/>
          </a:bodyPr>
          <a:lstStyle/>
          <a:p>
            <a:pPr algn="l">
              <a:spcAft>
                <a:spcPts val="800"/>
              </a:spcAft>
            </a:pPr>
            <a:r>
              <a:rPr sz="2800" b="1">
                <a:solidFill>
                  <a:srgbClr val="0F2B43"/>
                </a:solidFill>
                <a:latin typeface="Arial"/>
              </a:rPr>
              <a:t>The control room watches the floor and keeps the controls</a:t>
            </a:r>
          </a:p>
        </p:txBody>
      </p:sp>
      <p:sp>
        <p:nvSpPr>
          <p:cNvPr id="5" name="TextBox 4"/>
          <p:cNvSpPr txBox="1"/>
          <p:nvPr/>
        </p:nvSpPr>
        <p:spPr>
          <a:xfrm>
            <a:off x="548640" y="6446520"/>
            <a:ext cx="5486400" cy="274320"/>
          </a:xfrm>
          <a:prstGeom prst="rect">
            <a:avLst/>
          </a:prstGeom>
          <a:noFill/>
        </p:spPr>
        <p:txBody>
          <a:bodyPr wrap="square" anchor="t" lIns="45720" rIns="45720">
            <a:spAutoFit/>
          </a:bodyPr>
          <a:lstStyle/>
          <a:p>
            <a:pPr algn="l">
              <a:spcAft>
                <a:spcPts val="800"/>
              </a:spcAft>
            </a:pPr>
            <a:r>
              <a:rPr sz="900" b="0">
                <a:solidFill>
                  <a:srgbClr val="5B6B7A"/>
                </a:solidFill>
                <a:latin typeface="Arial"/>
              </a:rPr>
              <a:t>ResponseCompass · draft for review</a:t>
            </a:r>
          </a:p>
        </p:txBody>
      </p:sp>
      <p:pic>
        <p:nvPicPr>
          <p:cNvPr id="6" name="Picture 5" descr="console-1600.png"/>
          <p:cNvPicPr>
            <a:picLocks noChangeAspect="1"/>
          </p:cNvPicPr>
          <p:nvPr/>
        </p:nvPicPr>
        <p:blipFill>
          <a:blip r:embed="rId2"/>
          <a:stretch>
            <a:fillRect/>
          </a:stretch>
        </p:blipFill>
        <p:spPr>
          <a:xfrm>
            <a:off x="548640" y="1463040"/>
            <a:ext cx="8458200" cy="4757738"/>
          </a:xfrm>
          <a:prstGeom prst="rect">
            <a:avLst/>
          </a:prstGeom>
        </p:spPr>
      </p:pic>
      <p:sp>
        <p:nvSpPr>
          <p:cNvPr id="7" name="TextBox 6"/>
          <p:cNvSpPr txBox="1"/>
          <p:nvPr/>
        </p:nvSpPr>
        <p:spPr>
          <a:xfrm>
            <a:off x="9235440" y="1554480"/>
            <a:ext cx="2468880" cy="4572000"/>
          </a:xfrm>
          <a:prstGeom prst="rect">
            <a:avLst/>
          </a:prstGeom>
          <a:noFill/>
        </p:spPr>
        <p:txBody>
          <a:bodyPr wrap="square" anchor="t" lIns="45720" rIns="45720">
            <a:spAutoFit/>
          </a:bodyPr>
          <a:lstStyle/>
          <a:p>
            <a:pPr algn="l" marL="256032" indent="-256032">
              <a:spcAft>
                <a:spcPts val="1200"/>
              </a:spcAft>
              <a:buChar char="•"/>
            </a:pPr>
            <a:r>
              <a:rPr sz="1400" b="0">
                <a:solidFill>
                  <a:srgbClr val="0F2B43"/>
                </a:solidFill>
                <a:latin typeface="Arial"/>
              </a:rPr>
              <a:t>Six wall screens, one panel per monitor: floor map, issues, dispatch, event feed, Issue Pareto, analytics.</a:t>
            </a:r>
          </a:p>
          <a:p>
            <a:pPr algn="l" marL="256032" indent="-256032">
              <a:spcAft>
                <a:spcPts val="1200"/>
              </a:spcAft>
              <a:buChar char="•"/>
            </a:pPr>
            <a:r>
              <a:rPr sz="1400" b="0">
                <a:solidFill>
                  <a:srgbClr val="0F2B43"/>
                </a:solidFill>
                <a:latin typeface="Arial"/>
              </a:rPr>
              <a:t>The operator console keeps override, pause and approval.</a:t>
            </a:r>
          </a:p>
          <a:p>
            <a:pPr algn="l" marL="256032" indent="-256032">
              <a:spcAft>
                <a:spcPts val="1200"/>
              </a:spcAft>
              <a:buChar char="•"/>
            </a:pPr>
            <a:r>
              <a:rPr sz="1400" b="0">
                <a:solidFill>
                  <a:srgbClr val="0F2B43"/>
                </a:solidFill>
                <a:latin typeface="Arial"/>
              </a:rPr>
              <a:t>Live deployed app, synthetic plant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E1F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anchor="t" lIns="45720" rIns="45720">
            <a:spAutoFit/>
          </a:bodyPr>
          <a:lstStyle/>
          <a:p>
            <a:pPr algn="l">
              <a:spcAft>
                <a:spcPts val="800"/>
              </a:spcAft>
            </a:pPr>
            <a:r>
              <a:rPr sz="1100" b="1">
                <a:solidFill>
                  <a:srgbClr val="5B6B7A"/>
                </a:solidFill>
                <a:latin typeface="Arial"/>
              </a:rPr>
              <a:t>COMPASS INVESTIGATOR</a:t>
            </a:r>
          </a:p>
        </p:txBody>
      </p:sp>
      <p:sp>
        <p:nvSpPr>
          <p:cNvPr id="4" name="TextBox 3"/>
          <p:cNvSpPr txBox="1"/>
          <p:nvPr/>
        </p:nvSpPr>
        <p:spPr>
          <a:xfrm>
            <a:off x="548640" y="566928"/>
            <a:ext cx="11064240" cy="822960"/>
          </a:xfrm>
          <a:prstGeom prst="rect">
            <a:avLst/>
          </a:prstGeom>
          <a:noFill/>
        </p:spPr>
        <p:txBody>
          <a:bodyPr wrap="square" anchor="t" lIns="45720" rIns="45720">
            <a:spAutoFit/>
          </a:bodyPr>
          <a:lstStyle/>
          <a:p>
            <a:pPr algn="l">
              <a:spcAft>
                <a:spcPts val="800"/>
              </a:spcAft>
            </a:pPr>
            <a:r>
              <a:rPr sz="2800" b="1">
                <a:solidFill>
                  <a:srgbClr val="0F2B43"/>
                </a:solidFill>
                <a:latin typeface="Arial"/>
              </a:rPr>
              <a:t>A field report becomes a cited, approved recommendation</a:t>
            </a:r>
          </a:p>
        </p:txBody>
      </p:sp>
      <p:sp>
        <p:nvSpPr>
          <p:cNvPr id="5" name="TextBox 4"/>
          <p:cNvSpPr txBox="1"/>
          <p:nvPr/>
        </p:nvSpPr>
        <p:spPr>
          <a:xfrm>
            <a:off x="548640" y="6446520"/>
            <a:ext cx="5486400" cy="274320"/>
          </a:xfrm>
          <a:prstGeom prst="rect">
            <a:avLst/>
          </a:prstGeom>
          <a:noFill/>
        </p:spPr>
        <p:txBody>
          <a:bodyPr wrap="square" anchor="t" lIns="45720" rIns="45720">
            <a:spAutoFit/>
          </a:bodyPr>
          <a:lstStyle/>
          <a:p>
            <a:pPr algn="l">
              <a:spcAft>
                <a:spcPts val="800"/>
              </a:spcAft>
            </a:pPr>
            <a:r>
              <a:rPr sz="900" b="0">
                <a:solidFill>
                  <a:srgbClr val="5B6B7A"/>
                </a:solidFill>
                <a:latin typeface="Arial"/>
              </a:rPr>
              <a:t>ResponseCompass · draft for review</a:t>
            </a:r>
          </a:p>
        </p:txBody>
      </p:sp>
      <p:sp>
        <p:nvSpPr>
          <p:cNvPr id="6" name="Rectangle 5"/>
          <p:cNvSpPr/>
          <p:nvPr/>
        </p:nvSpPr>
        <p:spPr>
          <a:xfrm>
            <a:off x="548640" y="1737360"/>
            <a:ext cx="2011680" cy="2468880"/>
          </a:xfrm>
          <a:prstGeom prst="rect">
            <a:avLst/>
          </a:prstGeom>
          <a:solidFill>
            <a:srgbClr val="EEF2F7"/>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400"/>
              </a:spcAft>
            </a:pPr>
            <a:r>
              <a:rPr sz="1500" b="1">
                <a:solidFill>
                  <a:srgbClr val="0F2B43"/>
                </a:solidFill>
                <a:latin typeface="Arial"/>
              </a:rPr>
              <a:t>1  Report</a:t>
            </a:r>
          </a:p>
          <a:p>
            <a:pPr algn="l">
              <a:spcAft>
                <a:spcPts val="400"/>
              </a:spcAft>
            </a:pPr>
            <a:r>
              <a:rPr sz="1300" b="0">
                <a:solidFill>
                  <a:srgbClr val="0F2B43"/>
                </a:solidFill>
                <a:latin typeface="Arial"/>
              </a:rPr>
              <a:t>Operator types what happened. Text is untrusted data.</a:t>
            </a:r>
          </a:p>
        </p:txBody>
      </p:sp>
      <p:sp>
        <p:nvSpPr>
          <p:cNvPr id="7" name="Rectangle 6"/>
          <p:cNvSpPr/>
          <p:nvPr/>
        </p:nvSpPr>
        <p:spPr>
          <a:xfrm>
            <a:off x="2807208" y="1737360"/>
            <a:ext cx="2011680" cy="2468880"/>
          </a:xfrm>
          <a:prstGeom prst="rect">
            <a:avLst/>
          </a:prstGeom>
          <a:solidFill>
            <a:srgbClr val="EEF2F7"/>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400"/>
              </a:spcAft>
            </a:pPr>
            <a:r>
              <a:rPr sz="1500" b="1">
                <a:solidFill>
                  <a:srgbClr val="0F2B43"/>
                </a:solidFill>
                <a:latin typeface="Arial"/>
              </a:rPr>
              <a:t>2  Options</a:t>
            </a:r>
          </a:p>
          <a:p>
            <a:pPr algn="l">
              <a:spcAft>
                <a:spcPts val="400"/>
              </a:spcAft>
            </a:pPr>
            <a:r>
              <a:rPr sz="1300" b="0">
                <a:solidFill>
                  <a:srgbClr val="0F2B43"/>
                </a:solidFill>
                <a:latin typeface="Arial"/>
              </a:rPr>
              <a:t>Code lists possible equipment and symptom pairs (at most 12).</a:t>
            </a:r>
          </a:p>
        </p:txBody>
      </p:sp>
      <p:sp>
        <p:nvSpPr>
          <p:cNvPr id="8" name="Rectangle 7"/>
          <p:cNvSpPr/>
          <p:nvPr/>
        </p:nvSpPr>
        <p:spPr>
          <a:xfrm>
            <a:off x="5065776" y="1737360"/>
            <a:ext cx="2011680" cy="2468880"/>
          </a:xfrm>
          <a:prstGeom prst="rect">
            <a:avLst/>
          </a:prstGeom>
          <a:solidFill>
            <a:srgbClr val="E1FE3C"/>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400"/>
              </a:spcAft>
            </a:pPr>
            <a:r>
              <a:rPr sz="1500" b="1">
                <a:solidFill>
                  <a:srgbClr val="0F2B43"/>
                </a:solidFill>
                <a:latin typeface="Arial"/>
              </a:rPr>
              <a:t>3  Investigate</a:t>
            </a:r>
          </a:p>
          <a:p>
            <a:pPr algn="l">
              <a:spcAft>
                <a:spcPts val="400"/>
              </a:spcAft>
            </a:pPr>
            <a:r>
              <a:rPr sz="1300" b="0">
                <a:solidFill>
                  <a:srgbClr val="0F2B43"/>
                </a:solidFill>
                <a:latin typeface="Arial"/>
              </a:rPr>
              <a:t>Nemotron 3 Ultra reads past cases with read-only tools and cites them.</a:t>
            </a:r>
          </a:p>
        </p:txBody>
      </p:sp>
      <p:sp>
        <p:nvSpPr>
          <p:cNvPr id="9" name="Rectangle 8"/>
          <p:cNvSpPr/>
          <p:nvPr/>
        </p:nvSpPr>
        <p:spPr>
          <a:xfrm>
            <a:off x="7324344" y="1737360"/>
            <a:ext cx="2011680" cy="2468880"/>
          </a:xfrm>
          <a:prstGeom prst="rect">
            <a:avLst/>
          </a:prstGeom>
          <a:solidFill>
            <a:srgbClr val="EEF2F7"/>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400"/>
              </a:spcAft>
            </a:pPr>
            <a:r>
              <a:rPr sz="1500" b="1">
                <a:solidFill>
                  <a:srgbClr val="0F2B43"/>
                </a:solidFill>
                <a:latin typeface="Arial"/>
              </a:rPr>
              <a:t>4  Confirm</a:t>
            </a:r>
          </a:p>
          <a:p>
            <a:pPr algn="l">
              <a:spcAft>
                <a:spcPts val="400"/>
              </a:spcAft>
            </a:pPr>
            <a:r>
              <a:rPr sz="1300" b="0">
                <a:solidFill>
                  <a:srgbClr val="0F2B43"/>
                </a:solidFill>
                <a:latin typeface="Arial"/>
              </a:rPr>
              <a:t>Operator confirms the symptom and ticks safety prerequisites.</a:t>
            </a:r>
          </a:p>
        </p:txBody>
      </p:sp>
      <p:sp>
        <p:nvSpPr>
          <p:cNvPr id="10" name="Rectangle 9"/>
          <p:cNvSpPr/>
          <p:nvPr/>
        </p:nvSpPr>
        <p:spPr>
          <a:xfrm>
            <a:off x="9582912" y="1737360"/>
            <a:ext cx="2011680" cy="2468880"/>
          </a:xfrm>
          <a:prstGeom prst="rect">
            <a:avLst/>
          </a:prstGeom>
          <a:solidFill>
            <a:srgbClr val="EEF2F7"/>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400"/>
              </a:spcAft>
            </a:pPr>
            <a:r>
              <a:rPr sz="1500" b="1">
                <a:solidFill>
                  <a:srgbClr val="0F2B43"/>
                </a:solidFill>
                <a:latin typeface="Arial"/>
              </a:rPr>
              <a:t>5  Approve</a:t>
            </a:r>
          </a:p>
          <a:p>
            <a:pPr algn="l">
              <a:spcAft>
                <a:spcPts val="400"/>
              </a:spcAft>
            </a:pPr>
            <a:r>
              <a:rPr sz="1300" b="0">
                <a:solidFill>
                  <a:srgbClr val="0F2B43"/>
                </a:solidFill>
                <a:latin typeface="Arial"/>
              </a:rPr>
              <a:t>Central command approves responder and fix. Audit record written.</a:t>
            </a:r>
          </a:p>
        </p:txBody>
      </p:sp>
      <p:cxnSp>
        <p:nvCxnSpPr>
          <p:cNvPr id="11" name="Connector 10"/>
          <p:cNvCxnSpPr>
            <a:stCxn id="6" idx="3"/>
            <a:endCxn id="7" idx="1"/>
          </p:cNvCxnSpPr>
          <p:nvPr/>
        </p:nvCxnSpPr>
        <p:spPr>
          <a:xfrm flipV="1">
            <a:off x="2560320" y="2971800"/>
            <a:ext cx="246888" cy="0"/>
          </a:xfrm>
          <a:prstGeom prst="line">
            <a:avLst/>
          </a:prstGeom>
          <a:ln w="22225">
            <a:solidFill>
              <a:srgbClr val="0F2B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a:stCxn id="7" idx="3"/>
            <a:endCxn id="8" idx="1"/>
          </p:cNvCxnSpPr>
          <p:nvPr/>
        </p:nvCxnSpPr>
        <p:spPr>
          <a:xfrm flipV="1">
            <a:off x="4818888" y="2971800"/>
            <a:ext cx="246888" cy="0"/>
          </a:xfrm>
          <a:prstGeom prst="line">
            <a:avLst/>
          </a:prstGeom>
          <a:ln w="22225">
            <a:solidFill>
              <a:srgbClr val="0F2B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a:stCxn id="8" idx="3"/>
            <a:endCxn id="9" idx="1"/>
          </p:cNvCxnSpPr>
          <p:nvPr/>
        </p:nvCxnSpPr>
        <p:spPr>
          <a:xfrm flipV="1">
            <a:off x="7077456" y="2971800"/>
            <a:ext cx="246888" cy="0"/>
          </a:xfrm>
          <a:prstGeom prst="line">
            <a:avLst/>
          </a:prstGeom>
          <a:ln w="22225">
            <a:solidFill>
              <a:srgbClr val="0F2B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a:stCxn id="9" idx="3"/>
            <a:endCxn id="10" idx="1"/>
          </p:cNvCxnSpPr>
          <p:nvPr/>
        </p:nvCxnSpPr>
        <p:spPr>
          <a:xfrm flipV="1">
            <a:off x="9336024" y="2971800"/>
            <a:ext cx="246888" cy="0"/>
          </a:xfrm>
          <a:prstGeom prst="line">
            <a:avLst/>
          </a:prstGeom>
          <a:ln w="22225">
            <a:solidFill>
              <a:srgbClr val="0F2B4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48640" y="4572000"/>
            <a:ext cx="11064240" cy="1097280"/>
          </a:xfrm>
          <a:prstGeom prst="rect">
            <a:avLst/>
          </a:prstGeom>
          <a:solidFill>
            <a:srgbClr val="FFF7E6"/>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spcAft>
                <a:spcPts val="400"/>
              </a:spcAft>
            </a:pPr>
            <a:r>
              <a:rPr sz="1300" b="0">
                <a:solidFill>
                  <a:srgbClr val="0F2B43"/>
                </a:solidFill>
                <a:latin typeface="Arial"/>
              </a:rPr>
              <a:t>PLACEHOLDER: Investigator screenshots are not in this draft.</a:t>
            </a:r>
          </a:p>
          <a:p>
            <a:pPr algn="l">
              <a:spcAft>
                <a:spcPts val="400"/>
              </a:spcAft>
            </a:pPr>
            <a:r>
              <a:rPr sz="1300" b="0">
                <a:solidFill>
                  <a:srgbClr val="0F2B43"/>
                </a:solidFill>
                <a:latin typeface="Arial"/>
              </a:rPr>
              <a:t>Guest workplaces currently block field reports ('This action is unavailable in demo workplaces'), and live Nemotron calls need the Nebius key on the server. Both are open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E1F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anchor="t" lIns="45720" rIns="45720">
            <a:spAutoFit/>
          </a:bodyPr>
          <a:lstStyle/>
          <a:p>
            <a:pPr algn="l">
              <a:spcAft>
                <a:spcPts val="800"/>
              </a:spcAft>
            </a:pPr>
            <a:r>
              <a:rPr sz="1100" b="1">
                <a:solidFill>
                  <a:srgbClr val="5B6B7A"/>
                </a:solidFill>
                <a:latin typeface="Arial"/>
              </a:rPr>
              <a:t>ANALYTICS</a:t>
            </a:r>
          </a:p>
        </p:txBody>
      </p:sp>
      <p:sp>
        <p:nvSpPr>
          <p:cNvPr id="4" name="TextBox 3"/>
          <p:cNvSpPr txBox="1"/>
          <p:nvPr/>
        </p:nvSpPr>
        <p:spPr>
          <a:xfrm>
            <a:off x="548640" y="566928"/>
            <a:ext cx="11064240" cy="822960"/>
          </a:xfrm>
          <a:prstGeom prst="rect">
            <a:avLst/>
          </a:prstGeom>
          <a:noFill/>
        </p:spPr>
        <p:txBody>
          <a:bodyPr wrap="square" anchor="t" lIns="45720" rIns="45720">
            <a:spAutoFit/>
          </a:bodyPr>
          <a:lstStyle/>
          <a:p>
            <a:pPr algn="l">
              <a:spcAft>
                <a:spcPts val="800"/>
              </a:spcAft>
            </a:pPr>
            <a:r>
              <a:rPr sz="2800" b="1">
                <a:solidFill>
                  <a:srgbClr val="0F2B43"/>
                </a:solidFill>
                <a:latin typeface="Arial"/>
              </a:rPr>
              <a:t>A month of recorded work shows where the time goes</a:t>
            </a:r>
          </a:p>
        </p:txBody>
      </p:sp>
      <p:sp>
        <p:nvSpPr>
          <p:cNvPr id="5" name="TextBox 4"/>
          <p:cNvSpPr txBox="1"/>
          <p:nvPr/>
        </p:nvSpPr>
        <p:spPr>
          <a:xfrm>
            <a:off x="548640" y="6446520"/>
            <a:ext cx="5486400" cy="274320"/>
          </a:xfrm>
          <a:prstGeom prst="rect">
            <a:avLst/>
          </a:prstGeom>
          <a:noFill/>
        </p:spPr>
        <p:txBody>
          <a:bodyPr wrap="square" anchor="t" lIns="45720" rIns="45720">
            <a:spAutoFit/>
          </a:bodyPr>
          <a:lstStyle/>
          <a:p>
            <a:pPr algn="l">
              <a:spcAft>
                <a:spcPts val="800"/>
              </a:spcAft>
            </a:pPr>
            <a:r>
              <a:rPr sz="900" b="0">
                <a:solidFill>
                  <a:srgbClr val="5B6B7A"/>
                </a:solidFill>
                <a:latin typeface="Arial"/>
              </a:rPr>
              <a:t>ResponseCompass · draft for review</a:t>
            </a:r>
          </a:p>
        </p:txBody>
      </p:sp>
      <p:pic>
        <p:nvPicPr>
          <p:cNvPr id="6" name="Picture 5" descr="analytics-tab.png"/>
          <p:cNvPicPr>
            <a:picLocks noChangeAspect="1"/>
          </p:cNvPicPr>
          <p:nvPr/>
        </p:nvPicPr>
        <p:blipFill>
          <a:blip r:embed="rId2"/>
          <a:stretch>
            <a:fillRect/>
          </a:stretch>
        </p:blipFill>
        <p:spPr>
          <a:xfrm>
            <a:off x="548640" y="1463040"/>
            <a:ext cx="8458200" cy="4757738"/>
          </a:xfrm>
          <a:prstGeom prst="rect">
            <a:avLst/>
          </a:prstGeom>
        </p:spPr>
      </p:pic>
      <p:sp>
        <p:nvSpPr>
          <p:cNvPr id="7" name="TextBox 6"/>
          <p:cNvSpPr txBox="1"/>
          <p:nvPr/>
        </p:nvSpPr>
        <p:spPr>
          <a:xfrm>
            <a:off x="9235440" y="1554480"/>
            <a:ext cx="2468880" cy="4572000"/>
          </a:xfrm>
          <a:prstGeom prst="rect">
            <a:avLst/>
          </a:prstGeom>
          <a:noFill/>
        </p:spPr>
        <p:txBody>
          <a:bodyPr wrap="square" anchor="t" lIns="45720" rIns="45720">
            <a:spAutoFit/>
          </a:bodyPr>
          <a:lstStyle/>
          <a:p>
            <a:pPr algn="l" marL="256032" indent="-256032">
              <a:spcAft>
                <a:spcPts val="1200"/>
              </a:spcAft>
              <a:buChar char="•"/>
            </a:pPr>
            <a:r>
              <a:rPr sz="1400" b="0">
                <a:solidFill>
                  <a:srgbClr val="0F2B43"/>
                </a:solidFill>
                <a:latin typeface="Arial"/>
              </a:rPr>
              <a:t>September 2026: 3,004 issues in the synthetic plant.</a:t>
            </a:r>
          </a:p>
          <a:p>
            <a:pPr algn="l" marL="256032" indent="-256032">
              <a:spcAft>
                <a:spcPts val="1200"/>
              </a:spcAft>
              <a:buChar char="•"/>
            </a:pPr>
            <a:r>
              <a:rPr sz="1400" b="0">
                <a:solidFill>
                  <a:srgbClr val="0F2B43"/>
                </a:solidFill>
                <a:latin typeface="Arial"/>
              </a:rPr>
              <a:t>Reopen rate 25% of 4,683 observed attempts.</a:t>
            </a:r>
          </a:p>
          <a:p>
            <a:pPr algn="l" marL="256032" indent="-256032">
              <a:spcAft>
                <a:spcPts val="1200"/>
              </a:spcAft>
              <a:buChar char="•"/>
            </a:pPr>
            <a:r>
              <a:rPr sz="1400" b="0">
                <a:solidFill>
                  <a:srgbClr val="0F2B43"/>
                </a:solidFill>
                <a:latin typeface="Arial"/>
              </a:rPr>
              <a:t>The top two issue classes make 78% of September's issues; the 80% line is crossed on the third.</a:t>
            </a:r>
          </a:p>
          <a:p>
            <a:pPr algn="l" marL="256032" indent="-256032">
              <a:spcAft>
                <a:spcPts val="1200"/>
              </a:spcAft>
              <a:buChar char="•"/>
            </a:pPr>
            <a:r>
              <a:rPr sz="1400" b="0">
                <a:solidFill>
                  <a:srgbClr val="0F2B43"/>
                </a:solidFill>
                <a:latin typeface="Arial"/>
              </a:rPr>
              <a:t>Compass recommendations are compared with their baselines; disagreements are recorded.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E1F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anchor="t" lIns="45720" rIns="45720">
            <a:spAutoFit/>
          </a:bodyPr>
          <a:lstStyle/>
          <a:p>
            <a:pPr algn="l">
              <a:spcAft>
                <a:spcPts val="800"/>
              </a:spcAft>
            </a:pPr>
            <a:r>
              <a:rPr sz="1100" b="1">
                <a:solidFill>
                  <a:srgbClr val="5B6B7A"/>
                </a:solidFill>
                <a:latin typeface="Arial"/>
              </a:rPr>
              <a:t>ISSUE PARETO</a:t>
            </a:r>
          </a:p>
        </p:txBody>
      </p:sp>
      <p:sp>
        <p:nvSpPr>
          <p:cNvPr id="4" name="TextBox 3"/>
          <p:cNvSpPr txBox="1"/>
          <p:nvPr/>
        </p:nvSpPr>
        <p:spPr>
          <a:xfrm>
            <a:off x="548640" y="566928"/>
            <a:ext cx="11064240" cy="822960"/>
          </a:xfrm>
          <a:prstGeom prst="rect">
            <a:avLst/>
          </a:prstGeom>
          <a:noFill/>
        </p:spPr>
        <p:txBody>
          <a:bodyPr wrap="square" anchor="t" lIns="45720" rIns="45720">
            <a:spAutoFit/>
          </a:bodyPr>
          <a:lstStyle/>
          <a:p>
            <a:pPr algn="l">
              <a:spcAft>
                <a:spcPts val="800"/>
              </a:spcAft>
            </a:pPr>
            <a:r>
              <a:rPr sz="2800" b="1">
                <a:solidFill>
                  <a:srgbClr val="0F2B43"/>
                </a:solidFill>
                <a:latin typeface="Arial"/>
              </a:rPr>
              <a:t>Where the downtime comes from</a:t>
            </a:r>
          </a:p>
        </p:txBody>
      </p:sp>
      <p:sp>
        <p:nvSpPr>
          <p:cNvPr id="5" name="TextBox 4"/>
          <p:cNvSpPr txBox="1"/>
          <p:nvPr/>
        </p:nvSpPr>
        <p:spPr>
          <a:xfrm>
            <a:off x="548640" y="6446520"/>
            <a:ext cx="5486400" cy="274320"/>
          </a:xfrm>
          <a:prstGeom prst="rect">
            <a:avLst/>
          </a:prstGeom>
          <a:noFill/>
        </p:spPr>
        <p:txBody>
          <a:bodyPr wrap="square" anchor="t" lIns="45720" rIns="45720">
            <a:spAutoFit/>
          </a:bodyPr>
          <a:lstStyle/>
          <a:p>
            <a:pPr algn="l">
              <a:spcAft>
                <a:spcPts val="800"/>
              </a:spcAft>
            </a:pPr>
            <a:r>
              <a:rPr sz="900" b="0">
                <a:solidFill>
                  <a:srgbClr val="5B6B7A"/>
                </a:solidFill>
                <a:latin typeface="Arial"/>
              </a:rPr>
              <a:t>ResponseCompass · draft for review</a:t>
            </a:r>
          </a:p>
        </p:txBody>
      </p:sp>
      <p:pic>
        <p:nvPicPr>
          <p:cNvPr id="6" name="Picture 5" descr="screen-pareto.png"/>
          <p:cNvPicPr>
            <a:picLocks noChangeAspect="1"/>
          </p:cNvPicPr>
          <p:nvPr/>
        </p:nvPicPr>
        <p:blipFill>
          <a:blip r:embed="rId2"/>
          <a:stretch>
            <a:fillRect/>
          </a:stretch>
        </p:blipFill>
        <p:spPr>
          <a:xfrm>
            <a:off x="548640" y="1463040"/>
            <a:ext cx="8458200" cy="4757738"/>
          </a:xfrm>
          <a:prstGeom prst="rect">
            <a:avLst/>
          </a:prstGeom>
        </p:spPr>
      </p:pic>
      <p:sp>
        <p:nvSpPr>
          <p:cNvPr id="7" name="TextBox 6"/>
          <p:cNvSpPr txBox="1"/>
          <p:nvPr/>
        </p:nvSpPr>
        <p:spPr>
          <a:xfrm>
            <a:off x="9235440" y="1554480"/>
            <a:ext cx="2468880" cy="4572000"/>
          </a:xfrm>
          <a:prstGeom prst="rect">
            <a:avLst/>
          </a:prstGeom>
          <a:noFill/>
        </p:spPr>
        <p:txBody>
          <a:bodyPr wrap="square" anchor="t" lIns="45720" rIns="45720">
            <a:spAutoFit/>
          </a:bodyPr>
          <a:lstStyle/>
          <a:p>
            <a:pPr algn="l" marL="256032" indent="-256032">
              <a:spcAft>
                <a:spcPts val="1200"/>
              </a:spcAft>
              <a:buChar char="•"/>
            </a:pPr>
            <a:r>
              <a:rPr sz="1400" b="0">
                <a:solidFill>
                  <a:srgbClr val="0F2B43"/>
                </a:solidFill>
                <a:latin typeface="Arial"/>
              </a:rPr>
              <a:t>Bars, cumulative line and the 80% marker show which few classes cause most work.</a:t>
            </a:r>
          </a:p>
          <a:p>
            <a:pPr algn="l" marL="256032" indent="-256032">
              <a:spcAft>
                <a:spcPts val="1200"/>
              </a:spcAft>
              <a:buChar char="•"/>
            </a:pPr>
            <a:r>
              <a:rPr sz="1400" b="0">
                <a:solidFill>
                  <a:srgbClr val="0F2B43"/>
                </a:solidFill>
                <a:latin typeface="Arial"/>
              </a:rPr>
              <a:t>Drill down from class to symptom to the fix that was applied.</a:t>
            </a:r>
          </a:p>
          <a:p>
            <a:pPr algn="l" marL="256032" indent="-256032">
              <a:spcAft>
                <a:spcPts val="1200"/>
              </a:spcAft>
              <a:buChar char="•"/>
            </a:pPr>
            <a:r>
              <a:rPr sz="1400" b="0">
                <a:solidFill>
                  <a:srgbClr val="0F2B43"/>
                </a:solidFill>
                <a:latin typeface="Arial"/>
              </a:rPr>
              <a:t>The Pareto describes recorded work. It does not rank people or claim cause.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E1F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anchor="t" lIns="45720" rIns="45720">
            <a:spAutoFit/>
          </a:bodyPr>
          <a:lstStyle/>
          <a:p>
            <a:pPr algn="l">
              <a:spcAft>
                <a:spcPts val="800"/>
              </a:spcAft>
            </a:pPr>
            <a:r>
              <a:rPr sz="1100" b="1">
                <a:solidFill>
                  <a:srgbClr val="5B6B7A"/>
                </a:solidFill>
                <a:latin typeface="Arial"/>
              </a:rPr>
              <a:t>HONEST BY DESIGN</a:t>
            </a:r>
          </a:p>
        </p:txBody>
      </p:sp>
      <p:sp>
        <p:nvSpPr>
          <p:cNvPr id="4" name="TextBox 3"/>
          <p:cNvSpPr txBox="1"/>
          <p:nvPr/>
        </p:nvSpPr>
        <p:spPr>
          <a:xfrm>
            <a:off x="548640" y="566928"/>
            <a:ext cx="11064240" cy="822960"/>
          </a:xfrm>
          <a:prstGeom prst="rect">
            <a:avLst/>
          </a:prstGeom>
          <a:noFill/>
        </p:spPr>
        <p:txBody>
          <a:bodyPr wrap="square" anchor="t" lIns="45720" rIns="45720">
            <a:spAutoFit/>
          </a:bodyPr>
          <a:lstStyle/>
          <a:p>
            <a:pPr algn="l">
              <a:spcAft>
                <a:spcPts val="800"/>
              </a:spcAft>
            </a:pPr>
            <a:r>
              <a:rPr sz="2800" b="1">
                <a:solidFill>
                  <a:srgbClr val="0F2B43"/>
                </a:solidFill>
                <a:latin typeface="Arial"/>
              </a:rPr>
              <a:t>Code owns the facts. Models only rank and explain.</a:t>
            </a:r>
          </a:p>
        </p:txBody>
      </p:sp>
      <p:sp>
        <p:nvSpPr>
          <p:cNvPr id="5" name="TextBox 4"/>
          <p:cNvSpPr txBox="1"/>
          <p:nvPr/>
        </p:nvSpPr>
        <p:spPr>
          <a:xfrm>
            <a:off x="548640" y="6446520"/>
            <a:ext cx="5486400" cy="274320"/>
          </a:xfrm>
          <a:prstGeom prst="rect">
            <a:avLst/>
          </a:prstGeom>
          <a:noFill/>
        </p:spPr>
        <p:txBody>
          <a:bodyPr wrap="square" anchor="t" lIns="45720" rIns="45720">
            <a:spAutoFit/>
          </a:bodyPr>
          <a:lstStyle/>
          <a:p>
            <a:pPr algn="l">
              <a:spcAft>
                <a:spcPts val="800"/>
              </a:spcAft>
            </a:pPr>
            <a:r>
              <a:rPr sz="900" b="0">
                <a:solidFill>
                  <a:srgbClr val="5B6B7A"/>
                </a:solidFill>
                <a:latin typeface="Arial"/>
              </a:rPr>
              <a:t>ResponseCompass · draft for review</a:t>
            </a:r>
          </a:p>
        </p:txBody>
      </p:sp>
      <p:sp>
        <p:nvSpPr>
          <p:cNvPr id="6" name="Rectangle 5"/>
          <p:cNvSpPr/>
          <p:nvPr/>
        </p:nvSpPr>
        <p:spPr>
          <a:xfrm>
            <a:off x="548640" y="1737360"/>
            <a:ext cx="2011680" cy="2194560"/>
          </a:xfrm>
          <a:prstGeom prst="rect">
            <a:avLst/>
          </a:prstGeom>
          <a:solidFill>
            <a:srgbClr val="EEF2F7"/>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400"/>
              </a:spcAft>
            </a:pPr>
            <a:r>
              <a:rPr sz="1500" b="1">
                <a:solidFill>
                  <a:srgbClr val="0F2B43"/>
                </a:solidFill>
                <a:latin typeface="Arial"/>
              </a:rPr>
              <a:t>CODE</a:t>
            </a:r>
          </a:p>
          <a:p>
            <a:pPr algn="l">
              <a:spcAft>
                <a:spcPts val="400"/>
              </a:spcAft>
            </a:pPr>
            <a:r>
              <a:rPr sz="1300" b="0">
                <a:solidFill>
                  <a:srgbClr val="0F2B43"/>
                </a:solidFill>
                <a:latin typeface="Arial"/>
              </a:rPr>
              <a:t>Eligibility, travel time and observed history</a:t>
            </a:r>
          </a:p>
        </p:txBody>
      </p:sp>
      <p:sp>
        <p:nvSpPr>
          <p:cNvPr id="7" name="Rectangle 6"/>
          <p:cNvSpPr/>
          <p:nvPr/>
        </p:nvSpPr>
        <p:spPr>
          <a:xfrm>
            <a:off x="2807208" y="1737360"/>
            <a:ext cx="2011680" cy="2194560"/>
          </a:xfrm>
          <a:prstGeom prst="rect">
            <a:avLst/>
          </a:prstGeom>
          <a:solidFill>
            <a:srgbClr val="EEF2F7"/>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400"/>
              </a:spcAft>
            </a:pPr>
            <a:r>
              <a:rPr sz="1500" b="1">
                <a:solidFill>
                  <a:srgbClr val="0F2B43"/>
                </a:solidFill>
                <a:latin typeface="Arial"/>
              </a:rPr>
              <a:t>CODE</a:t>
            </a:r>
          </a:p>
          <a:p>
            <a:pPr algn="l">
              <a:spcAft>
                <a:spcPts val="400"/>
              </a:spcAft>
            </a:pPr>
            <a:r>
              <a:rPr sz="1300" b="0">
                <a:solidFill>
                  <a:srgbClr val="0F2B43"/>
                </a:solidFill>
                <a:latin typeface="Arial"/>
              </a:rPr>
              <a:t>Bounded list of options</a:t>
            </a:r>
          </a:p>
        </p:txBody>
      </p:sp>
      <p:sp>
        <p:nvSpPr>
          <p:cNvPr id="8" name="Rectangle 7"/>
          <p:cNvSpPr/>
          <p:nvPr/>
        </p:nvSpPr>
        <p:spPr>
          <a:xfrm>
            <a:off x="5065776" y="1737360"/>
            <a:ext cx="2011680" cy="2194560"/>
          </a:xfrm>
          <a:prstGeom prst="rect">
            <a:avLst/>
          </a:prstGeom>
          <a:solidFill>
            <a:srgbClr val="E1FE3C"/>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400"/>
              </a:spcAft>
            </a:pPr>
            <a:r>
              <a:rPr sz="1500" b="1">
                <a:solidFill>
                  <a:srgbClr val="0F2B43"/>
                </a:solidFill>
                <a:latin typeface="Arial"/>
              </a:rPr>
              <a:t>MODEL</a:t>
            </a:r>
          </a:p>
          <a:p>
            <a:pPr algn="l">
              <a:spcAft>
                <a:spcPts val="400"/>
              </a:spcAft>
            </a:pPr>
            <a:r>
              <a:rPr sz="1300" b="0">
                <a:solidFill>
                  <a:srgbClr val="0F2B43"/>
                </a:solidFill>
                <a:latin typeface="Arial"/>
              </a:rPr>
              <a:t>Ranks the options and explains each ranking</a:t>
            </a:r>
          </a:p>
        </p:txBody>
      </p:sp>
      <p:sp>
        <p:nvSpPr>
          <p:cNvPr id="9" name="Rectangle 8"/>
          <p:cNvSpPr/>
          <p:nvPr/>
        </p:nvSpPr>
        <p:spPr>
          <a:xfrm>
            <a:off x="7324344" y="1737360"/>
            <a:ext cx="2011680" cy="2194560"/>
          </a:xfrm>
          <a:prstGeom prst="rect">
            <a:avLst/>
          </a:prstGeom>
          <a:solidFill>
            <a:srgbClr val="EEF2F7"/>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400"/>
              </a:spcAft>
            </a:pPr>
            <a:r>
              <a:rPr sz="1500" b="1">
                <a:solidFill>
                  <a:srgbClr val="0F2B43"/>
                </a:solidFill>
                <a:latin typeface="Arial"/>
              </a:rPr>
              <a:t>CODE</a:t>
            </a:r>
          </a:p>
          <a:p>
            <a:pPr algn="l">
              <a:spcAft>
                <a:spcPts val="400"/>
              </a:spcAft>
            </a:pPr>
            <a:r>
              <a:rPr sz="1300" b="0">
                <a:solidFill>
                  <a:srgbClr val="0F2B43"/>
                </a:solidFill>
                <a:latin typeface="Arial"/>
              </a:rPr>
              <a:t>Validates output, citations and safety rules</a:t>
            </a:r>
          </a:p>
        </p:txBody>
      </p:sp>
      <p:sp>
        <p:nvSpPr>
          <p:cNvPr id="10" name="Rectangle 9"/>
          <p:cNvSpPr/>
          <p:nvPr/>
        </p:nvSpPr>
        <p:spPr>
          <a:xfrm>
            <a:off x="9582912" y="1737360"/>
            <a:ext cx="2011680" cy="2194560"/>
          </a:xfrm>
          <a:prstGeom prst="rect">
            <a:avLst/>
          </a:prstGeom>
          <a:solidFill>
            <a:srgbClr val="EEF2F7"/>
          </a:solidFill>
          <a:ln w="15875">
            <a:solidFill>
              <a:srgbClr val="C9D3DD"/>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Aft>
                <a:spcPts val="400"/>
              </a:spcAft>
            </a:pPr>
            <a:r>
              <a:rPr sz="1500" b="1">
                <a:solidFill>
                  <a:srgbClr val="0F2B43"/>
                </a:solidFill>
                <a:latin typeface="Arial"/>
              </a:rPr>
              <a:t>OPERATOR</a:t>
            </a:r>
          </a:p>
          <a:p>
            <a:pPr algn="l">
              <a:spcAft>
                <a:spcPts val="400"/>
              </a:spcAft>
            </a:pPr>
            <a:r>
              <a:rPr sz="1300" b="0">
                <a:solidFill>
                  <a:srgbClr val="0F2B43"/>
                </a:solidFill>
                <a:latin typeface="Arial"/>
              </a:rPr>
              <a:t>Approves; the dispatch gate opens only then</a:t>
            </a:r>
          </a:p>
        </p:txBody>
      </p:sp>
      <p:cxnSp>
        <p:nvCxnSpPr>
          <p:cNvPr id="11" name="Connector 10"/>
          <p:cNvCxnSpPr>
            <a:stCxn id="6" idx="3"/>
            <a:endCxn id="7" idx="1"/>
          </p:cNvCxnSpPr>
          <p:nvPr/>
        </p:nvCxnSpPr>
        <p:spPr>
          <a:xfrm flipV="1">
            <a:off x="2560320" y="2834640"/>
            <a:ext cx="246888" cy="0"/>
          </a:xfrm>
          <a:prstGeom prst="line">
            <a:avLst/>
          </a:prstGeom>
          <a:ln w="22225">
            <a:solidFill>
              <a:srgbClr val="0F2B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a:stCxn id="7" idx="3"/>
            <a:endCxn id="8" idx="1"/>
          </p:cNvCxnSpPr>
          <p:nvPr/>
        </p:nvCxnSpPr>
        <p:spPr>
          <a:xfrm flipV="1">
            <a:off x="4818888" y="2834640"/>
            <a:ext cx="246888" cy="0"/>
          </a:xfrm>
          <a:prstGeom prst="line">
            <a:avLst/>
          </a:prstGeom>
          <a:ln w="22225">
            <a:solidFill>
              <a:srgbClr val="0F2B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a:stCxn id="8" idx="3"/>
            <a:endCxn id="9" idx="1"/>
          </p:cNvCxnSpPr>
          <p:nvPr/>
        </p:nvCxnSpPr>
        <p:spPr>
          <a:xfrm flipV="1">
            <a:off x="7077456" y="2834640"/>
            <a:ext cx="246888" cy="0"/>
          </a:xfrm>
          <a:prstGeom prst="line">
            <a:avLst/>
          </a:prstGeom>
          <a:ln w="22225">
            <a:solidFill>
              <a:srgbClr val="0F2B4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a:stCxn id="9" idx="3"/>
            <a:endCxn id="10" idx="1"/>
          </p:cNvCxnSpPr>
          <p:nvPr/>
        </p:nvCxnSpPr>
        <p:spPr>
          <a:xfrm flipV="1">
            <a:off x="9336024" y="2834640"/>
            <a:ext cx="246888" cy="0"/>
          </a:xfrm>
          <a:prstGeom prst="line">
            <a:avLst/>
          </a:prstGeom>
          <a:ln w="22225">
            <a:solidFill>
              <a:srgbClr val="0F2B4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48640" y="4480560"/>
            <a:ext cx="11064240" cy="1188720"/>
          </a:xfrm>
          <a:prstGeom prst="rect">
            <a:avLst/>
          </a:prstGeom>
          <a:noFill/>
          <a:ln w="15875">
            <a:solidFill>
              <a:srgbClr val="0F2B4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73152" bIns="73152"/>
          <a:lstStyle/>
          <a:p>
            <a:pPr algn="l">
              <a:spcAft>
                <a:spcPts val="400"/>
              </a:spcAft>
            </a:pPr>
            <a:r>
              <a:rPr sz="1300" b="0">
                <a:solidFill>
                  <a:srgbClr val="0F2B43"/>
                </a:solidFill>
                <a:latin typeface="Arial"/>
              </a:rPr>
              <a:t>Never shown to any model or screen</a:t>
            </a:r>
          </a:p>
          <a:p>
            <a:pPr algn="l">
              <a:spcAft>
                <a:spcPts val="400"/>
              </a:spcAft>
            </a:pPr>
            <a:r>
              <a:rPr sz="1300" b="0">
                <a:solidFill>
                  <a:srgbClr val="0F2B43"/>
                </a:solidFill>
                <a:latin typeface="Arial"/>
              </a:rPr>
              <a:t>Responder skill and the true fault cause are hidden simulation truth. Models see only public, observable records, and each citation is checked against what the tools actually returned.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E1F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anchor="t" lIns="45720" rIns="45720">
            <a:spAutoFit/>
          </a:bodyPr>
          <a:lstStyle/>
          <a:p>
            <a:pPr algn="l">
              <a:spcAft>
                <a:spcPts val="800"/>
              </a:spcAft>
            </a:pPr>
            <a:r>
              <a:rPr sz="1100" b="1">
                <a:solidFill>
                  <a:srgbClr val="5B6B7A"/>
                </a:solidFill>
                <a:latin typeface="Arial"/>
              </a:rPr>
              <a:t>MODELS AND INFRASTRUCTURE</a:t>
            </a:r>
          </a:p>
        </p:txBody>
      </p:sp>
      <p:sp>
        <p:nvSpPr>
          <p:cNvPr id="4" name="TextBox 3"/>
          <p:cNvSpPr txBox="1"/>
          <p:nvPr/>
        </p:nvSpPr>
        <p:spPr>
          <a:xfrm>
            <a:off x="548640" y="566928"/>
            <a:ext cx="11064240" cy="822960"/>
          </a:xfrm>
          <a:prstGeom prst="rect">
            <a:avLst/>
          </a:prstGeom>
          <a:noFill/>
        </p:spPr>
        <p:txBody>
          <a:bodyPr wrap="square" anchor="t" lIns="45720" rIns="45720">
            <a:spAutoFit/>
          </a:bodyPr>
          <a:lstStyle/>
          <a:p>
            <a:pPr algn="l">
              <a:spcAft>
                <a:spcPts val="800"/>
              </a:spcAft>
            </a:pPr>
            <a:r>
              <a:rPr sz="2800" b="1">
                <a:solidFill>
                  <a:srgbClr val="0F2B43"/>
                </a:solidFill>
                <a:latin typeface="Arial"/>
              </a:rPr>
              <a:t>Built on NVIDIA Nemotron through Nebius Token Factory</a:t>
            </a:r>
          </a:p>
        </p:txBody>
      </p:sp>
      <p:sp>
        <p:nvSpPr>
          <p:cNvPr id="5" name="TextBox 4"/>
          <p:cNvSpPr txBox="1"/>
          <p:nvPr/>
        </p:nvSpPr>
        <p:spPr>
          <a:xfrm>
            <a:off x="548640" y="6446520"/>
            <a:ext cx="5486400" cy="274320"/>
          </a:xfrm>
          <a:prstGeom prst="rect">
            <a:avLst/>
          </a:prstGeom>
          <a:noFill/>
        </p:spPr>
        <p:txBody>
          <a:bodyPr wrap="square" anchor="t" lIns="45720" rIns="45720">
            <a:spAutoFit/>
          </a:bodyPr>
          <a:lstStyle/>
          <a:p>
            <a:pPr algn="l">
              <a:spcAft>
                <a:spcPts val="800"/>
              </a:spcAft>
            </a:pPr>
            <a:r>
              <a:rPr sz="900" b="0">
                <a:solidFill>
                  <a:srgbClr val="5B6B7A"/>
                </a:solidFill>
                <a:latin typeface="Arial"/>
              </a:rPr>
              <a:t>ResponseCompass · draft for review</a:t>
            </a:r>
          </a:p>
        </p:txBody>
      </p:sp>
      <p:graphicFrame>
        <p:nvGraphicFramePr>
          <p:cNvPr id="6" name="Table 5"/>
          <p:cNvGraphicFramePr>
            <a:graphicFrameLocks noGrp="1"/>
          </p:cNvGraphicFramePr>
          <p:nvPr/>
        </p:nvGraphicFramePr>
        <p:xfrm>
          <a:off x="548640" y="1554480"/>
          <a:ext cx="11064240" cy="2011680"/>
        </p:xfrm>
        <a:graphic>
          <a:graphicData uri="http://schemas.openxmlformats.org/drawingml/2006/table">
            <a:tbl>
              <a:tblPr firstRow="1" bandRow="1">
                <a:tableStyleId>{5C22544A-7EE6-4342-B048-85BDC9FD1C3A}</a:tableStyleId>
              </a:tblPr>
              <a:tblGrid>
                <a:gridCol w="3108960"/>
                <a:gridCol w="3474720"/>
                <a:gridCol w="4480560"/>
              </a:tblGrid>
              <a:tr h="502920">
                <a:tc>
                  <a:txBody>
                    <a:bodyPr/>
                    <a:lstStyle/>
                    <a:p>
                      <a:r>
                        <a:rPr sz="1300" b="1">
                          <a:solidFill>
                            <a:srgbClr val="FFFFFF"/>
                          </a:solidFill>
                          <a:latin typeface="Arial"/>
                        </a:rPr>
                        <a:t>Role</a:t>
                      </a:r>
                    </a:p>
                  </a:txBody>
                  <a:tcPr>
                    <a:solidFill>
                      <a:srgbClr val="0F2B43"/>
                    </a:solidFill>
                  </a:tcPr>
                </a:tc>
                <a:tc>
                  <a:txBody>
                    <a:bodyPr/>
                    <a:lstStyle/>
                    <a:p>
                      <a:r>
                        <a:rPr sz="1300" b="1">
                          <a:solidFill>
                            <a:srgbClr val="FFFFFF"/>
                          </a:solidFill>
                          <a:latin typeface="Arial"/>
                        </a:rPr>
                        <a:t>Model (code default)</a:t>
                      </a:r>
                    </a:p>
                  </a:txBody>
                  <a:tcPr>
                    <a:solidFill>
                      <a:srgbClr val="0F2B43"/>
                    </a:solidFill>
                  </a:tcPr>
                </a:tc>
                <a:tc>
                  <a:txBody>
                    <a:bodyPr/>
                    <a:lstStyle/>
                    <a:p>
                      <a:r>
                        <a:rPr sz="1300" b="1">
                          <a:solidFill>
                            <a:srgbClr val="FFFFFF"/>
                          </a:solidFill>
                          <a:latin typeface="Arial"/>
                        </a:rPr>
                        <a:t>What it does</a:t>
                      </a:r>
                    </a:p>
                  </a:txBody>
                  <a:tcPr>
                    <a:solidFill>
                      <a:srgbClr val="0F2B43"/>
                    </a:solidFill>
                  </a:tcPr>
                </a:tc>
              </a:tr>
              <a:tr h="502920">
                <a:tc>
                  <a:txBody>
                    <a:bodyPr/>
                    <a:lstStyle/>
                    <a:p>
                      <a:r>
                        <a:rPr sz="1300" b="0">
                          <a:solidFill>
                            <a:srgbClr val="0F2B43"/>
                          </a:solidFill>
                          <a:latin typeface="Arial"/>
                        </a:rPr>
                        <a:t>Investigator</a:t>
                      </a:r>
                    </a:p>
                  </a:txBody>
                  <a:tcPr>
                    <a:solidFill>
                      <a:srgbClr val="FFFFFF"/>
                    </a:solidFill>
                  </a:tcPr>
                </a:tc>
                <a:tc>
                  <a:txBody>
                    <a:bodyPr/>
                    <a:lstStyle/>
                    <a:p>
                      <a:r>
                        <a:rPr sz="1300" b="0">
                          <a:solidFill>
                            <a:srgbClr val="0F2B43"/>
                          </a:solidFill>
                          <a:latin typeface="Arial"/>
                        </a:rPr>
                        <a:t>Nemotron 3 Ultra (550B-A55B)</a:t>
                      </a:r>
                    </a:p>
                  </a:txBody>
                  <a:tcPr>
                    <a:solidFill>
                      <a:srgbClr val="FFFFFF"/>
                    </a:solidFill>
                  </a:tcPr>
                </a:tc>
                <a:tc>
                  <a:txBody>
                    <a:bodyPr/>
                    <a:lstStyle/>
                    <a:p>
                      <a:r>
                        <a:rPr sz="1300" b="0">
                          <a:solidFill>
                            <a:srgbClr val="0F2B43"/>
                          </a:solidFill>
                          <a:latin typeface="Arial"/>
                        </a:rPr>
                        <a:t>Tool-using investigation of a field report, with cited cases</a:t>
                      </a:r>
                    </a:p>
                  </a:txBody>
                  <a:tcPr>
                    <a:solidFill>
                      <a:srgbClr val="FFFFFF"/>
                    </a:solidFill>
                  </a:tcPr>
                </a:tc>
              </a:tr>
              <a:tr h="502920">
                <a:tc>
                  <a:txBody>
                    <a:bodyPr/>
                    <a:lstStyle/>
                    <a:p>
                      <a:r>
                        <a:rPr sz="1300" b="0">
                          <a:solidFill>
                            <a:srgbClr val="0F2B43"/>
                          </a:solidFill>
                          <a:latin typeface="Arial"/>
                        </a:rPr>
                        <a:t>Responder, fix and overtime ranking</a:t>
                      </a:r>
                    </a:p>
                  </a:txBody>
                  <a:tcPr>
                    <a:solidFill>
                      <a:srgbClr val="EEF2F7"/>
                    </a:solidFill>
                  </a:tcPr>
                </a:tc>
                <a:tc>
                  <a:txBody>
                    <a:bodyPr/>
                    <a:lstStyle/>
                    <a:p>
                      <a:r>
                        <a:rPr sz="1300" b="0">
                          <a:solidFill>
                            <a:srgbClr val="0F2B43"/>
                          </a:solidFill>
                          <a:latin typeface="Arial"/>
                        </a:rPr>
                        <a:t>Nemotron 3 Super (120B-A12B)</a:t>
                      </a:r>
                    </a:p>
                  </a:txBody>
                  <a:tcPr>
                    <a:solidFill>
                      <a:srgbClr val="EEF2F7"/>
                    </a:solidFill>
                  </a:tcPr>
                </a:tc>
                <a:tc>
                  <a:txBody>
                    <a:bodyPr/>
                    <a:lstStyle/>
                    <a:p>
                      <a:r>
                        <a:rPr sz="1300" b="0">
                          <a:solidFill>
                            <a:srgbClr val="0F2B43"/>
                          </a:solidFill>
                          <a:latin typeface="Arial"/>
                        </a:rPr>
                        <a:t>Ranks code-supplied options with qualitative rationale</a:t>
                      </a:r>
                    </a:p>
                  </a:txBody>
                  <a:tcPr>
                    <a:solidFill>
                      <a:srgbClr val="EEF2F7"/>
                    </a:solidFill>
                  </a:tcPr>
                </a:tc>
              </a:tr>
              <a:tr h="502920">
                <a:tc>
                  <a:txBody>
                    <a:bodyPr/>
                    <a:lstStyle/>
                    <a:p>
                      <a:r>
                        <a:rPr sz="1300" b="0">
                          <a:solidFill>
                            <a:srgbClr val="0F2B43"/>
                          </a:solidFill>
                          <a:latin typeface="Arial"/>
                        </a:rPr>
                        <a:t>Event planner and narrator</a:t>
                      </a:r>
                    </a:p>
                  </a:txBody>
                  <a:tcPr>
                    <a:solidFill>
                      <a:srgbClr val="FFFFFF"/>
                    </a:solidFill>
                  </a:tcPr>
                </a:tc>
                <a:tc>
                  <a:txBody>
                    <a:bodyPr/>
                    <a:lstStyle/>
                    <a:p>
                      <a:r>
                        <a:rPr sz="1300" b="0">
                          <a:solidFill>
                            <a:srgbClr val="0F2B43"/>
                          </a:solidFill>
                          <a:latin typeface="Arial"/>
                        </a:rPr>
                        <a:t>Nemotron 3.5 Lightning</a:t>
                      </a:r>
                    </a:p>
                  </a:txBody>
                  <a:tcPr>
                    <a:solidFill>
                      <a:srgbClr val="FFFFFF"/>
                    </a:solidFill>
                  </a:tcPr>
                </a:tc>
                <a:tc>
                  <a:txBody>
                    <a:bodyPr/>
                    <a:lstStyle/>
                    <a:p>
                      <a:r>
                        <a:rPr sz="1300" b="0">
                          <a:solidFill>
                            <a:srgbClr val="0F2B43"/>
                          </a:solidFill>
                          <a:latin typeface="Arial"/>
                        </a:rPr>
                        <a:t>Plans simulated events and writes simulated narratives</a:t>
                      </a:r>
                    </a:p>
                  </a:txBody>
                  <a:tcPr>
                    <a:solidFill>
                      <a:srgbClr val="FFFFFF"/>
                    </a:solidFill>
                  </a:tcPr>
                </a:tc>
              </a:tr>
            </a:tbl>
          </a:graphicData>
        </a:graphic>
      </p:graphicFrame>
      <p:sp>
        <p:nvSpPr>
          <p:cNvPr id="7" name="Rectangle 6"/>
          <p:cNvSpPr/>
          <p:nvPr/>
        </p:nvSpPr>
        <p:spPr>
          <a:xfrm>
            <a:off x="548640" y="4343400"/>
            <a:ext cx="73152" cy="82296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343400"/>
            <a:ext cx="10789920" cy="822960"/>
          </a:xfrm>
          <a:prstGeom prst="rect">
            <a:avLst/>
          </a:prstGeom>
          <a:noFill/>
        </p:spPr>
        <p:txBody>
          <a:bodyPr wrap="square" anchor="ctr" lIns="45720" rIns="45720">
            <a:spAutoFit/>
          </a:bodyPr>
          <a:lstStyle/>
          <a:p>
            <a:pPr algn="l">
              <a:spcAft>
                <a:spcPts val="800"/>
              </a:spcAft>
            </a:pPr>
            <a:r>
              <a:rPr sz="1300" b="0">
                <a:solidFill>
                  <a:srgbClr val="0F2B43"/>
                </a:solidFill>
                <a:latin typeface="Arial"/>
              </a:rPr>
              <a:t>Status: live Nebius calls are pending the Token Factory key on the deployed server. Until it is set, every ranking uses the deterministic fallback, and the screens say so. These slides will be re-shot after a live probe.</a:t>
            </a:r>
          </a:p>
        </p:txBody>
      </p:sp>
      <p:sp>
        <p:nvSpPr>
          <p:cNvPr id="9" name="TextBox 8"/>
          <p:cNvSpPr txBox="1"/>
          <p:nvPr/>
        </p:nvSpPr>
        <p:spPr>
          <a:xfrm>
            <a:off x="548640" y="5394960"/>
            <a:ext cx="10972800" cy="548640"/>
          </a:xfrm>
          <a:prstGeom prst="rect">
            <a:avLst/>
          </a:prstGeom>
          <a:noFill/>
        </p:spPr>
        <p:txBody>
          <a:bodyPr wrap="square" anchor="t" lIns="45720" rIns="45720">
            <a:spAutoFit/>
          </a:bodyPr>
          <a:lstStyle/>
          <a:p>
            <a:pPr algn="l" marL="256032" indent="-256032">
              <a:spcAft>
                <a:spcPts val="800"/>
              </a:spcAft>
              <a:buChar char="•"/>
            </a:pPr>
            <a:r>
              <a:rPr sz="1400" b="0">
                <a:solidFill>
                  <a:srgbClr val="0F2B43"/>
                </a:solidFill>
                <a:latin typeface="Arial"/>
              </a:rPr>
              <a:t>Provider controls: per-provider timeouts, bounded retries, rate limiting and a circuit breaker.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E1F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274320"/>
          </a:xfrm>
          <a:prstGeom prst="rect">
            <a:avLst/>
          </a:prstGeom>
          <a:noFill/>
        </p:spPr>
        <p:txBody>
          <a:bodyPr wrap="square" anchor="t" lIns="45720" rIns="45720">
            <a:spAutoFit/>
          </a:bodyPr>
          <a:lstStyle/>
          <a:p>
            <a:pPr algn="l">
              <a:spcAft>
                <a:spcPts val="800"/>
              </a:spcAft>
            </a:pPr>
            <a:r>
              <a:rPr sz="1100" b="1">
                <a:solidFill>
                  <a:srgbClr val="5B6B7A"/>
                </a:solidFill>
                <a:latin typeface="Arial"/>
              </a:rPr>
              <a:t>STATUS</a:t>
            </a:r>
          </a:p>
        </p:txBody>
      </p:sp>
      <p:sp>
        <p:nvSpPr>
          <p:cNvPr id="4" name="TextBox 3"/>
          <p:cNvSpPr txBox="1"/>
          <p:nvPr/>
        </p:nvSpPr>
        <p:spPr>
          <a:xfrm>
            <a:off x="548640" y="566928"/>
            <a:ext cx="11064240" cy="822960"/>
          </a:xfrm>
          <a:prstGeom prst="rect">
            <a:avLst/>
          </a:prstGeom>
          <a:noFill/>
        </p:spPr>
        <p:txBody>
          <a:bodyPr wrap="square" anchor="t" lIns="45720" rIns="45720">
            <a:spAutoFit/>
          </a:bodyPr>
          <a:lstStyle/>
          <a:p>
            <a:pPr algn="l">
              <a:spcAft>
                <a:spcPts val="800"/>
              </a:spcAft>
            </a:pPr>
            <a:r>
              <a:rPr sz="2800" b="1">
                <a:solidFill>
                  <a:srgbClr val="0F2B43"/>
                </a:solidFill>
                <a:latin typeface="Arial"/>
              </a:rPr>
              <a:t>Status and what is left before submission</a:t>
            </a:r>
          </a:p>
        </p:txBody>
      </p:sp>
      <p:sp>
        <p:nvSpPr>
          <p:cNvPr id="5" name="TextBox 4"/>
          <p:cNvSpPr txBox="1"/>
          <p:nvPr/>
        </p:nvSpPr>
        <p:spPr>
          <a:xfrm>
            <a:off x="548640" y="6446520"/>
            <a:ext cx="5486400" cy="274320"/>
          </a:xfrm>
          <a:prstGeom prst="rect">
            <a:avLst/>
          </a:prstGeom>
          <a:noFill/>
        </p:spPr>
        <p:txBody>
          <a:bodyPr wrap="square" anchor="t" lIns="45720" rIns="45720">
            <a:spAutoFit/>
          </a:bodyPr>
          <a:lstStyle/>
          <a:p>
            <a:pPr algn="l">
              <a:spcAft>
                <a:spcPts val="800"/>
              </a:spcAft>
            </a:pPr>
            <a:r>
              <a:rPr sz="900" b="0">
                <a:solidFill>
                  <a:srgbClr val="5B6B7A"/>
                </a:solidFill>
                <a:latin typeface="Arial"/>
              </a:rPr>
              <a:t>ResponseCompass · draft for review</a:t>
            </a:r>
          </a:p>
        </p:txBody>
      </p:sp>
      <p:sp>
        <p:nvSpPr>
          <p:cNvPr id="6" name="TextBox 5"/>
          <p:cNvSpPr txBox="1"/>
          <p:nvPr/>
        </p:nvSpPr>
        <p:spPr>
          <a:xfrm>
            <a:off x="548640" y="1554480"/>
            <a:ext cx="5303520" cy="457200"/>
          </a:xfrm>
          <a:prstGeom prst="rect">
            <a:avLst/>
          </a:prstGeom>
          <a:noFill/>
        </p:spPr>
        <p:txBody>
          <a:bodyPr wrap="square" anchor="t" lIns="45720" rIns="45720">
            <a:spAutoFit/>
          </a:bodyPr>
          <a:lstStyle/>
          <a:p>
            <a:pPr algn="l">
              <a:spcAft>
                <a:spcPts val="800"/>
              </a:spcAft>
            </a:pPr>
            <a:r>
              <a:rPr sz="1800" b="1">
                <a:solidFill>
                  <a:srgbClr val="0F2B43"/>
                </a:solidFill>
                <a:latin typeface="Arial"/>
              </a:rPr>
              <a:t>Built and tested</a:t>
            </a:r>
          </a:p>
        </p:txBody>
      </p:sp>
      <p:sp>
        <p:nvSpPr>
          <p:cNvPr id="7" name="TextBox 6"/>
          <p:cNvSpPr txBox="1"/>
          <p:nvPr/>
        </p:nvSpPr>
        <p:spPr>
          <a:xfrm>
            <a:off x="548640" y="2057400"/>
            <a:ext cx="5303520" cy="3657600"/>
          </a:xfrm>
          <a:prstGeom prst="rect">
            <a:avLst/>
          </a:prstGeom>
          <a:noFill/>
        </p:spPr>
        <p:txBody>
          <a:bodyPr wrap="square" anchor="t" lIns="45720" rIns="45720">
            <a:spAutoFit/>
          </a:bodyPr>
          <a:lstStyle/>
          <a:p>
            <a:pPr algn="l" marL="256032" indent="-256032">
              <a:spcAft>
                <a:spcPts val="1200"/>
              </a:spcAft>
              <a:buChar char="•"/>
            </a:pPr>
            <a:r>
              <a:rPr sz="1600" b="0">
                <a:solidFill>
                  <a:srgbClr val="0F2B43"/>
                </a:solidFill>
                <a:latin typeface="Arial"/>
              </a:rPr>
              <a:t>Control room wall screens and operator console</a:t>
            </a:r>
          </a:p>
          <a:p>
            <a:pPr algn="l" marL="256032" indent="-256032">
              <a:spcAft>
                <a:spcPts val="1200"/>
              </a:spcAft>
              <a:buChar char="•"/>
            </a:pPr>
            <a:r>
              <a:rPr sz="1600" b="0">
                <a:solidFill>
                  <a:srgbClr val="0F2B43"/>
                </a:solidFill>
                <a:latin typeface="Arial"/>
              </a:rPr>
              <a:t>Guest workplaces with a shared password and a cap of 10 registered users</a:t>
            </a:r>
          </a:p>
          <a:p>
            <a:pPr algn="l" marL="256032" indent="-256032">
              <a:spcAft>
                <a:spcPts val="1200"/>
              </a:spcAft>
              <a:buChar char="•"/>
            </a:pPr>
            <a:r>
              <a:rPr sz="1600" b="0">
                <a:solidFill>
                  <a:srgbClr val="0F2B43"/>
                </a:solidFill>
                <a:latin typeface="Arial"/>
              </a:rPr>
              <a:t>Dispatch gate, approval routes and audit trail</a:t>
            </a:r>
          </a:p>
          <a:p>
            <a:pPr algn="l" marL="256032" indent="-256032">
              <a:spcAft>
                <a:spcPts val="1200"/>
              </a:spcAft>
              <a:buChar char="•"/>
            </a:pPr>
            <a:r>
              <a:rPr sz="1600" b="0">
                <a:solidFill>
                  <a:srgbClr val="0F2B43"/>
                </a:solidFill>
                <a:latin typeface="Arial"/>
              </a:rPr>
              <a:t>635 hermetic tests and 208 Chromium end-to-end tests on master</a:t>
            </a:r>
          </a:p>
        </p:txBody>
      </p:sp>
      <p:sp>
        <p:nvSpPr>
          <p:cNvPr id="8" name="TextBox 7"/>
          <p:cNvSpPr txBox="1"/>
          <p:nvPr/>
        </p:nvSpPr>
        <p:spPr>
          <a:xfrm>
            <a:off x="6309360" y="1554480"/>
            <a:ext cx="5303520" cy="457200"/>
          </a:xfrm>
          <a:prstGeom prst="rect">
            <a:avLst/>
          </a:prstGeom>
          <a:noFill/>
        </p:spPr>
        <p:txBody>
          <a:bodyPr wrap="square" anchor="t" lIns="45720" rIns="45720">
            <a:spAutoFit/>
          </a:bodyPr>
          <a:lstStyle/>
          <a:p>
            <a:pPr algn="l">
              <a:spcAft>
                <a:spcPts val="800"/>
              </a:spcAft>
            </a:pPr>
            <a:r>
              <a:rPr sz="1800" b="1">
                <a:solidFill>
                  <a:srgbClr val="B45309"/>
                </a:solidFill>
                <a:latin typeface="Arial"/>
              </a:rPr>
              <a:t>Open before submission</a:t>
            </a:r>
          </a:p>
        </p:txBody>
      </p:sp>
      <p:sp>
        <p:nvSpPr>
          <p:cNvPr id="9" name="TextBox 8"/>
          <p:cNvSpPr txBox="1"/>
          <p:nvPr/>
        </p:nvSpPr>
        <p:spPr>
          <a:xfrm>
            <a:off x="6309360" y="2057400"/>
            <a:ext cx="5303520" cy="3657600"/>
          </a:xfrm>
          <a:prstGeom prst="rect">
            <a:avLst/>
          </a:prstGeom>
          <a:noFill/>
        </p:spPr>
        <p:txBody>
          <a:bodyPr wrap="square" anchor="t" lIns="45720" rIns="45720">
            <a:spAutoFit/>
          </a:bodyPr>
          <a:lstStyle/>
          <a:p>
            <a:pPr algn="l" marL="256032" indent="-256032">
              <a:spcAft>
                <a:spcPts val="1200"/>
              </a:spcAft>
              <a:buChar char="•"/>
            </a:pPr>
            <a:r>
              <a:rPr sz="1600" b="0">
                <a:solidFill>
                  <a:srgbClr val="0F2B43"/>
                </a:solidFill>
                <a:latin typeface="Arial"/>
              </a:rPr>
              <a:t>Nebius Token Factory key on the server, then a live Nemotron probe</a:t>
            </a:r>
          </a:p>
          <a:p>
            <a:pPr algn="l" marL="256032" indent="-256032">
              <a:spcAft>
                <a:spcPts val="1200"/>
              </a:spcAft>
              <a:buChar char="•"/>
            </a:pPr>
            <a:r>
              <a:rPr sz="1600" b="0">
                <a:solidFill>
                  <a:srgbClr val="0F2B43"/>
                </a:solidFill>
                <a:latin typeface="Arial"/>
              </a:rPr>
              <a:t>Decide whether judges can use field reports (Investigator) on guest workplaces</a:t>
            </a:r>
          </a:p>
          <a:p>
            <a:pPr algn="l" marL="256032" indent="-256032">
              <a:spcAft>
                <a:spcPts val="1200"/>
              </a:spcAft>
              <a:buChar char="•"/>
            </a:pPr>
            <a:r>
              <a:rPr sz="1600" b="0">
                <a:solidFill>
                  <a:srgbClr val="0F2B43"/>
                </a:solidFill>
                <a:latin typeface="Arial"/>
              </a:rPr>
              <a:t>Re-record the three-minute video with live Nemotron calls</a:t>
            </a:r>
          </a:p>
          <a:p>
            <a:pPr algn="l" marL="256032" indent="-256032">
              <a:spcAft>
                <a:spcPts val="1200"/>
              </a:spcAft>
              <a:buChar char="•"/>
            </a:pPr>
            <a:r>
              <a:rPr sz="1600" b="0">
                <a:solidFill>
                  <a:srgbClr val="0F2B43"/>
                </a:solidFill>
                <a:latin typeface="Arial"/>
              </a:rPr>
              <a:t>Upload the video to YouTube and publish the Apache-2.0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